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3/21/2026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3/21/2026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Améliorer la productivité en Java</a:t>
            </a:r>
          </a:p>
        </p:txBody>
      </p:sp>
      <p:sp>
        <p:nvSpPr>
          <p:cNvPr id="4" name="AutoShape 2" descr="M2i Formation - Campus Région du numériq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53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484632"/>
            <a:ext cx="4736108" cy="271576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889" y="680466"/>
            <a:ext cx="4286250" cy="23241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8441" y="2557462"/>
            <a:ext cx="8308427" cy="370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07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82414"/>
          </a:xfrm>
        </p:spPr>
        <p:txBody>
          <a:bodyPr/>
          <a:lstStyle/>
          <a:p>
            <a:r>
              <a:rPr lang="fr-FR" dirty="0" smtClean="0"/>
              <a:t>Les différents aspects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11960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Améliorer la productivité en Java peut être abordé à travers plusieurs aspects : utilisation des nouvelles fonctionnalités des versions récentes, adoption des meilleures pratiques, et intégration d'outils et de </a:t>
            </a:r>
            <a:r>
              <a:rPr lang="fr-FR" dirty="0" smtClean="0"/>
              <a:t>Framework </a:t>
            </a:r>
            <a:r>
              <a:rPr lang="fr-FR" dirty="0"/>
              <a:t>modernes. Voici une vue d'ensemble des moyens pour y parvenir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Exploiter les nouvelles fonctionnalités des versions récentes de </a:t>
            </a:r>
            <a:r>
              <a:rPr lang="fr-FR" dirty="0" smtClean="0"/>
              <a:t>Java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Intégrer les </a:t>
            </a:r>
            <a:r>
              <a:rPr lang="fr-FR" dirty="0" smtClean="0"/>
              <a:t>Framework </a:t>
            </a:r>
            <a:r>
              <a:rPr lang="fr-FR" dirty="0"/>
              <a:t>et bibliothèques </a:t>
            </a:r>
            <a:r>
              <a:rPr lang="fr-FR" dirty="0" smtClean="0"/>
              <a:t>modernes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Adopter des outils pour un développement </a:t>
            </a:r>
            <a:r>
              <a:rPr lang="fr-FR" dirty="0" smtClean="0"/>
              <a:t>efficace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Automatiser les </a:t>
            </a:r>
            <a:r>
              <a:rPr lang="fr-FR" dirty="0" smtClean="0"/>
              <a:t>tests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Optimiser la performance et la </a:t>
            </a:r>
            <a:r>
              <a:rPr lang="fr-FR" dirty="0" err="1" smtClean="0"/>
              <a:t>scalabilité</a:t>
            </a:r>
            <a:endParaRPr lang="fr-FR" dirty="0" smtClean="0"/>
          </a:p>
          <a:p>
            <a:pPr lvl="1" algn="just">
              <a:lnSpc>
                <a:spcPct val="150000"/>
              </a:lnSpc>
            </a:pPr>
            <a:r>
              <a:rPr lang="fr-FR" dirty="0"/>
              <a:t>Suivre les meilleures pratiques</a:t>
            </a:r>
          </a:p>
        </p:txBody>
      </p:sp>
    </p:spTree>
    <p:extLst>
      <p:ext uri="{BB962C8B-B14F-4D97-AF65-F5344CB8AC3E}">
        <p14:creationId xmlns:p14="http://schemas.microsoft.com/office/powerpoint/2010/main" val="169589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55892"/>
          </a:xfrm>
        </p:spPr>
        <p:txBody>
          <a:bodyPr>
            <a:noAutofit/>
          </a:bodyPr>
          <a:lstStyle/>
          <a:p>
            <a:pPr algn="ctr"/>
            <a:r>
              <a:rPr lang="fr-FR" sz="2000" dirty="0"/>
              <a:t>Exploiter les nouvelles fonctionnalités des versions récentes de Java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01145"/>
            <a:ext cx="10058400" cy="4878483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Java </a:t>
            </a:r>
            <a:r>
              <a:rPr lang="fr-FR" dirty="0" smtClean="0"/>
              <a:t>8</a:t>
            </a:r>
          </a:p>
          <a:p>
            <a:pPr lvl="1" algn="just">
              <a:lnSpc>
                <a:spcPct val="150000"/>
              </a:lnSpc>
            </a:pPr>
            <a:r>
              <a:rPr lang="fr-FR" dirty="0" err="1"/>
              <a:t>Streams</a:t>
            </a:r>
            <a:r>
              <a:rPr lang="fr-FR" dirty="0"/>
              <a:t> API : Pour traiter des collections de manière fonctionnelle, réduisant le code répétitif et améliorant la lisibilité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Lambda </a:t>
            </a:r>
            <a:r>
              <a:rPr lang="fr-FR" dirty="0"/>
              <a:t>Expressions : Permet d’écrire des fonctions anonymes pour des traitements concis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 err="1" smtClean="0"/>
              <a:t>Optional</a:t>
            </a:r>
            <a:r>
              <a:rPr lang="fr-FR" dirty="0" smtClean="0"/>
              <a:t> </a:t>
            </a:r>
            <a:r>
              <a:rPr lang="fr-FR" dirty="0"/>
              <a:t>: Réduit les erreurs liées aux valeurs nulles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b="1" dirty="0"/>
              <a:t>Java 9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Modules (JPMS) : Permet de structurer le code en modules, améliorant la maintenabilité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b="1" dirty="0" err="1"/>
              <a:t>jshell</a:t>
            </a:r>
            <a:r>
              <a:rPr lang="fr-FR" dirty="0"/>
              <a:t> : Facilite l'exploration rapide de fonctionnalités ou de concepts.</a:t>
            </a:r>
          </a:p>
          <a:p>
            <a:pPr algn="just">
              <a:lnSpc>
                <a:spcPct val="150000"/>
              </a:lnSpc>
            </a:pPr>
            <a:r>
              <a:rPr lang="fr-FR" b="1" dirty="0"/>
              <a:t>Java 10-14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var (Java 10) : Réduit la verbosité en permettant une inférence de type pour les variables locales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Switch </a:t>
            </a:r>
            <a:r>
              <a:rPr lang="fr-FR" dirty="0"/>
              <a:t>expressions (Java 12/14) : Simplifie les structures conditionnelles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297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Java 15-20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 err="1"/>
              <a:t>Text</a:t>
            </a:r>
            <a:r>
              <a:rPr lang="fr-FR" sz="2400" dirty="0"/>
              <a:t> Blocks (Java 15) : Simplifie la gestion des chaînes </a:t>
            </a:r>
            <a:r>
              <a:rPr lang="fr-FR" sz="2400" dirty="0" err="1"/>
              <a:t>multilignes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err="1"/>
              <a:t>Sealed</a:t>
            </a:r>
            <a:r>
              <a:rPr lang="fr-FR" sz="2400" dirty="0"/>
              <a:t> Classes (Java 17) : Restreint les sous-classes possibles, facilitant le contrôle de la hiérarchie des classes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Pattern </a:t>
            </a:r>
            <a:r>
              <a:rPr lang="fr-FR" sz="2400" dirty="0" err="1"/>
              <a:t>Matching</a:t>
            </a:r>
            <a:r>
              <a:rPr lang="fr-FR" sz="2400" dirty="0"/>
              <a:t> : Améliore la lisibilité et réduit le code </a:t>
            </a:r>
            <a:r>
              <a:rPr lang="fr-FR" sz="2400" dirty="0" err="1"/>
              <a:t>boilerplate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Virtual Threads (Java 19/20) : Avec le projet </a:t>
            </a:r>
            <a:r>
              <a:rPr lang="fr-FR" sz="2400" dirty="0" err="1"/>
              <a:t>Loom</a:t>
            </a:r>
            <a:r>
              <a:rPr lang="fr-FR" sz="2400" dirty="0"/>
              <a:t>, les threads légers améliorent les performances et simplifient les applications concurrentes.</a:t>
            </a:r>
          </a:p>
        </p:txBody>
      </p:sp>
      <p:sp>
        <p:nvSpPr>
          <p:cNvPr id="4" name="AutoShape 2" descr="M2i Formation - Campus Région du numériqu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14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dirty="0"/>
              <a:t>Intégrer les </a:t>
            </a:r>
            <a:r>
              <a:rPr lang="fr-FR" sz="2800" dirty="0" smtClean="0"/>
              <a:t>Framework </a:t>
            </a:r>
            <a:r>
              <a:rPr lang="fr-FR" sz="2800" dirty="0"/>
              <a:t>et bibliothèques modernes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093976"/>
            <a:ext cx="10058400" cy="4050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Spring</a:t>
            </a:r>
            <a:r>
              <a:rPr lang="fr-FR" sz="2400" b="1" dirty="0"/>
              <a:t> Boot</a:t>
            </a:r>
            <a:r>
              <a:rPr lang="fr-FR" sz="2400" dirty="0"/>
              <a:t> : Réduit la configuration et accélère le développement des applications d’entreprise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Quarkus</a:t>
            </a:r>
            <a:r>
              <a:rPr lang="fr-FR" sz="2400" dirty="0"/>
              <a:t> : Optimisé pour Java natif, il est particulièrement utile pour les </a:t>
            </a:r>
            <a:r>
              <a:rPr lang="fr-FR" sz="2400" dirty="0" err="1"/>
              <a:t>microservices</a:t>
            </a:r>
            <a:r>
              <a:rPr lang="fr-FR" sz="2400" dirty="0"/>
              <a:t> dans des environnements cloud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/>
              <a:t>Lombok</a:t>
            </a:r>
            <a:r>
              <a:rPr lang="fr-FR" sz="2400" dirty="0"/>
              <a:t> : Élimine les tâches répétitives comme la génération de getters, setters, ou </a:t>
            </a:r>
            <a:r>
              <a:rPr lang="fr-FR" sz="2400" dirty="0" err="1"/>
              <a:t>builders</a:t>
            </a:r>
            <a:r>
              <a:rPr lang="fr-FR" sz="2400" dirty="0"/>
              <a:t>.</a:t>
            </a:r>
          </a:p>
          <a:p>
            <a:pPr algn="just">
              <a:lnSpc>
                <a:spcPct val="150000"/>
              </a:lnSpc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3461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Adopter des outils pour un développement efficace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IDEs</a:t>
            </a:r>
            <a:r>
              <a:rPr lang="fr-FR" sz="2400" b="1" dirty="0"/>
              <a:t> modernes</a:t>
            </a:r>
            <a:r>
              <a:rPr lang="fr-FR" sz="2400" dirty="0"/>
              <a:t> : </a:t>
            </a:r>
            <a:r>
              <a:rPr lang="fr-FR" sz="2400" dirty="0" err="1"/>
              <a:t>IntelliJ</a:t>
            </a:r>
            <a:r>
              <a:rPr lang="fr-FR" sz="2400" dirty="0"/>
              <a:t> IDEA ou Eclipse, avec extensions et intégrations pour la complétion automatique et la gestion des dépendances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Maven</a:t>
            </a:r>
            <a:r>
              <a:rPr lang="fr-FR" sz="2400" b="1" dirty="0"/>
              <a:t>/</a:t>
            </a:r>
            <a:r>
              <a:rPr lang="fr-FR" sz="2400" b="1" dirty="0" err="1"/>
              <a:t>Gradle</a:t>
            </a:r>
            <a:r>
              <a:rPr lang="fr-FR" sz="2400" dirty="0"/>
              <a:t> : Automatisation de la compilation, gestion des dépendances et simplification du processus de </a:t>
            </a:r>
            <a:r>
              <a:rPr lang="fr-FR" sz="2400" dirty="0" err="1"/>
              <a:t>build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SonarQube</a:t>
            </a:r>
            <a:r>
              <a:rPr lang="fr-FR" sz="2400" dirty="0"/>
              <a:t> : Pour analyser la qualité du code et détecter les erreurs potentielles.</a:t>
            </a:r>
          </a:p>
        </p:txBody>
      </p:sp>
    </p:spTree>
    <p:extLst>
      <p:ext uri="{BB962C8B-B14F-4D97-AF65-F5344CB8AC3E}">
        <p14:creationId xmlns:p14="http://schemas.microsoft.com/office/powerpoint/2010/main" val="233176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Automatiser les tests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 err="1"/>
              <a:t>JUnit</a:t>
            </a:r>
            <a:r>
              <a:rPr lang="fr-FR" sz="2400" b="1" dirty="0"/>
              <a:t> 5</a:t>
            </a:r>
            <a:r>
              <a:rPr lang="fr-FR" sz="2400" dirty="0"/>
              <a:t> : Nouvelle syntaxe plus expressive et flexible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Mockito</a:t>
            </a:r>
            <a:r>
              <a:rPr lang="fr-FR" sz="2400" dirty="0"/>
              <a:t> : Simplifie la création de tests unitaires en simulant les dépendances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b="1" dirty="0" err="1"/>
              <a:t>Testcontainers</a:t>
            </a:r>
            <a:r>
              <a:rPr lang="fr-FR" sz="2400" dirty="0"/>
              <a:t> : Facilite le test des interactions avec des bases de données ou d'autres services conteneurisés.</a:t>
            </a:r>
          </a:p>
        </p:txBody>
      </p:sp>
    </p:spTree>
    <p:extLst>
      <p:ext uri="{BB962C8B-B14F-4D97-AF65-F5344CB8AC3E}">
        <p14:creationId xmlns:p14="http://schemas.microsoft.com/office/powerpoint/2010/main" val="252709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/>
              <a:t>Optimiser la performance et la </a:t>
            </a:r>
            <a:r>
              <a:rPr lang="fr-FR" sz="3600" dirty="0" err="1"/>
              <a:t>scalabilité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fr-FR" sz="2400" b="1" dirty="0" err="1"/>
              <a:t>GraalVM</a:t>
            </a:r>
            <a:r>
              <a:rPr lang="fr-FR" sz="2400" dirty="0"/>
              <a:t> : Permet de compiler le code Java en natif pour des performances accrues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b="1" dirty="0" err="1"/>
              <a:t>Profilers</a:t>
            </a:r>
            <a:r>
              <a:rPr lang="fr-FR" sz="2400" b="1" dirty="0"/>
              <a:t> (</a:t>
            </a:r>
            <a:r>
              <a:rPr lang="fr-FR" sz="2400" b="1" dirty="0" err="1"/>
              <a:t>VisualVM</a:t>
            </a:r>
            <a:r>
              <a:rPr lang="fr-FR" sz="2400" b="1" dirty="0"/>
              <a:t>, </a:t>
            </a:r>
            <a:r>
              <a:rPr lang="fr-FR" sz="2400" b="1" dirty="0" err="1"/>
              <a:t>JProfiler</a:t>
            </a:r>
            <a:r>
              <a:rPr lang="fr-FR" sz="2400" b="1" dirty="0"/>
              <a:t>)</a:t>
            </a:r>
            <a:r>
              <a:rPr lang="fr-FR" sz="2400" dirty="0"/>
              <a:t> : Identifient les goulets d’étranglement dans les performances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Un </a:t>
            </a:r>
            <a:r>
              <a:rPr lang="fr-FR" sz="2400" b="1" dirty="0"/>
              <a:t>goulet d’étranglement </a:t>
            </a:r>
            <a:r>
              <a:rPr lang="fr-FR" sz="2400" dirty="0"/>
              <a:t>est une partie du programme qui consomme disproportionnellement du temps ou des ressources, ce qui limite les performances globales de l’application. Les outils comme </a:t>
            </a:r>
            <a:r>
              <a:rPr lang="fr-FR" sz="2400" b="1" dirty="0" err="1"/>
              <a:t>VisualVM</a:t>
            </a:r>
            <a:r>
              <a:rPr lang="fr-FR" sz="2400" dirty="0"/>
              <a:t> et </a:t>
            </a:r>
            <a:r>
              <a:rPr lang="fr-FR" sz="2400" b="1" dirty="0" err="1"/>
              <a:t>JProfiler</a:t>
            </a:r>
            <a:r>
              <a:rPr lang="fr-FR" sz="2400" dirty="0"/>
              <a:t> permettent de localiser précisément ces zones critiques.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16054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Suivre les meilleures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b="1" dirty="0"/>
              <a:t>Immutabilité</a:t>
            </a:r>
            <a:r>
              <a:rPr lang="fr-FR" sz="2400" dirty="0"/>
              <a:t> : Réduit les risques d’erreurs dans les applications concurrentes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b="1" dirty="0"/>
              <a:t>SOLID </a:t>
            </a:r>
            <a:r>
              <a:rPr lang="fr-FR" sz="2400" b="1" dirty="0" err="1"/>
              <a:t>Principles</a:t>
            </a:r>
            <a:r>
              <a:rPr lang="fr-FR" sz="2400" dirty="0"/>
              <a:t> : Facilite la maintenabilité et l'évolutivité du code</a:t>
            </a:r>
            <a:r>
              <a:rPr lang="fr-FR" sz="24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400" b="1" dirty="0"/>
              <a:t>Clean Code</a:t>
            </a:r>
            <a:r>
              <a:rPr lang="fr-FR" sz="2400" dirty="0"/>
              <a:t> : Écriture de code lisible, modulaire et documenté.</a:t>
            </a:r>
          </a:p>
        </p:txBody>
      </p:sp>
    </p:spTree>
    <p:extLst>
      <p:ext uri="{BB962C8B-B14F-4D97-AF65-F5344CB8AC3E}">
        <p14:creationId xmlns:p14="http://schemas.microsoft.com/office/powerpoint/2010/main" val="48329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32384"/>
            <a:ext cx="10058400" cy="492830"/>
          </a:xfrm>
        </p:spPr>
        <p:txBody>
          <a:bodyPr>
            <a:normAutofit/>
          </a:bodyPr>
          <a:lstStyle/>
          <a:p>
            <a:pPr algn="ctr"/>
            <a:r>
              <a:rPr lang="fr-FR" sz="2800" dirty="0"/>
              <a:t>Valeur ajoutée </a:t>
            </a:r>
            <a:r>
              <a:rPr lang="fr-FR" sz="2800" dirty="0" smtClean="0"/>
              <a:t>globale vis-à-vis les versions</a:t>
            </a:r>
            <a:endParaRPr lang="fr-FR" sz="2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5669" y="898634"/>
            <a:ext cx="11193517" cy="5273566"/>
          </a:xfrm>
        </p:spPr>
        <p:txBody>
          <a:bodyPr>
            <a:normAutofit/>
          </a:bodyPr>
          <a:lstStyle/>
          <a:p>
            <a:pPr algn="just"/>
            <a:r>
              <a:rPr lang="fr-FR" b="1" dirty="0"/>
              <a:t>Performance </a:t>
            </a:r>
            <a:r>
              <a:rPr lang="fr-FR" b="1" dirty="0" smtClean="0"/>
              <a:t>améliorée</a:t>
            </a:r>
          </a:p>
          <a:p>
            <a:pPr lvl="1" algn="just"/>
            <a:r>
              <a:rPr lang="fr-FR" dirty="0" err="1"/>
              <a:t>Garbage</a:t>
            </a:r>
            <a:r>
              <a:rPr lang="fr-FR" dirty="0"/>
              <a:t> Collectors modernes comme ZGC et G1 réduisent les temps de latence et augmentent les performances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smtClean="0"/>
              <a:t>Virtual </a:t>
            </a:r>
            <a:r>
              <a:rPr lang="fr-FR" dirty="0"/>
              <a:t>Threads révolutionnent la programmation concurrente.</a:t>
            </a:r>
            <a:endParaRPr lang="fr-FR" dirty="0" smtClean="0"/>
          </a:p>
          <a:p>
            <a:pPr algn="just"/>
            <a:r>
              <a:rPr lang="fr-FR" b="1" dirty="0"/>
              <a:t>Modernisation du </a:t>
            </a:r>
            <a:r>
              <a:rPr lang="fr-FR" b="1" dirty="0" smtClean="0"/>
              <a:t>langage</a:t>
            </a:r>
          </a:p>
          <a:p>
            <a:pPr lvl="1" algn="just"/>
            <a:r>
              <a:rPr lang="fr-FR" dirty="0"/>
              <a:t>Utilisation de var, record, </a:t>
            </a:r>
            <a:r>
              <a:rPr lang="fr-FR" dirty="0" err="1"/>
              <a:t>sealed</a:t>
            </a:r>
            <a:r>
              <a:rPr lang="fr-FR" dirty="0"/>
              <a:t> classes, et des modèles pour réduire le code </a:t>
            </a:r>
            <a:r>
              <a:rPr lang="fr-FR" dirty="0" err="1"/>
              <a:t>boilerplate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err="1" smtClean="0"/>
              <a:t>Text</a:t>
            </a:r>
            <a:r>
              <a:rPr lang="fr-FR" dirty="0" smtClean="0"/>
              <a:t> </a:t>
            </a:r>
            <a:r>
              <a:rPr lang="fr-FR" dirty="0"/>
              <a:t>Blocks facilitent la gestion de grandes chaînes.</a:t>
            </a:r>
            <a:endParaRPr lang="fr-FR" dirty="0" smtClean="0"/>
          </a:p>
          <a:p>
            <a:pPr algn="just"/>
            <a:r>
              <a:rPr lang="fr-FR" b="1" dirty="0"/>
              <a:t>Productivité </a:t>
            </a:r>
            <a:r>
              <a:rPr lang="fr-FR" b="1" dirty="0" smtClean="0"/>
              <a:t>accrue</a:t>
            </a:r>
          </a:p>
          <a:p>
            <a:pPr lvl="1" algn="just"/>
            <a:r>
              <a:rPr lang="fr-FR" dirty="0" err="1"/>
              <a:t>JShell</a:t>
            </a:r>
            <a:r>
              <a:rPr lang="fr-FR" dirty="0"/>
              <a:t> et le nouveau serveur HTTP accélèrent le prototypage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smtClean="0"/>
              <a:t>API </a:t>
            </a:r>
            <a:r>
              <a:rPr lang="fr-FR" dirty="0"/>
              <a:t>comme Stream et </a:t>
            </a:r>
            <a:r>
              <a:rPr lang="fr-FR" dirty="0" err="1"/>
              <a:t>Optional</a:t>
            </a:r>
            <a:r>
              <a:rPr lang="fr-FR" dirty="0"/>
              <a:t> ont été enrichies.</a:t>
            </a:r>
            <a:endParaRPr lang="fr-FR" dirty="0" smtClean="0"/>
          </a:p>
          <a:p>
            <a:pPr algn="just"/>
            <a:r>
              <a:rPr lang="fr-FR" b="1" dirty="0"/>
              <a:t>Sécurité </a:t>
            </a:r>
            <a:r>
              <a:rPr lang="fr-FR" b="1" dirty="0" smtClean="0"/>
              <a:t>renforcée</a:t>
            </a:r>
          </a:p>
          <a:p>
            <a:pPr lvl="1" algn="just"/>
            <a:r>
              <a:rPr lang="fr-FR" dirty="0"/>
              <a:t>Suppression des fonctionnalités obsolètes et des vulnérabilités potentielles</a:t>
            </a:r>
            <a:r>
              <a:rPr lang="fr-FR" dirty="0" smtClean="0"/>
              <a:t>.</a:t>
            </a:r>
          </a:p>
          <a:p>
            <a:pPr lvl="1" algn="just"/>
            <a:r>
              <a:rPr lang="fr-FR" dirty="0" smtClean="0"/>
              <a:t>UTF-8 </a:t>
            </a:r>
            <a:r>
              <a:rPr lang="fr-FR" dirty="0"/>
              <a:t>par défaut pour éviter les problèmes d'encodage.</a:t>
            </a:r>
            <a:endParaRPr lang="fr-FR" dirty="0" smtClean="0"/>
          </a:p>
          <a:p>
            <a:pPr algn="just"/>
            <a:r>
              <a:rPr lang="fr-FR" b="1" dirty="0"/>
              <a:t>Écosystème </a:t>
            </a:r>
            <a:r>
              <a:rPr lang="fr-FR" b="1" dirty="0" smtClean="0"/>
              <a:t>cloud-</a:t>
            </a:r>
            <a:r>
              <a:rPr lang="fr-FR" b="1" dirty="0" err="1" smtClean="0"/>
              <a:t>ready</a:t>
            </a:r>
            <a:endParaRPr lang="fr-FR" b="1" dirty="0" smtClean="0"/>
          </a:p>
          <a:p>
            <a:pPr lvl="1" algn="just"/>
            <a:r>
              <a:rPr lang="fr-FR" dirty="0"/>
              <a:t>Améliorations pour la conteneurisation, la gestion des ressources, et la </a:t>
            </a:r>
            <a:r>
              <a:rPr lang="fr-FR" dirty="0" err="1"/>
              <a:t>scalabilité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549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Conclusion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3200" dirty="0"/>
              <a:t>En exploitant ces outils, bibliothèques et concepts, les développeurs peuvent considérablement améliorer leur productivité et tirer parti des avancées de Java au fil des versions.</a:t>
            </a:r>
          </a:p>
        </p:txBody>
      </p:sp>
    </p:spTree>
    <p:extLst>
      <p:ext uri="{BB962C8B-B14F-4D97-AF65-F5344CB8AC3E}">
        <p14:creationId xmlns:p14="http://schemas.microsoft.com/office/powerpoint/2010/main" val="393430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319</TotalTime>
  <Words>700</Words>
  <Application>Microsoft Office PowerPoint</Application>
  <PresentationFormat>Grand écran</PresentationFormat>
  <Paragraphs>63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Georgia</vt:lpstr>
      <vt:lpstr>Trebuchet MS</vt:lpstr>
      <vt:lpstr>Wingdings</vt:lpstr>
      <vt:lpstr>Type de bois</vt:lpstr>
      <vt:lpstr>Introduction</vt:lpstr>
      <vt:lpstr>Présentation PowerPoint</vt:lpstr>
      <vt:lpstr>Les différents aspects</vt:lpstr>
      <vt:lpstr>Exploiter les nouvelles fonctionnalités des versions récentes de Java</vt:lpstr>
      <vt:lpstr>Java 15-20</vt:lpstr>
      <vt:lpstr>Intégrer les Framework et bibliothèques modernes</vt:lpstr>
      <vt:lpstr>Adopter des outils pour un développement efficace</vt:lpstr>
      <vt:lpstr>Automatiser les tests</vt:lpstr>
      <vt:lpstr>Optimiser la performance et la scalabilité</vt:lpstr>
      <vt:lpstr>Suivre les meilleures pratiques</vt:lpstr>
      <vt:lpstr>Valeur ajoutée globale vis-à-vis les versions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admin</dc:creator>
  <cp:lastModifiedBy>admin</cp:lastModifiedBy>
  <cp:revision>24</cp:revision>
  <dcterms:created xsi:type="dcterms:W3CDTF">2025-01-18T22:25:14Z</dcterms:created>
  <dcterms:modified xsi:type="dcterms:W3CDTF">2026-03-21T15:26:49Z</dcterms:modified>
</cp:coreProperties>
</file>