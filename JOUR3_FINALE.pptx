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6"/>
  </p:notesMasterIdLst>
  <p:sldIdLst>
    <p:sldId id="256" r:id="rId2"/>
    <p:sldId id="279" r:id="rId3"/>
    <p:sldId id="275" r:id="rId4"/>
    <p:sldId id="302" r:id="rId5"/>
    <p:sldId id="303" r:id="rId6"/>
    <p:sldId id="304" r:id="rId7"/>
    <p:sldId id="305" r:id="rId8"/>
    <p:sldId id="306" r:id="rId9"/>
    <p:sldId id="307" r:id="rId10"/>
    <p:sldId id="308" r:id="rId11"/>
    <p:sldId id="309" r:id="rId12"/>
    <p:sldId id="310" r:id="rId13"/>
    <p:sldId id="311" r:id="rId14"/>
    <p:sldId id="312" r:id="rId15"/>
    <p:sldId id="313" r:id="rId16"/>
    <p:sldId id="481" r:id="rId17"/>
    <p:sldId id="482" r:id="rId18"/>
    <p:sldId id="483" r:id="rId19"/>
    <p:sldId id="314" r:id="rId20"/>
    <p:sldId id="315" r:id="rId21"/>
    <p:sldId id="316" r:id="rId22"/>
    <p:sldId id="484" r:id="rId23"/>
    <p:sldId id="485" r:id="rId24"/>
    <p:sldId id="486" r:id="rId25"/>
    <p:sldId id="317" r:id="rId26"/>
    <p:sldId id="318" r:id="rId27"/>
    <p:sldId id="319" r:id="rId28"/>
    <p:sldId id="320" r:id="rId29"/>
    <p:sldId id="321" r:id="rId30"/>
    <p:sldId id="322" r:id="rId31"/>
    <p:sldId id="323" r:id="rId32"/>
    <p:sldId id="324" r:id="rId33"/>
    <p:sldId id="325" r:id="rId34"/>
    <p:sldId id="326" r:id="rId35"/>
    <p:sldId id="327" r:id="rId36"/>
    <p:sldId id="328" r:id="rId37"/>
    <p:sldId id="329" r:id="rId38"/>
    <p:sldId id="330" r:id="rId39"/>
    <p:sldId id="331" r:id="rId40"/>
    <p:sldId id="332" r:id="rId41"/>
    <p:sldId id="333" r:id="rId42"/>
    <p:sldId id="334" r:id="rId43"/>
    <p:sldId id="335" r:id="rId44"/>
    <p:sldId id="336" r:id="rId45"/>
    <p:sldId id="337" r:id="rId46"/>
    <p:sldId id="338" r:id="rId47"/>
    <p:sldId id="339" r:id="rId48"/>
    <p:sldId id="340" r:id="rId49"/>
    <p:sldId id="341" r:id="rId50"/>
    <p:sldId id="474" r:id="rId51"/>
    <p:sldId id="342" r:id="rId52"/>
    <p:sldId id="343" r:id="rId53"/>
    <p:sldId id="344" r:id="rId54"/>
    <p:sldId id="345" r:id="rId55"/>
    <p:sldId id="346" r:id="rId56"/>
    <p:sldId id="347" r:id="rId57"/>
    <p:sldId id="348" r:id="rId58"/>
    <p:sldId id="349" r:id="rId59"/>
    <p:sldId id="350" r:id="rId60"/>
    <p:sldId id="476" r:id="rId61"/>
    <p:sldId id="477" r:id="rId62"/>
    <p:sldId id="351" r:id="rId63"/>
    <p:sldId id="352" r:id="rId64"/>
    <p:sldId id="353" r:id="rId65"/>
    <p:sldId id="354" r:id="rId66"/>
    <p:sldId id="471" r:id="rId67"/>
    <p:sldId id="472" r:id="rId68"/>
    <p:sldId id="473" r:id="rId69"/>
    <p:sldId id="355" r:id="rId70"/>
    <p:sldId id="356" r:id="rId71"/>
    <p:sldId id="357" r:id="rId72"/>
    <p:sldId id="358" r:id="rId73"/>
    <p:sldId id="359" r:id="rId74"/>
    <p:sldId id="360" r:id="rId75"/>
    <p:sldId id="361" r:id="rId76"/>
    <p:sldId id="362" r:id="rId77"/>
    <p:sldId id="363" r:id="rId78"/>
    <p:sldId id="364" r:id="rId79"/>
    <p:sldId id="365" r:id="rId80"/>
    <p:sldId id="366" r:id="rId81"/>
    <p:sldId id="367" r:id="rId82"/>
    <p:sldId id="368" r:id="rId83"/>
    <p:sldId id="369" r:id="rId84"/>
    <p:sldId id="370" r:id="rId85"/>
    <p:sldId id="371" r:id="rId86"/>
    <p:sldId id="372" r:id="rId87"/>
    <p:sldId id="373" r:id="rId88"/>
    <p:sldId id="374" r:id="rId89"/>
    <p:sldId id="375" r:id="rId90"/>
    <p:sldId id="376" r:id="rId91"/>
    <p:sldId id="377" r:id="rId92"/>
    <p:sldId id="378" r:id="rId93"/>
    <p:sldId id="379" r:id="rId94"/>
    <p:sldId id="380" r:id="rId95"/>
    <p:sldId id="381" r:id="rId96"/>
    <p:sldId id="382" r:id="rId97"/>
    <p:sldId id="383" r:id="rId98"/>
    <p:sldId id="384" r:id="rId99"/>
    <p:sldId id="385" r:id="rId100"/>
    <p:sldId id="386" r:id="rId101"/>
    <p:sldId id="387" r:id="rId102"/>
    <p:sldId id="388" r:id="rId103"/>
    <p:sldId id="389" r:id="rId104"/>
    <p:sldId id="390" r:id="rId105"/>
    <p:sldId id="391" r:id="rId106"/>
    <p:sldId id="392" r:id="rId107"/>
    <p:sldId id="393" r:id="rId108"/>
    <p:sldId id="394" r:id="rId109"/>
    <p:sldId id="395" r:id="rId110"/>
    <p:sldId id="396" r:id="rId111"/>
    <p:sldId id="397" r:id="rId112"/>
    <p:sldId id="398" r:id="rId113"/>
    <p:sldId id="399" r:id="rId114"/>
    <p:sldId id="400" r:id="rId115"/>
    <p:sldId id="401" r:id="rId116"/>
    <p:sldId id="402" r:id="rId117"/>
    <p:sldId id="403" r:id="rId118"/>
    <p:sldId id="404" r:id="rId119"/>
    <p:sldId id="405" r:id="rId120"/>
    <p:sldId id="406" r:id="rId121"/>
    <p:sldId id="407" r:id="rId122"/>
    <p:sldId id="408" r:id="rId123"/>
    <p:sldId id="409" r:id="rId124"/>
    <p:sldId id="410" r:id="rId125"/>
    <p:sldId id="478" r:id="rId126"/>
    <p:sldId id="480" r:id="rId127"/>
    <p:sldId id="411" r:id="rId128"/>
    <p:sldId id="412" r:id="rId129"/>
    <p:sldId id="413" r:id="rId130"/>
    <p:sldId id="414" r:id="rId131"/>
    <p:sldId id="415" r:id="rId132"/>
    <p:sldId id="416" r:id="rId133"/>
    <p:sldId id="417" r:id="rId134"/>
    <p:sldId id="418" r:id="rId135"/>
    <p:sldId id="419" r:id="rId136"/>
    <p:sldId id="420" r:id="rId137"/>
    <p:sldId id="421" r:id="rId138"/>
    <p:sldId id="422" r:id="rId139"/>
    <p:sldId id="431" r:id="rId140"/>
    <p:sldId id="432" r:id="rId141"/>
    <p:sldId id="434" r:id="rId142"/>
    <p:sldId id="438" r:id="rId143"/>
    <p:sldId id="439" r:id="rId144"/>
    <p:sldId id="440" r:id="rId145"/>
    <p:sldId id="452" r:id="rId146"/>
    <p:sldId id="457" r:id="rId147"/>
    <p:sldId id="458" r:id="rId148"/>
    <p:sldId id="433" r:id="rId149"/>
    <p:sldId id="460" r:id="rId150"/>
    <p:sldId id="441" r:id="rId151"/>
    <p:sldId id="442" r:id="rId152"/>
    <p:sldId id="424" r:id="rId153"/>
    <p:sldId id="461" r:id="rId154"/>
    <p:sldId id="462" r:id="rId155"/>
    <p:sldId id="463" r:id="rId156"/>
    <p:sldId id="464" r:id="rId157"/>
    <p:sldId id="465" r:id="rId158"/>
    <p:sldId id="466" r:id="rId159"/>
    <p:sldId id="467" r:id="rId160"/>
    <p:sldId id="468" r:id="rId161"/>
    <p:sldId id="425" r:id="rId162"/>
    <p:sldId id="426" r:id="rId163"/>
    <p:sldId id="427" r:id="rId164"/>
    <p:sldId id="428" r:id="rId165"/>
    <p:sldId id="429" r:id="rId166"/>
    <p:sldId id="488" r:id="rId167"/>
    <p:sldId id="489" r:id="rId168"/>
    <p:sldId id="490" r:id="rId169"/>
    <p:sldId id="491" r:id="rId170"/>
    <p:sldId id="492" r:id="rId171"/>
    <p:sldId id="493" r:id="rId172"/>
    <p:sldId id="495" r:id="rId173"/>
    <p:sldId id="494" r:id="rId174"/>
    <p:sldId id="430" r:id="rId17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3" d="100"/>
          <a:sy n="63" d="100"/>
        </p:scale>
        <p:origin x="708" y="-1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presProps" Target="pres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C9744D-E567-4690-A1F0-7DAE58F64A83}" type="datetimeFigureOut">
              <a:rPr lang="fr-FR" smtClean="0"/>
              <a:t>27/03/2026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DA8432-6242-40F0-851E-7541CF2CD73E}" type="slidenum">
              <a:rPr lang="fr-FR" smtClean="0"/>
              <a:t>‹N°›</a:t>
            </a:fld>
            <a:endParaRPr lang="fr-FR" dirty="0"/>
          </a:p>
        </p:txBody>
      </p:sp>
    </p:spTree>
    <p:extLst>
      <p:ext uri="{BB962C8B-B14F-4D97-AF65-F5344CB8AC3E}">
        <p14:creationId xmlns:p14="http://schemas.microsoft.com/office/powerpoint/2010/main" val="281015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9DA8432-6242-40F0-851E-7541CF2CD73E}" type="slidenum">
              <a:rPr lang="fr-FR" smtClean="0"/>
              <a:t>45</a:t>
            </a:fld>
            <a:endParaRPr lang="fr-FR"/>
          </a:p>
        </p:txBody>
      </p:sp>
    </p:spTree>
    <p:extLst>
      <p:ext uri="{BB962C8B-B14F-4D97-AF65-F5344CB8AC3E}">
        <p14:creationId xmlns:p14="http://schemas.microsoft.com/office/powerpoint/2010/main" val="2906439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smtClean="0"/>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926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4229738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0601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2332289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218399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80185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FR" dirty="0"/>
          </a:p>
        </p:txBody>
      </p:sp>
      <p:sp>
        <p:nvSpPr>
          <p:cNvPr id="9" name="Slide Number Placeholder 8"/>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407188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smtClean="0"/>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1A177EF-A8B2-4D01-92A9-E9DED3ABB528}" type="datetimeFigureOut">
              <a:rPr lang="fr-FR" smtClean="0"/>
              <a:t>27/03/2026</a:t>
            </a:fld>
            <a:endParaRPr lang="fr-FR"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fr-FR"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09CF309-9D65-4C4C-83E1-586A56AD6C78}" type="slidenum">
              <a:rPr lang="fr-FR" smtClean="0"/>
              <a:t>‹N°›</a:t>
            </a:fld>
            <a:endParaRPr lang="fr-FR" dirty="0"/>
          </a:p>
        </p:txBody>
      </p:sp>
    </p:spTree>
    <p:extLst>
      <p:ext uri="{BB962C8B-B14F-4D97-AF65-F5344CB8AC3E}">
        <p14:creationId xmlns:p14="http://schemas.microsoft.com/office/powerpoint/2010/main" val="312741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smtClean="0"/>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3819550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1678477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27/03/2026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1526376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1A177EF-A8B2-4D01-92A9-E9DED3ABB528}" type="datetimeFigureOut">
              <a:rPr lang="fr-FR" smtClean="0"/>
              <a:t>27/03/2026</a:t>
            </a:fld>
            <a:endParaRPr lang="fr-FR"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FR"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09CF309-9D65-4C4C-83E1-586A56AD6C78}" type="slidenum">
              <a:rPr lang="fr-FR" smtClean="0"/>
              <a:t>‹N°›</a:t>
            </a:fld>
            <a:endParaRPr lang="fr-FR"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41179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0.png"/><Relationship Id="rId1" Type="http://schemas.openxmlformats.org/officeDocument/2006/relationships/slideLayout" Target="../slideLayouts/slideLayout4.xml"/><Relationship Id="rId5" Type="http://schemas.microsoft.com/office/2007/relationships/hdphoto" Target="../media/hdphoto4.wdp"/><Relationship Id="rId4" Type="http://schemas.openxmlformats.org/officeDocument/2006/relationships/image" Target="../media/image41.png"/></Relationships>
</file>

<file path=ppt/slides/_rels/slide6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70.png"/><Relationship Id="rId1" Type="http://schemas.openxmlformats.org/officeDocument/2006/relationships/slideLayout" Target="../slideLayouts/slideLayout5.xml"/><Relationship Id="rId4" Type="http://schemas.openxmlformats.org/officeDocument/2006/relationships/image" Target="../media/image7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algn="ctr"/>
            <a:r>
              <a:rPr lang="fr-FR" b="1" dirty="0"/>
              <a:t>Java - Nouveautés des versions 8 à 22</a:t>
            </a:r>
          </a:p>
        </p:txBody>
      </p:sp>
      <p:sp>
        <p:nvSpPr>
          <p:cNvPr id="3" name="Sous-titre 2"/>
          <p:cNvSpPr>
            <a:spLocks noGrp="1"/>
          </p:cNvSpPr>
          <p:nvPr>
            <p:ph type="subTitle" idx="1"/>
          </p:nvPr>
        </p:nvSpPr>
        <p:spPr/>
        <p:txBody>
          <a:bodyPr/>
          <a:lstStyle/>
          <a:p>
            <a:r>
              <a:rPr lang="fr-FR" dirty="0" smtClean="0"/>
              <a:t>M2I</a:t>
            </a:r>
            <a:endParaRPr lang="fr-FR" dirty="0"/>
          </a:p>
        </p:txBody>
      </p:sp>
    </p:spTree>
    <p:extLst>
      <p:ext uri="{BB962C8B-B14F-4D97-AF65-F5344CB8AC3E}">
        <p14:creationId xmlns:p14="http://schemas.microsoft.com/office/powerpoint/2010/main" val="1101700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7200" b="1" dirty="0" smtClean="0"/>
              <a:t>Concepts Jour 3</a:t>
            </a:r>
            <a:endParaRPr lang="fr-FR" sz="7200" b="1" dirty="0"/>
          </a:p>
        </p:txBody>
      </p:sp>
      <p:sp>
        <p:nvSpPr>
          <p:cNvPr id="3" name="Espace réservé du contenu 2"/>
          <p:cNvSpPr>
            <a:spLocks noGrp="1"/>
          </p:cNvSpPr>
          <p:nvPr>
            <p:ph idx="1"/>
          </p:nvPr>
        </p:nvSpPr>
        <p:spPr>
          <a:xfrm>
            <a:off x="626533" y="1845734"/>
            <a:ext cx="10529147" cy="4023360"/>
          </a:xfrm>
        </p:spPr>
        <p:txBody>
          <a:bodyPr numCol="2">
            <a:noAutofit/>
          </a:bodyPr>
          <a:lstStyle/>
          <a:p>
            <a:pPr>
              <a:lnSpc>
                <a:spcPct val="100000"/>
              </a:lnSpc>
              <a:buFont typeface="Wingdings" panose="05000000000000000000" pitchFamily="2" charset="2"/>
              <a:buChar char="Ø"/>
            </a:pPr>
            <a:r>
              <a:rPr lang="fr-FR" sz="2800" b="1" dirty="0" smtClean="0"/>
              <a:t> </a:t>
            </a:r>
            <a:r>
              <a:rPr lang="fr-FR" sz="2800" b="1" dirty="0"/>
              <a:t>Autres apports de la JDK </a:t>
            </a:r>
            <a:r>
              <a:rPr lang="fr-FR" sz="2800" b="1" dirty="0" smtClean="0"/>
              <a:t>9</a:t>
            </a:r>
          </a:p>
          <a:p>
            <a:pPr>
              <a:lnSpc>
                <a:spcPct val="100000"/>
              </a:lnSpc>
              <a:buFont typeface="Wingdings" panose="05000000000000000000" pitchFamily="2" charset="2"/>
              <a:buChar char="Ø"/>
            </a:pPr>
            <a:r>
              <a:rPr lang="fr-FR" sz="2800" b="1" dirty="0" smtClean="0"/>
              <a:t> Apports </a:t>
            </a:r>
            <a:r>
              <a:rPr lang="fr-FR" sz="2800" b="1" dirty="0"/>
              <a:t>de la JDK </a:t>
            </a:r>
            <a:r>
              <a:rPr lang="fr-FR" sz="2800" b="1" dirty="0" smtClean="0"/>
              <a:t>10</a:t>
            </a:r>
          </a:p>
          <a:p>
            <a:pPr>
              <a:lnSpc>
                <a:spcPct val="100000"/>
              </a:lnSpc>
              <a:buFont typeface="Wingdings" panose="05000000000000000000" pitchFamily="2" charset="2"/>
              <a:buChar char="Ø"/>
            </a:pPr>
            <a:r>
              <a:rPr lang="fr-FR" sz="2800" b="1" dirty="0" smtClean="0"/>
              <a:t> </a:t>
            </a:r>
            <a:r>
              <a:rPr lang="fr-FR" sz="2800" b="1" dirty="0"/>
              <a:t>Apports de la JDK </a:t>
            </a:r>
            <a:r>
              <a:rPr lang="fr-FR" sz="2800" b="1" dirty="0" smtClean="0"/>
              <a:t>11</a:t>
            </a:r>
          </a:p>
          <a:p>
            <a:pPr>
              <a:lnSpc>
                <a:spcPct val="100000"/>
              </a:lnSpc>
              <a:buFont typeface="Wingdings" panose="05000000000000000000" pitchFamily="2" charset="2"/>
              <a:buChar char="Ø"/>
            </a:pPr>
            <a:r>
              <a:rPr lang="fr-FR" sz="2800" b="1" dirty="0"/>
              <a:t> Apports de la JDK 12 et </a:t>
            </a:r>
            <a:r>
              <a:rPr lang="fr-FR" sz="2800" b="1" dirty="0" smtClean="0"/>
              <a:t>13</a:t>
            </a:r>
          </a:p>
          <a:p>
            <a:pPr>
              <a:lnSpc>
                <a:spcPct val="100000"/>
              </a:lnSpc>
              <a:buFont typeface="Wingdings" panose="05000000000000000000" pitchFamily="2" charset="2"/>
              <a:buChar char="Ø"/>
            </a:pPr>
            <a:r>
              <a:rPr lang="fr-FR" sz="2800" b="1" dirty="0"/>
              <a:t> Apports de la JDK </a:t>
            </a:r>
            <a:r>
              <a:rPr lang="fr-FR" sz="2800" b="1" dirty="0" smtClean="0"/>
              <a:t>14</a:t>
            </a:r>
          </a:p>
          <a:p>
            <a:pPr>
              <a:lnSpc>
                <a:spcPct val="100000"/>
              </a:lnSpc>
              <a:buFont typeface="Wingdings" panose="05000000000000000000" pitchFamily="2" charset="2"/>
              <a:buChar char="Ø"/>
            </a:pPr>
            <a:r>
              <a:rPr lang="fr-FR" sz="2800" b="1" dirty="0"/>
              <a:t> Apports de la JDK </a:t>
            </a:r>
            <a:r>
              <a:rPr lang="fr-FR" sz="2800" b="1" dirty="0" smtClean="0"/>
              <a:t>15 </a:t>
            </a:r>
          </a:p>
          <a:p>
            <a:pPr>
              <a:lnSpc>
                <a:spcPct val="100000"/>
              </a:lnSpc>
              <a:buFont typeface="Wingdings" panose="05000000000000000000" pitchFamily="2" charset="2"/>
              <a:buChar char="Ø"/>
            </a:pPr>
            <a:r>
              <a:rPr lang="fr-FR" sz="2800" b="1" dirty="0"/>
              <a:t>Apports de la JDK </a:t>
            </a:r>
            <a:r>
              <a:rPr lang="fr-FR" sz="2800" b="1" dirty="0" smtClean="0"/>
              <a:t>16</a:t>
            </a:r>
          </a:p>
          <a:p>
            <a:pPr>
              <a:lnSpc>
                <a:spcPct val="100000"/>
              </a:lnSpc>
              <a:buFont typeface="Wingdings" panose="05000000000000000000" pitchFamily="2" charset="2"/>
              <a:buChar char="Ø"/>
            </a:pPr>
            <a:r>
              <a:rPr lang="fr-FR" sz="2800" b="1" dirty="0"/>
              <a:t> Apports de la JDK </a:t>
            </a:r>
            <a:r>
              <a:rPr lang="fr-FR" sz="2800" b="1" dirty="0" smtClean="0"/>
              <a:t>17</a:t>
            </a:r>
          </a:p>
          <a:p>
            <a:pPr>
              <a:lnSpc>
                <a:spcPct val="100000"/>
              </a:lnSpc>
              <a:buFont typeface="Wingdings" panose="05000000000000000000" pitchFamily="2" charset="2"/>
              <a:buChar char="Ø"/>
            </a:pPr>
            <a:r>
              <a:rPr lang="fr-FR" sz="2800" b="1" dirty="0"/>
              <a:t> Apports de la JDK </a:t>
            </a:r>
            <a:r>
              <a:rPr lang="fr-FR" sz="2800" b="1" dirty="0" smtClean="0"/>
              <a:t>18</a:t>
            </a:r>
          </a:p>
          <a:p>
            <a:pPr>
              <a:lnSpc>
                <a:spcPct val="100000"/>
              </a:lnSpc>
              <a:buFont typeface="Wingdings" panose="05000000000000000000" pitchFamily="2" charset="2"/>
              <a:buChar char="Ø"/>
            </a:pPr>
            <a:r>
              <a:rPr lang="fr-FR" sz="2800" b="1" dirty="0"/>
              <a:t> Apports de la JDK 19, 20 et </a:t>
            </a:r>
            <a:r>
              <a:rPr lang="fr-FR" sz="2800" b="1" dirty="0" smtClean="0"/>
              <a:t>21</a:t>
            </a:r>
          </a:p>
          <a:p>
            <a:pPr>
              <a:lnSpc>
                <a:spcPct val="100000"/>
              </a:lnSpc>
              <a:buFont typeface="Wingdings" panose="05000000000000000000" pitchFamily="2" charset="2"/>
              <a:buChar char="Ø"/>
            </a:pPr>
            <a:r>
              <a:rPr lang="fr-FR" sz="2800" b="1" dirty="0"/>
              <a:t> Apports de la JDK </a:t>
            </a:r>
            <a:r>
              <a:rPr lang="fr-FR" sz="2800" b="1" dirty="0" smtClean="0"/>
              <a:t>22</a:t>
            </a:r>
          </a:p>
          <a:p>
            <a:pPr>
              <a:lnSpc>
                <a:spcPct val="100000"/>
              </a:lnSpc>
              <a:buFont typeface="Wingdings" panose="05000000000000000000" pitchFamily="2" charset="2"/>
              <a:buChar char="Ø"/>
            </a:pPr>
            <a:r>
              <a:rPr lang="fr-FR" sz="2800" b="1" dirty="0"/>
              <a:t> </a:t>
            </a:r>
            <a:r>
              <a:rPr lang="fr-FR" sz="2800" b="1" dirty="0" smtClean="0"/>
              <a:t>Apports de la JDK 23</a:t>
            </a:r>
          </a:p>
          <a:p>
            <a:pPr>
              <a:lnSpc>
                <a:spcPct val="100000"/>
              </a:lnSpc>
              <a:buFont typeface="Wingdings" panose="05000000000000000000" pitchFamily="2" charset="2"/>
              <a:buChar char="Ø"/>
            </a:pPr>
            <a:endParaRPr lang="fr-FR" sz="2800" b="1" dirty="0" smtClean="0"/>
          </a:p>
          <a:p>
            <a:pPr>
              <a:lnSpc>
                <a:spcPct val="100000"/>
              </a:lnSpc>
              <a:buFont typeface="Wingdings" panose="05000000000000000000" pitchFamily="2" charset="2"/>
              <a:buChar char="Ø"/>
            </a:pPr>
            <a:endParaRPr lang="fr-FR" sz="2800" b="1" dirty="0"/>
          </a:p>
        </p:txBody>
      </p:sp>
    </p:spTree>
    <p:extLst>
      <p:ext uri="{BB962C8B-B14F-4D97-AF65-F5344CB8AC3E}">
        <p14:creationId xmlns:p14="http://schemas.microsoft.com/office/powerpoint/2010/main" val="185670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chor="ctr">
            <a:noAutofit/>
          </a:bodyPr>
          <a:lstStyle/>
          <a:p>
            <a:pPr algn="ctr">
              <a:lnSpc>
                <a:spcPct val="100000"/>
              </a:lnSpc>
            </a:pPr>
            <a:r>
              <a:rPr lang="fr-FR" sz="7200" b="1" dirty="0"/>
              <a:t>Autres apports de la </a:t>
            </a:r>
            <a:r>
              <a:rPr lang="fr-FR" sz="7200" b="1" dirty="0">
                <a:solidFill>
                  <a:srgbClr val="FF0000"/>
                </a:solidFill>
              </a:rPr>
              <a:t>JDK 9</a:t>
            </a:r>
          </a:p>
        </p:txBody>
      </p:sp>
      <p:sp>
        <p:nvSpPr>
          <p:cNvPr id="5" name="Sous-titre 4"/>
          <p:cNvSpPr>
            <a:spLocks noGrp="1"/>
          </p:cNvSpPr>
          <p:nvPr>
            <p:ph type="subTitle" idx="1"/>
          </p:nvPr>
        </p:nvSpPr>
        <p:spPr/>
        <p:txBody>
          <a:bodyPr/>
          <a:lstStyle/>
          <a:p>
            <a:endParaRPr lang="fr-FR" dirty="0"/>
          </a:p>
        </p:txBody>
      </p:sp>
    </p:spTree>
    <p:extLst>
      <p:ext uri="{BB962C8B-B14F-4D97-AF65-F5344CB8AC3E}">
        <p14:creationId xmlns:p14="http://schemas.microsoft.com/office/powerpoint/2010/main" val="18557817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Introduction</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La modularisation avec le système de modules (Project </a:t>
            </a:r>
            <a:r>
              <a:rPr lang="fr-FR" sz="2800" b="1" dirty="0" err="1"/>
              <a:t>Jigsaw</a:t>
            </a:r>
            <a:r>
              <a:rPr lang="fr-FR" sz="2800" dirty="0" smtClean="0"/>
              <a:t>).</a:t>
            </a:r>
          </a:p>
          <a:p>
            <a:pPr algn="just">
              <a:lnSpc>
                <a:spcPct val="150000"/>
              </a:lnSpc>
              <a:buFont typeface="Wingdings" panose="05000000000000000000" pitchFamily="2" charset="2"/>
              <a:buChar char="Ø"/>
            </a:pPr>
            <a:r>
              <a:rPr lang="fr-FR" sz="2800" dirty="0" smtClean="0"/>
              <a:t>Les </a:t>
            </a:r>
            <a:r>
              <a:rPr lang="fr-FR" sz="2800" dirty="0"/>
              <a:t>nouvelles fonctionnalités qui optimisent la productivité et les performances</a:t>
            </a:r>
            <a:r>
              <a:rPr lang="fr-FR" sz="2800" dirty="0" smtClean="0"/>
              <a:t>.</a:t>
            </a:r>
          </a:p>
          <a:p>
            <a:pPr algn="just">
              <a:lnSpc>
                <a:spcPct val="150000"/>
              </a:lnSpc>
              <a:buFont typeface="Wingdings" panose="05000000000000000000" pitchFamily="2" charset="2"/>
              <a:buChar char="Ø"/>
            </a:pPr>
            <a:r>
              <a:rPr lang="fr-FR" sz="2800" dirty="0" smtClean="0"/>
              <a:t>Contexte </a:t>
            </a:r>
            <a:r>
              <a:rPr lang="fr-FR" sz="2800" dirty="0"/>
              <a:t>historique : JDK 8 a introduit les </a:t>
            </a:r>
            <a:r>
              <a:rPr lang="fr-FR" sz="2800" b="1" dirty="0" err="1"/>
              <a:t>streams</a:t>
            </a:r>
            <a:r>
              <a:rPr lang="fr-FR" sz="2800" dirty="0"/>
              <a:t>, </a:t>
            </a:r>
            <a:r>
              <a:rPr lang="fr-FR" sz="2800" b="1" dirty="0" err="1"/>
              <a:t>lambdas</a:t>
            </a:r>
            <a:r>
              <a:rPr lang="fr-FR" sz="2800" dirty="0"/>
              <a:t>, et autres fonctionnalités modernes. JDK 9 continue sur cette lancée.</a:t>
            </a:r>
          </a:p>
        </p:txBody>
      </p:sp>
    </p:spTree>
    <p:extLst>
      <p:ext uri="{BB962C8B-B14F-4D97-AF65-F5344CB8AC3E}">
        <p14:creationId xmlns:p14="http://schemas.microsoft.com/office/powerpoint/2010/main" val="12381607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Améliorations des </a:t>
            </a:r>
            <a:r>
              <a:rPr lang="fr-FR" b="1" dirty="0" err="1"/>
              <a:t>Streams</a:t>
            </a:r>
            <a:r>
              <a:rPr lang="fr-FR" b="1" dirty="0"/>
              <a:t> Java 8</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Rappel des </a:t>
            </a:r>
            <a:r>
              <a:rPr lang="fr-FR" sz="3200" b="1" dirty="0" err="1"/>
              <a:t>Streams</a:t>
            </a:r>
            <a:r>
              <a:rPr lang="fr-FR" sz="3200" dirty="0"/>
              <a:t> en Java 8 </a:t>
            </a:r>
            <a:r>
              <a:rPr lang="fr-FR" sz="3200" dirty="0" smtClean="0"/>
              <a:t>:</a:t>
            </a:r>
          </a:p>
          <a:p>
            <a:pPr lvl="1" algn="just">
              <a:lnSpc>
                <a:spcPct val="150000"/>
              </a:lnSpc>
              <a:buFont typeface="Wingdings" panose="05000000000000000000" pitchFamily="2" charset="2"/>
              <a:buChar char="Ø"/>
            </a:pPr>
            <a:r>
              <a:rPr lang="fr-FR" sz="2800" dirty="0"/>
              <a:t> Les </a:t>
            </a:r>
            <a:r>
              <a:rPr lang="fr-FR" sz="2800" b="1" dirty="0" err="1"/>
              <a:t>streams</a:t>
            </a:r>
            <a:r>
              <a:rPr lang="fr-FR" sz="2800" dirty="0"/>
              <a:t> permettent de traiter des collections de données de manière déclarative</a:t>
            </a:r>
            <a:r>
              <a:rPr lang="fr-FR" sz="2800" dirty="0" smtClean="0"/>
              <a:t>.</a:t>
            </a:r>
          </a:p>
          <a:p>
            <a:pPr lvl="1" algn="just">
              <a:lnSpc>
                <a:spcPct val="150000"/>
              </a:lnSpc>
              <a:buFont typeface="Wingdings" panose="05000000000000000000" pitchFamily="2" charset="2"/>
              <a:buChar char="Ø"/>
            </a:pPr>
            <a:r>
              <a:rPr lang="fr-FR" sz="2800" dirty="0"/>
              <a:t> Fonctions principales : </a:t>
            </a:r>
            <a:r>
              <a:rPr lang="fr-FR" sz="2800" b="1" dirty="0" err="1"/>
              <a:t>filter</a:t>
            </a:r>
            <a:r>
              <a:rPr lang="fr-FR" sz="2800" b="1" dirty="0"/>
              <a:t>(), </a:t>
            </a:r>
            <a:r>
              <a:rPr lang="fr-FR" sz="2800" b="1" dirty="0" err="1"/>
              <a:t>map</a:t>
            </a:r>
            <a:r>
              <a:rPr lang="fr-FR" sz="2800" b="1" dirty="0"/>
              <a:t>(), </a:t>
            </a:r>
            <a:r>
              <a:rPr lang="fr-FR" sz="2800" b="1" dirty="0" err="1"/>
              <a:t>reduce</a:t>
            </a:r>
            <a:r>
              <a:rPr lang="fr-FR" sz="2800" b="1" dirty="0"/>
              <a:t>(), etc</a:t>
            </a:r>
            <a:r>
              <a:rPr lang="fr-FR" sz="2800" dirty="0"/>
              <a:t>.</a:t>
            </a:r>
          </a:p>
        </p:txBody>
      </p:sp>
    </p:spTree>
    <p:extLst>
      <p:ext uri="{BB962C8B-B14F-4D97-AF65-F5344CB8AC3E}">
        <p14:creationId xmlns:p14="http://schemas.microsoft.com/office/powerpoint/2010/main" val="28000473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Nouveautés de la JDK 9 :</a:t>
            </a:r>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2800" dirty="0"/>
              <a:t> </a:t>
            </a:r>
            <a:r>
              <a:rPr lang="fr-FR" sz="2800" b="1" dirty="0" err="1"/>
              <a:t>takeWhile</a:t>
            </a:r>
            <a:r>
              <a:rPr lang="fr-FR" sz="2800" dirty="0" smtClean="0"/>
              <a:t>()</a:t>
            </a:r>
          </a:p>
          <a:p>
            <a:pPr>
              <a:lnSpc>
                <a:spcPct val="150000"/>
              </a:lnSpc>
              <a:buFont typeface="Wingdings" panose="05000000000000000000" pitchFamily="2" charset="2"/>
              <a:buChar char="Ø"/>
            </a:pPr>
            <a:r>
              <a:rPr lang="fr-FR" sz="2800" dirty="0"/>
              <a:t> </a:t>
            </a:r>
            <a:r>
              <a:rPr lang="fr-FR" sz="2800" b="1" dirty="0" err="1"/>
              <a:t>dropWhile</a:t>
            </a:r>
            <a:r>
              <a:rPr lang="fr-FR" sz="2800" dirty="0" smtClean="0"/>
              <a:t>()</a:t>
            </a:r>
          </a:p>
          <a:p>
            <a:pPr>
              <a:lnSpc>
                <a:spcPct val="150000"/>
              </a:lnSpc>
              <a:buFont typeface="Wingdings" panose="05000000000000000000" pitchFamily="2" charset="2"/>
              <a:buChar char="Ø"/>
            </a:pPr>
            <a:r>
              <a:rPr lang="fr-FR" sz="2800" dirty="0"/>
              <a:t> </a:t>
            </a:r>
            <a:r>
              <a:rPr lang="fr-FR" sz="2800" b="1" dirty="0" err="1"/>
              <a:t>ofNullable</a:t>
            </a:r>
            <a:r>
              <a:rPr lang="fr-FR" sz="2800" dirty="0" smtClean="0"/>
              <a:t>()</a:t>
            </a:r>
          </a:p>
          <a:p>
            <a:pPr>
              <a:lnSpc>
                <a:spcPct val="150000"/>
              </a:lnSpc>
              <a:buFont typeface="Wingdings" panose="05000000000000000000" pitchFamily="2" charset="2"/>
              <a:buChar char="Ø"/>
            </a:pPr>
            <a:r>
              <a:rPr lang="fr-FR" sz="2800" dirty="0"/>
              <a:t> </a:t>
            </a:r>
            <a:r>
              <a:rPr lang="fr-FR" sz="2800" b="1" dirty="0"/>
              <a:t>Itérations sur des </a:t>
            </a:r>
            <a:r>
              <a:rPr lang="fr-FR" sz="2800" b="1" dirty="0" err="1"/>
              <a:t>streams</a:t>
            </a:r>
            <a:r>
              <a:rPr lang="fr-FR" sz="2800" b="1" dirty="0"/>
              <a:t> infinis</a:t>
            </a:r>
            <a:r>
              <a:rPr lang="fr-FR" sz="2800" dirty="0"/>
              <a:t> </a:t>
            </a:r>
          </a:p>
        </p:txBody>
      </p:sp>
    </p:spTree>
    <p:extLst>
      <p:ext uri="{BB962C8B-B14F-4D97-AF65-F5344CB8AC3E}">
        <p14:creationId xmlns:p14="http://schemas.microsoft.com/office/powerpoint/2010/main" val="29576286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takeWhile</a:t>
            </a:r>
            <a:r>
              <a:rPr lang="fr-FR" b="1" dirty="0"/>
              <a:t>()</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Récupère les éléments d’un </a:t>
            </a:r>
            <a:r>
              <a:rPr lang="fr-FR" sz="3200" dirty="0" err="1"/>
              <a:t>stream</a:t>
            </a:r>
            <a:r>
              <a:rPr lang="fr-FR" sz="3200" dirty="0"/>
              <a:t> tant qu’une condition est vraie.</a:t>
            </a:r>
          </a:p>
        </p:txBody>
      </p:sp>
      <p:pic>
        <p:nvPicPr>
          <p:cNvPr id="5" name="Image 4"/>
          <p:cNvPicPr>
            <a:picLocks noChangeAspect="1"/>
          </p:cNvPicPr>
          <p:nvPr/>
        </p:nvPicPr>
        <p:blipFill>
          <a:blip r:embed="rId2"/>
          <a:stretch>
            <a:fillRect/>
          </a:stretch>
        </p:blipFill>
        <p:spPr>
          <a:xfrm>
            <a:off x="3335868" y="3353329"/>
            <a:ext cx="7145866" cy="2353204"/>
          </a:xfrm>
          <a:prstGeom prst="rect">
            <a:avLst/>
          </a:prstGeom>
        </p:spPr>
      </p:pic>
    </p:spTree>
    <p:extLst>
      <p:ext uri="{BB962C8B-B14F-4D97-AF65-F5344CB8AC3E}">
        <p14:creationId xmlns:p14="http://schemas.microsoft.com/office/powerpoint/2010/main" val="7309923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dropWhile</a:t>
            </a:r>
            <a:r>
              <a:rPr lang="fr-FR" b="1" dirty="0"/>
              <a:t>()</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Ignore les éléments tant qu’une condition est vraie, puis inclut les suivants.</a:t>
            </a:r>
          </a:p>
        </p:txBody>
      </p:sp>
      <p:pic>
        <p:nvPicPr>
          <p:cNvPr id="4" name="Image 3"/>
          <p:cNvPicPr>
            <a:picLocks noChangeAspect="1"/>
          </p:cNvPicPr>
          <p:nvPr/>
        </p:nvPicPr>
        <p:blipFill>
          <a:blip r:embed="rId2"/>
          <a:stretch>
            <a:fillRect/>
          </a:stretch>
        </p:blipFill>
        <p:spPr>
          <a:xfrm>
            <a:off x="3108642" y="3611562"/>
            <a:ext cx="6035675" cy="1722438"/>
          </a:xfrm>
          <a:prstGeom prst="rect">
            <a:avLst/>
          </a:prstGeom>
        </p:spPr>
      </p:pic>
    </p:spTree>
    <p:extLst>
      <p:ext uri="{BB962C8B-B14F-4D97-AF65-F5344CB8AC3E}">
        <p14:creationId xmlns:p14="http://schemas.microsoft.com/office/powerpoint/2010/main" val="11374806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ofNullable</a:t>
            </a:r>
            <a:r>
              <a:rPr lang="fr-FR" b="1" dirty="0"/>
              <a:t>()</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Crée un </a:t>
            </a:r>
            <a:r>
              <a:rPr lang="fr-FR" sz="3200" dirty="0" err="1"/>
              <a:t>stream</a:t>
            </a:r>
            <a:r>
              <a:rPr lang="fr-FR" sz="3200" dirty="0"/>
              <a:t> avec zéro ou un élément (utile pour éviter les </a:t>
            </a:r>
            <a:r>
              <a:rPr lang="fr-FR" sz="3200" dirty="0" err="1"/>
              <a:t>NullPointerException</a:t>
            </a:r>
            <a:r>
              <a:rPr lang="fr-FR" sz="3200" dirty="0"/>
              <a:t>).</a:t>
            </a:r>
          </a:p>
        </p:txBody>
      </p:sp>
      <p:pic>
        <p:nvPicPr>
          <p:cNvPr id="5" name="Image 4"/>
          <p:cNvPicPr>
            <a:picLocks noChangeAspect="1"/>
          </p:cNvPicPr>
          <p:nvPr/>
        </p:nvPicPr>
        <p:blipFill>
          <a:blip r:embed="rId2"/>
          <a:stretch>
            <a:fillRect/>
          </a:stretch>
        </p:blipFill>
        <p:spPr>
          <a:xfrm>
            <a:off x="2536613" y="3857414"/>
            <a:ext cx="7179733" cy="1459653"/>
          </a:xfrm>
          <a:prstGeom prst="rect">
            <a:avLst/>
          </a:prstGeom>
        </p:spPr>
      </p:pic>
    </p:spTree>
    <p:extLst>
      <p:ext uri="{BB962C8B-B14F-4D97-AF65-F5344CB8AC3E}">
        <p14:creationId xmlns:p14="http://schemas.microsoft.com/office/powerpoint/2010/main" val="19568922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Itérations sur des </a:t>
            </a:r>
            <a:r>
              <a:rPr lang="fr-FR" b="1" dirty="0" err="1"/>
              <a:t>streams</a:t>
            </a:r>
            <a:r>
              <a:rPr lang="fr-FR" b="1" dirty="0"/>
              <a:t> infinis</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4000" dirty="0"/>
              <a:t> Exemple : Génération d’une série </a:t>
            </a:r>
            <a:r>
              <a:rPr lang="fr-FR" sz="4000" b="1" dirty="0" err="1"/>
              <a:t>Fibonacci</a:t>
            </a:r>
            <a:r>
              <a:rPr lang="fr-FR" sz="4000" dirty="0"/>
              <a:t>.</a:t>
            </a:r>
          </a:p>
        </p:txBody>
      </p:sp>
      <p:pic>
        <p:nvPicPr>
          <p:cNvPr id="4" name="Image 3"/>
          <p:cNvPicPr>
            <a:picLocks noChangeAspect="1"/>
          </p:cNvPicPr>
          <p:nvPr/>
        </p:nvPicPr>
        <p:blipFill>
          <a:blip r:embed="rId2"/>
          <a:stretch>
            <a:fillRect/>
          </a:stretch>
        </p:blipFill>
        <p:spPr>
          <a:xfrm>
            <a:off x="1097280" y="2599982"/>
            <a:ext cx="10058399" cy="3269112"/>
          </a:xfrm>
          <a:prstGeom prst="rect">
            <a:avLst/>
          </a:prstGeom>
        </p:spPr>
      </p:pic>
    </p:spTree>
    <p:extLst>
      <p:ext uri="{BB962C8B-B14F-4D97-AF65-F5344CB8AC3E}">
        <p14:creationId xmlns:p14="http://schemas.microsoft.com/office/powerpoint/2010/main" val="4244685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L'API HTTP/2</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Limites de l'ancienne API HTTP </a:t>
            </a:r>
            <a:r>
              <a:rPr lang="fr-FR" sz="2800" dirty="0" smtClean="0"/>
              <a:t>:</a:t>
            </a:r>
          </a:p>
          <a:p>
            <a:pPr lvl="1" algn="just">
              <a:lnSpc>
                <a:spcPct val="150000"/>
              </a:lnSpc>
              <a:buFont typeface="Wingdings" panose="05000000000000000000" pitchFamily="2" charset="2"/>
              <a:buChar char="Ø"/>
            </a:pPr>
            <a:r>
              <a:rPr lang="fr-FR" sz="2400" dirty="0"/>
              <a:t> </a:t>
            </a:r>
            <a:r>
              <a:rPr lang="fr-FR" sz="2400" dirty="0" smtClean="0"/>
              <a:t>Verbosité </a:t>
            </a:r>
            <a:r>
              <a:rPr lang="fr-FR" sz="2400" dirty="0"/>
              <a:t>excessive</a:t>
            </a:r>
            <a:r>
              <a:rPr lang="fr-FR" sz="2400" dirty="0" smtClean="0"/>
              <a:t>.</a:t>
            </a:r>
          </a:p>
          <a:p>
            <a:pPr lvl="1" algn="just">
              <a:lnSpc>
                <a:spcPct val="150000"/>
              </a:lnSpc>
              <a:buFont typeface="Wingdings" panose="05000000000000000000" pitchFamily="2" charset="2"/>
              <a:buChar char="Ø"/>
            </a:pPr>
            <a:r>
              <a:rPr lang="fr-FR" sz="2400" dirty="0"/>
              <a:t>  Manque de support pour HTTP/2</a:t>
            </a:r>
            <a:r>
              <a:rPr lang="fr-FR" sz="2400" dirty="0" smtClean="0"/>
              <a:t>.</a:t>
            </a:r>
          </a:p>
          <a:p>
            <a:pPr algn="just">
              <a:lnSpc>
                <a:spcPct val="150000"/>
              </a:lnSpc>
              <a:buFont typeface="Wingdings" panose="05000000000000000000" pitchFamily="2" charset="2"/>
              <a:buChar char="Ø"/>
            </a:pPr>
            <a:r>
              <a:rPr lang="fr-FR" sz="2800" dirty="0"/>
              <a:t>Nouvelles fonctionnalités </a:t>
            </a:r>
            <a:r>
              <a:rPr lang="fr-FR" sz="2800" dirty="0" smtClean="0"/>
              <a:t>:</a:t>
            </a:r>
          </a:p>
          <a:p>
            <a:pPr lvl="1" algn="just">
              <a:lnSpc>
                <a:spcPct val="150000"/>
              </a:lnSpc>
              <a:buFont typeface="Wingdings" panose="05000000000000000000" pitchFamily="2" charset="2"/>
              <a:buChar char="Ø"/>
            </a:pPr>
            <a:r>
              <a:rPr lang="fr-FR" sz="2400" dirty="0"/>
              <a:t> Prise en charge native de HTTP/2 (multiplexage, compression d’en-têtes</a:t>
            </a:r>
            <a:r>
              <a:rPr lang="fr-FR" sz="2400" dirty="0" smtClean="0"/>
              <a:t>).</a:t>
            </a:r>
          </a:p>
          <a:p>
            <a:pPr lvl="1" algn="just">
              <a:lnSpc>
                <a:spcPct val="150000"/>
              </a:lnSpc>
              <a:buFont typeface="Wingdings" panose="05000000000000000000" pitchFamily="2" charset="2"/>
              <a:buChar char="Ø"/>
            </a:pPr>
            <a:r>
              <a:rPr lang="fr-FR" sz="2400" dirty="0"/>
              <a:t> API non bloquante pour les requêtes asynchrones.</a:t>
            </a:r>
          </a:p>
        </p:txBody>
      </p:sp>
    </p:spTree>
    <p:extLst>
      <p:ext uri="{BB962C8B-B14F-4D97-AF65-F5344CB8AC3E}">
        <p14:creationId xmlns:p14="http://schemas.microsoft.com/office/powerpoint/2010/main" val="40016505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Exemple </a:t>
            </a:r>
            <a:r>
              <a:rPr lang="fr-FR" dirty="0" smtClean="0"/>
              <a:t>d’utilisation</a:t>
            </a:r>
            <a:endParaRPr lang="fr-FR" dirty="0"/>
          </a:p>
        </p:txBody>
      </p:sp>
      <p:sp>
        <p:nvSpPr>
          <p:cNvPr id="5" name="Espace réservé du texte 4"/>
          <p:cNvSpPr>
            <a:spLocks noGrp="1"/>
          </p:cNvSpPr>
          <p:nvPr>
            <p:ph type="body" idx="1"/>
          </p:nvPr>
        </p:nvSpPr>
        <p:spPr>
          <a:xfrm>
            <a:off x="1097280" y="1558191"/>
            <a:ext cx="4937760" cy="736282"/>
          </a:xfrm>
        </p:spPr>
        <p:txBody>
          <a:bodyPr/>
          <a:lstStyle/>
          <a:p>
            <a:pPr algn="ctr"/>
            <a:r>
              <a:rPr lang="fr-FR" dirty="0"/>
              <a:t>Requête synchrone</a:t>
            </a:r>
          </a:p>
        </p:txBody>
      </p:sp>
      <p:sp>
        <p:nvSpPr>
          <p:cNvPr id="7" name="Espace réservé du texte 6"/>
          <p:cNvSpPr>
            <a:spLocks noGrp="1"/>
          </p:cNvSpPr>
          <p:nvPr>
            <p:ph type="body" sz="quarter" idx="3"/>
          </p:nvPr>
        </p:nvSpPr>
        <p:spPr>
          <a:xfrm>
            <a:off x="6217920" y="1558191"/>
            <a:ext cx="4937760" cy="736282"/>
          </a:xfrm>
        </p:spPr>
        <p:txBody>
          <a:bodyPr/>
          <a:lstStyle/>
          <a:p>
            <a:pPr algn="ctr"/>
            <a:r>
              <a:rPr lang="fr-FR" dirty="0"/>
              <a:t>Requête asynchrone</a:t>
            </a:r>
          </a:p>
        </p:txBody>
      </p:sp>
      <p:pic>
        <p:nvPicPr>
          <p:cNvPr id="12" name="Espace réservé du contenu 11"/>
          <p:cNvPicPr>
            <a:picLocks noGrp="1" noChangeAspect="1"/>
          </p:cNvPicPr>
          <p:nvPr>
            <p:ph sz="quarter" idx="4"/>
          </p:nvPr>
        </p:nvPicPr>
        <p:blipFill>
          <a:blip r:embed="rId2"/>
          <a:stretch>
            <a:fillRect/>
          </a:stretch>
        </p:blipFill>
        <p:spPr>
          <a:xfrm>
            <a:off x="6035041" y="2294472"/>
            <a:ext cx="5936826" cy="3577517"/>
          </a:xfrm>
          <a:prstGeom prst="rect">
            <a:avLst/>
          </a:prstGeom>
        </p:spPr>
      </p:pic>
      <p:pic>
        <p:nvPicPr>
          <p:cNvPr id="11" name="Espace réservé du contenu 10"/>
          <p:cNvPicPr>
            <a:picLocks noGrp="1" noChangeAspect="1"/>
          </p:cNvPicPr>
          <p:nvPr>
            <p:ph sz="half" idx="2"/>
          </p:nvPr>
        </p:nvPicPr>
        <p:blipFill>
          <a:blip r:embed="rId3"/>
          <a:stretch>
            <a:fillRect/>
          </a:stretch>
        </p:blipFill>
        <p:spPr>
          <a:xfrm>
            <a:off x="151584" y="2294472"/>
            <a:ext cx="5781675" cy="3577517"/>
          </a:xfrm>
          <a:prstGeom prst="rect">
            <a:avLst/>
          </a:prstGeom>
        </p:spPr>
      </p:pic>
    </p:spTree>
    <p:extLst>
      <p:ext uri="{BB962C8B-B14F-4D97-AF65-F5344CB8AC3E}">
        <p14:creationId xmlns:p14="http://schemas.microsoft.com/office/powerpoint/2010/main" val="16793000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chor="ctr"/>
          <a:lstStyle/>
          <a:p>
            <a:pPr algn="ctr"/>
            <a:r>
              <a:rPr lang="fr-FR" b="1" dirty="0"/>
              <a:t>Nouvelles Collections</a:t>
            </a:r>
          </a:p>
        </p:txBody>
      </p:sp>
      <p:sp>
        <p:nvSpPr>
          <p:cNvPr id="8" name="Espace réservé du contenu 7"/>
          <p:cNvSpPr>
            <a:spLocks noGrp="1"/>
          </p:cNvSpPr>
          <p:nvPr>
            <p:ph idx="1"/>
          </p:nvPr>
        </p:nvSpPr>
        <p:spPr/>
        <p:txBody>
          <a:bodyPr/>
          <a:lstStyle/>
          <a:p>
            <a:pPr>
              <a:buFont typeface="Wingdings" panose="05000000000000000000" pitchFamily="2" charset="2"/>
              <a:buChar char="Ø"/>
            </a:pPr>
            <a:r>
              <a:rPr lang="fr-FR" dirty="0"/>
              <a:t> Problème avant JDK 9 </a:t>
            </a:r>
            <a:r>
              <a:rPr lang="fr-FR" dirty="0" smtClean="0"/>
              <a:t>:</a:t>
            </a:r>
          </a:p>
          <a:p>
            <a:pPr lvl="1">
              <a:buFont typeface="Wingdings" panose="05000000000000000000" pitchFamily="2" charset="2"/>
              <a:buChar char="Ø"/>
            </a:pPr>
            <a:r>
              <a:rPr lang="fr-FR" dirty="0"/>
              <a:t> Création de collections immuables nécessitait des bibliothèques tierces ou des approches longues</a:t>
            </a:r>
            <a:r>
              <a:rPr lang="fr-FR" dirty="0" smtClean="0"/>
              <a:t>.</a:t>
            </a:r>
          </a:p>
          <a:p>
            <a:pPr>
              <a:buFont typeface="Wingdings" panose="05000000000000000000" pitchFamily="2" charset="2"/>
              <a:buChar char="Ø"/>
            </a:pPr>
            <a:r>
              <a:rPr lang="fr-FR" dirty="0"/>
              <a:t> Nouveautés </a:t>
            </a:r>
            <a:r>
              <a:rPr lang="fr-FR" dirty="0" smtClean="0"/>
              <a:t>:</a:t>
            </a:r>
          </a:p>
          <a:p>
            <a:pPr lvl="1">
              <a:buFont typeface="Wingdings" panose="05000000000000000000" pitchFamily="2" charset="2"/>
              <a:buChar char="Ø"/>
            </a:pPr>
            <a:r>
              <a:rPr lang="fr-FR" dirty="0"/>
              <a:t> Méthodes statiques pour créer des listes, ensembles et </a:t>
            </a:r>
            <a:r>
              <a:rPr lang="fr-FR" dirty="0" err="1"/>
              <a:t>maps</a:t>
            </a:r>
            <a:r>
              <a:rPr lang="fr-FR" dirty="0"/>
              <a:t> immuables</a:t>
            </a:r>
            <a:r>
              <a:rPr lang="fr-FR" dirty="0" smtClean="0"/>
              <a:t>.</a:t>
            </a:r>
          </a:p>
          <a:p>
            <a:pPr>
              <a:buFont typeface="Wingdings" panose="05000000000000000000" pitchFamily="2" charset="2"/>
              <a:buChar char="Ø"/>
            </a:pPr>
            <a:r>
              <a:rPr lang="fr-FR" dirty="0"/>
              <a:t> </a:t>
            </a:r>
            <a:r>
              <a:rPr lang="fr-FR" dirty="0" smtClean="0"/>
              <a:t>Exemple :</a:t>
            </a:r>
          </a:p>
          <a:p>
            <a:pPr lvl="1">
              <a:buFont typeface="Wingdings" panose="05000000000000000000" pitchFamily="2" charset="2"/>
              <a:buChar char="Ø"/>
            </a:pPr>
            <a:r>
              <a:rPr lang="fr-FR" dirty="0"/>
              <a:t> </a:t>
            </a:r>
            <a:r>
              <a:rPr lang="fr-FR" b="1" dirty="0"/>
              <a:t>Listes immuables</a:t>
            </a:r>
            <a:r>
              <a:rPr lang="fr-FR" dirty="0"/>
              <a:t> </a:t>
            </a:r>
            <a:r>
              <a:rPr lang="fr-FR" dirty="0" smtClean="0"/>
              <a:t>:</a:t>
            </a:r>
          </a:p>
          <a:p>
            <a:pPr lvl="1">
              <a:buFont typeface="Wingdings" panose="05000000000000000000" pitchFamily="2" charset="2"/>
              <a:buChar char="Ø"/>
            </a:pPr>
            <a:r>
              <a:rPr lang="fr-FR" dirty="0"/>
              <a:t> </a:t>
            </a:r>
            <a:r>
              <a:rPr lang="fr-FR" b="1" dirty="0"/>
              <a:t>Ensembles immuables</a:t>
            </a:r>
            <a:r>
              <a:rPr lang="fr-FR" dirty="0"/>
              <a:t> </a:t>
            </a:r>
            <a:r>
              <a:rPr lang="fr-FR" dirty="0" smtClean="0"/>
              <a:t>:</a:t>
            </a:r>
          </a:p>
          <a:p>
            <a:pPr lvl="1">
              <a:buFont typeface="Wingdings" panose="05000000000000000000" pitchFamily="2" charset="2"/>
              <a:buChar char="Ø"/>
            </a:pPr>
            <a:r>
              <a:rPr lang="fr-FR" dirty="0"/>
              <a:t> </a:t>
            </a:r>
            <a:r>
              <a:rPr lang="fr-FR" b="1" dirty="0" err="1"/>
              <a:t>Maps</a:t>
            </a:r>
            <a:r>
              <a:rPr lang="fr-FR" b="1" dirty="0"/>
              <a:t> immuables</a:t>
            </a:r>
            <a:r>
              <a:rPr lang="fr-FR" dirty="0"/>
              <a:t> </a:t>
            </a:r>
            <a:r>
              <a:rPr lang="fr-FR" dirty="0" smtClean="0"/>
              <a:t>:</a:t>
            </a:r>
          </a:p>
          <a:p>
            <a:pPr lvl="1">
              <a:buFont typeface="Wingdings" panose="05000000000000000000" pitchFamily="2" charset="2"/>
              <a:buChar char="Ø"/>
            </a:pPr>
            <a:r>
              <a:rPr lang="fr-FR" dirty="0"/>
              <a:t> </a:t>
            </a:r>
            <a:r>
              <a:rPr lang="fr-FR" b="1" dirty="0"/>
              <a:t>Limitation</a:t>
            </a:r>
            <a:r>
              <a:rPr lang="fr-FR" dirty="0"/>
              <a:t> :</a:t>
            </a:r>
          </a:p>
        </p:txBody>
      </p:sp>
      <p:pic>
        <p:nvPicPr>
          <p:cNvPr id="9" name="Image 8"/>
          <p:cNvPicPr>
            <a:picLocks noChangeAspect="1"/>
          </p:cNvPicPr>
          <p:nvPr/>
        </p:nvPicPr>
        <p:blipFill>
          <a:blip r:embed="rId2"/>
          <a:stretch>
            <a:fillRect/>
          </a:stretch>
        </p:blipFill>
        <p:spPr>
          <a:xfrm>
            <a:off x="4598987" y="3719301"/>
            <a:ext cx="4010025" cy="276225"/>
          </a:xfrm>
          <a:prstGeom prst="rect">
            <a:avLst/>
          </a:prstGeom>
        </p:spPr>
      </p:pic>
      <p:pic>
        <p:nvPicPr>
          <p:cNvPr id="10" name="Image 9"/>
          <p:cNvPicPr>
            <a:picLocks noChangeAspect="1"/>
          </p:cNvPicPr>
          <p:nvPr/>
        </p:nvPicPr>
        <p:blipFill>
          <a:blip r:embed="rId3"/>
          <a:stretch>
            <a:fillRect/>
          </a:stretch>
        </p:blipFill>
        <p:spPr>
          <a:xfrm>
            <a:off x="4598987" y="4103899"/>
            <a:ext cx="4010025" cy="444187"/>
          </a:xfrm>
          <a:prstGeom prst="rect">
            <a:avLst/>
          </a:prstGeom>
        </p:spPr>
      </p:pic>
      <p:pic>
        <p:nvPicPr>
          <p:cNvPr id="11" name="Image 10"/>
          <p:cNvPicPr>
            <a:picLocks noChangeAspect="1"/>
          </p:cNvPicPr>
          <p:nvPr/>
        </p:nvPicPr>
        <p:blipFill>
          <a:blip r:embed="rId4"/>
          <a:stretch>
            <a:fillRect/>
          </a:stretch>
        </p:blipFill>
        <p:spPr>
          <a:xfrm>
            <a:off x="4598987" y="4762186"/>
            <a:ext cx="4057650" cy="228600"/>
          </a:xfrm>
          <a:prstGeom prst="rect">
            <a:avLst/>
          </a:prstGeom>
        </p:spPr>
      </p:pic>
      <p:pic>
        <p:nvPicPr>
          <p:cNvPr id="12" name="Image 11"/>
          <p:cNvPicPr>
            <a:picLocks noChangeAspect="1"/>
          </p:cNvPicPr>
          <p:nvPr/>
        </p:nvPicPr>
        <p:blipFill>
          <a:blip r:embed="rId5"/>
          <a:stretch>
            <a:fillRect/>
          </a:stretch>
        </p:blipFill>
        <p:spPr>
          <a:xfrm>
            <a:off x="4907280" y="5314746"/>
            <a:ext cx="2438400" cy="390525"/>
          </a:xfrm>
          <a:prstGeom prst="rect">
            <a:avLst/>
          </a:prstGeom>
        </p:spPr>
      </p:pic>
    </p:spTree>
    <p:extLst>
      <p:ext uri="{BB962C8B-B14F-4D97-AF65-F5344CB8AC3E}">
        <p14:creationId xmlns:p14="http://schemas.microsoft.com/office/powerpoint/2010/main" val="31802536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en-US" sz="4000" b="1" dirty="0"/>
              <a:t>Les Reactive Streams et Streams </a:t>
            </a:r>
            <a:r>
              <a:rPr lang="en-US" sz="4000" b="1" dirty="0" err="1"/>
              <a:t>Asynchrones</a:t>
            </a:r>
            <a:endParaRPr lang="fr-FR" sz="4000" b="1" dirty="0"/>
          </a:p>
        </p:txBody>
      </p:sp>
      <p:sp>
        <p:nvSpPr>
          <p:cNvPr id="3" name="Espace réservé du contenu 2"/>
          <p:cNvSpPr>
            <a:spLocks noGrp="1"/>
          </p:cNvSpPr>
          <p:nvPr>
            <p:ph idx="1"/>
          </p:nvPr>
        </p:nvSpPr>
        <p:spPr>
          <a:xfrm>
            <a:off x="1097280" y="1679787"/>
            <a:ext cx="10058400" cy="4023360"/>
          </a:xfrm>
        </p:spPr>
        <p:txBody>
          <a:bodyPr>
            <a:noAutofit/>
          </a:bodyPr>
          <a:lstStyle/>
          <a:p>
            <a:pPr algn="just">
              <a:lnSpc>
                <a:spcPct val="150000"/>
              </a:lnSpc>
              <a:buFont typeface="Wingdings" panose="05000000000000000000" pitchFamily="2" charset="2"/>
              <a:buChar char="Ø"/>
            </a:pPr>
            <a:r>
              <a:rPr lang="fr-FR" sz="2800" dirty="0"/>
              <a:t> Définition </a:t>
            </a:r>
            <a:r>
              <a:rPr lang="fr-FR" sz="2800" dirty="0" smtClean="0"/>
              <a:t>:</a:t>
            </a:r>
          </a:p>
          <a:p>
            <a:pPr lvl="1" algn="just">
              <a:lnSpc>
                <a:spcPct val="150000"/>
              </a:lnSpc>
              <a:buFont typeface="Wingdings" panose="05000000000000000000" pitchFamily="2" charset="2"/>
              <a:buChar char="Ø"/>
            </a:pPr>
            <a:r>
              <a:rPr lang="fr-FR" sz="2400" dirty="0"/>
              <a:t> Les </a:t>
            </a:r>
            <a:r>
              <a:rPr lang="fr-FR" sz="2400" b="1" dirty="0" err="1"/>
              <a:t>Reactive</a:t>
            </a:r>
            <a:r>
              <a:rPr lang="fr-FR" sz="2400" b="1" dirty="0"/>
              <a:t> </a:t>
            </a:r>
            <a:r>
              <a:rPr lang="fr-FR" sz="2400" b="1" dirty="0" err="1"/>
              <a:t>Streams</a:t>
            </a:r>
            <a:r>
              <a:rPr lang="fr-FR" sz="2400" b="1" dirty="0"/>
              <a:t> </a:t>
            </a:r>
            <a:r>
              <a:rPr lang="fr-FR" sz="2400" dirty="0"/>
              <a:t>permettent de traiter les flux de données asynchrones et de gérer les </a:t>
            </a:r>
            <a:r>
              <a:rPr lang="fr-FR" sz="2400" b="1" dirty="0" err="1"/>
              <a:t>backpressure</a:t>
            </a:r>
            <a:r>
              <a:rPr lang="fr-FR" sz="2400" dirty="0"/>
              <a:t> (flux trop rapides pour un consommateur</a:t>
            </a:r>
            <a:r>
              <a:rPr lang="fr-FR" sz="2400" dirty="0" smtClean="0"/>
              <a:t>).</a:t>
            </a:r>
          </a:p>
          <a:p>
            <a:pPr algn="just">
              <a:lnSpc>
                <a:spcPct val="150000"/>
              </a:lnSpc>
              <a:buFont typeface="Wingdings" panose="05000000000000000000" pitchFamily="2" charset="2"/>
              <a:buChar char="Ø"/>
            </a:pPr>
            <a:r>
              <a:rPr lang="fr-FR" sz="2800" dirty="0"/>
              <a:t> Composants principaux </a:t>
            </a:r>
            <a:r>
              <a:rPr lang="fr-FR" sz="2800" dirty="0" smtClean="0"/>
              <a:t>:</a:t>
            </a:r>
          </a:p>
          <a:p>
            <a:pPr lvl="1" algn="just">
              <a:lnSpc>
                <a:spcPct val="150000"/>
              </a:lnSpc>
              <a:buFont typeface="Wingdings" panose="05000000000000000000" pitchFamily="2" charset="2"/>
              <a:buChar char="Ø"/>
            </a:pPr>
            <a:r>
              <a:rPr lang="fr-FR" sz="2400" dirty="0"/>
              <a:t> </a:t>
            </a:r>
            <a:r>
              <a:rPr lang="fr-FR" sz="2400" b="1" dirty="0"/>
              <a:t>Publisher</a:t>
            </a:r>
            <a:r>
              <a:rPr lang="fr-FR" sz="2400" dirty="0"/>
              <a:t> : Source des données</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err="1"/>
              <a:t>Subscriber</a:t>
            </a:r>
            <a:r>
              <a:rPr lang="fr-FR" sz="2400" dirty="0"/>
              <a:t> : Consommateur des données</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err="1"/>
              <a:t>Subscription</a:t>
            </a:r>
            <a:r>
              <a:rPr lang="fr-FR" sz="2400" dirty="0"/>
              <a:t> : Contrôle le flux (demande ou annule des données).</a:t>
            </a:r>
          </a:p>
        </p:txBody>
      </p:sp>
    </p:spTree>
    <p:extLst>
      <p:ext uri="{BB962C8B-B14F-4D97-AF65-F5344CB8AC3E}">
        <p14:creationId xmlns:p14="http://schemas.microsoft.com/office/powerpoint/2010/main" val="2077526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Exemple avec Java Flow API </a:t>
            </a:r>
            <a:r>
              <a:rPr lang="fr-FR" b="1" dirty="0" smtClean="0"/>
              <a:t/>
            </a:r>
            <a:br>
              <a:rPr lang="fr-FR" b="1" dirty="0" smtClean="0"/>
            </a:br>
            <a:r>
              <a:rPr lang="fr-FR" b="1" dirty="0" smtClean="0"/>
              <a:t>(</a:t>
            </a:r>
            <a:r>
              <a:rPr lang="fr-FR" b="1" dirty="0"/>
              <a:t>introduite dans JDK 9) </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Permettre une communication </a:t>
            </a:r>
            <a:r>
              <a:rPr lang="fr-FR" sz="2800" b="1" dirty="0"/>
              <a:t>non bloquante</a:t>
            </a:r>
            <a:r>
              <a:rPr lang="fr-FR" sz="2800" dirty="0"/>
              <a:t>, </a:t>
            </a:r>
            <a:r>
              <a:rPr lang="fr-FR" sz="2800" b="1" dirty="0"/>
              <a:t>asynchrone</a:t>
            </a:r>
            <a:r>
              <a:rPr lang="fr-FR" sz="2800" dirty="0"/>
              <a:t> et </a:t>
            </a:r>
            <a:r>
              <a:rPr lang="fr-FR" sz="2800" b="1" dirty="0"/>
              <a:t>contrôlée</a:t>
            </a:r>
            <a:r>
              <a:rPr lang="fr-FR" sz="2800" dirty="0"/>
              <a:t> entre producteurs et consommateurs de données</a:t>
            </a:r>
            <a:r>
              <a:rPr lang="fr-FR" sz="2800" dirty="0" smtClean="0"/>
              <a:t>.</a:t>
            </a:r>
          </a:p>
          <a:p>
            <a:pPr algn="just">
              <a:lnSpc>
                <a:spcPct val="150000"/>
              </a:lnSpc>
              <a:buFont typeface="Wingdings" panose="05000000000000000000" pitchFamily="2" charset="2"/>
              <a:buChar char="Ø"/>
            </a:pPr>
            <a:endParaRPr lang="fr-FR" sz="2800" dirty="0"/>
          </a:p>
        </p:txBody>
      </p:sp>
      <p:pic>
        <p:nvPicPr>
          <p:cNvPr id="6" name="Image 5"/>
          <p:cNvPicPr>
            <a:picLocks noChangeAspect="1"/>
          </p:cNvPicPr>
          <p:nvPr/>
        </p:nvPicPr>
        <p:blipFill>
          <a:blip r:embed="rId2"/>
          <a:stretch>
            <a:fillRect/>
          </a:stretch>
        </p:blipFill>
        <p:spPr>
          <a:xfrm>
            <a:off x="1233889" y="3505116"/>
            <a:ext cx="9921791" cy="2620262"/>
          </a:xfrm>
          <a:prstGeom prst="rect">
            <a:avLst/>
          </a:prstGeom>
        </p:spPr>
      </p:pic>
    </p:spTree>
    <p:extLst>
      <p:ext uri="{BB962C8B-B14F-4D97-AF65-F5344CB8AC3E}">
        <p14:creationId xmlns:p14="http://schemas.microsoft.com/office/powerpoint/2010/main" val="39404989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Pourquoi l'utiliser ?</a:t>
            </a:r>
          </a:p>
        </p:txBody>
      </p:sp>
      <p:sp>
        <p:nvSpPr>
          <p:cNvPr id="3" name="Espace réservé du contenu 2"/>
          <p:cNvSpPr>
            <a:spLocks noGrp="1"/>
          </p:cNvSpPr>
          <p:nvPr>
            <p:ph idx="1"/>
          </p:nvPr>
        </p:nvSpPr>
        <p:spPr/>
        <p:txBody>
          <a:bodyPr>
            <a:noAutofit/>
          </a:bodyPr>
          <a:lstStyle/>
          <a:p>
            <a:pPr algn="just">
              <a:lnSpc>
                <a:spcPct val="100000"/>
              </a:lnSpc>
              <a:buFont typeface="Wingdings" panose="05000000000000000000" pitchFamily="2" charset="2"/>
              <a:buChar char="Ø"/>
            </a:pPr>
            <a:r>
              <a:rPr lang="fr-FR" sz="2400" dirty="0"/>
              <a:t> </a:t>
            </a:r>
            <a:r>
              <a:rPr lang="fr-FR" sz="2400" b="1" dirty="0" smtClean="0"/>
              <a:t>Asynchronisme :</a:t>
            </a:r>
          </a:p>
          <a:p>
            <a:pPr lvl="1" algn="just">
              <a:lnSpc>
                <a:spcPct val="100000"/>
              </a:lnSpc>
              <a:buFont typeface="Wingdings" panose="05000000000000000000" pitchFamily="2" charset="2"/>
              <a:buChar char="Ø"/>
            </a:pPr>
            <a:r>
              <a:rPr lang="fr-FR" sz="2000" dirty="0"/>
              <a:t> L’envoi et la réception se font de manière non bloquante (comme dans les architectures réactives</a:t>
            </a:r>
            <a:r>
              <a:rPr lang="fr-FR" sz="2000" dirty="0" smtClean="0"/>
              <a:t>).</a:t>
            </a:r>
          </a:p>
          <a:p>
            <a:pPr lvl="1" algn="just">
              <a:lnSpc>
                <a:spcPct val="100000"/>
              </a:lnSpc>
              <a:buFont typeface="Wingdings" panose="05000000000000000000" pitchFamily="2" charset="2"/>
              <a:buChar char="Ø"/>
            </a:pPr>
            <a:r>
              <a:rPr lang="fr-FR" sz="2000" dirty="0"/>
              <a:t> </a:t>
            </a:r>
            <a:r>
              <a:rPr lang="fr-FR" sz="2000" dirty="0" smtClean="0"/>
              <a:t>Le </a:t>
            </a:r>
            <a:r>
              <a:rPr lang="fr-FR" sz="2000" dirty="0" err="1"/>
              <a:t>Subscriber</a:t>
            </a:r>
            <a:r>
              <a:rPr lang="fr-FR" sz="2000" dirty="0"/>
              <a:t> peut gérer son rythme de consommation</a:t>
            </a:r>
            <a:r>
              <a:rPr lang="fr-FR" sz="2000" dirty="0" smtClean="0"/>
              <a:t>.</a:t>
            </a:r>
          </a:p>
          <a:p>
            <a:pPr algn="just">
              <a:lnSpc>
                <a:spcPct val="100000"/>
              </a:lnSpc>
              <a:buFont typeface="Wingdings" panose="05000000000000000000" pitchFamily="2" charset="2"/>
              <a:buChar char="Ø"/>
            </a:pPr>
            <a:r>
              <a:rPr lang="fr-FR" sz="2400" b="1" dirty="0" smtClean="0"/>
              <a:t> </a:t>
            </a:r>
            <a:r>
              <a:rPr lang="fr-FR" sz="2400" b="1" dirty="0" err="1" smtClean="0"/>
              <a:t>Backpressure</a:t>
            </a:r>
            <a:r>
              <a:rPr lang="fr-FR" sz="2400" dirty="0" smtClean="0"/>
              <a:t> :</a:t>
            </a:r>
          </a:p>
          <a:p>
            <a:pPr lvl="1" algn="just">
              <a:lnSpc>
                <a:spcPct val="100000"/>
              </a:lnSpc>
              <a:buFont typeface="Wingdings" panose="05000000000000000000" pitchFamily="2" charset="2"/>
              <a:buChar char="Ø"/>
            </a:pPr>
            <a:r>
              <a:rPr lang="fr-FR" sz="2000" dirty="0"/>
              <a:t> Le </a:t>
            </a:r>
            <a:r>
              <a:rPr lang="fr-FR" sz="2000" dirty="0" err="1"/>
              <a:t>Subscriber</a:t>
            </a:r>
            <a:r>
              <a:rPr lang="fr-FR" sz="2000" dirty="0"/>
              <a:t> contrôle le flux de données : il appelle </a:t>
            </a:r>
            <a:r>
              <a:rPr lang="fr-FR" sz="2000" dirty="0" err="1"/>
              <a:t>subscription.request</a:t>
            </a:r>
            <a:r>
              <a:rPr lang="fr-FR" sz="2000" dirty="0"/>
              <a:t>(n) pour dire combien d’éléments il veut</a:t>
            </a:r>
            <a:r>
              <a:rPr lang="fr-FR" sz="2000" dirty="0" smtClean="0"/>
              <a:t>.</a:t>
            </a:r>
          </a:p>
          <a:p>
            <a:pPr lvl="1" algn="just">
              <a:lnSpc>
                <a:spcPct val="100000"/>
              </a:lnSpc>
              <a:buFont typeface="Wingdings" panose="05000000000000000000" pitchFamily="2" charset="2"/>
              <a:buChar char="Ø"/>
            </a:pPr>
            <a:r>
              <a:rPr lang="fr-FR" sz="2000" dirty="0"/>
              <a:t> </a:t>
            </a:r>
            <a:r>
              <a:rPr lang="fr-FR" sz="2000" dirty="0" smtClean="0"/>
              <a:t>Cela </a:t>
            </a:r>
            <a:r>
              <a:rPr lang="fr-FR" sz="2000" dirty="0"/>
              <a:t>évite la saturation (ex. : si le producteur est trop rapide</a:t>
            </a:r>
            <a:r>
              <a:rPr lang="fr-FR" sz="2000" dirty="0" smtClean="0"/>
              <a:t>).</a:t>
            </a:r>
          </a:p>
          <a:p>
            <a:pPr algn="just">
              <a:lnSpc>
                <a:spcPct val="100000"/>
              </a:lnSpc>
              <a:buFont typeface="Wingdings" panose="05000000000000000000" pitchFamily="2" charset="2"/>
              <a:buChar char="Ø"/>
            </a:pPr>
            <a:r>
              <a:rPr lang="fr-FR" sz="2400" b="1" dirty="0"/>
              <a:t>Réactivité + performances</a:t>
            </a:r>
            <a:r>
              <a:rPr lang="fr-FR" sz="2400" dirty="0"/>
              <a:t> </a:t>
            </a:r>
            <a:r>
              <a:rPr lang="fr-FR" sz="2400" dirty="0" smtClean="0"/>
              <a:t>:</a:t>
            </a:r>
          </a:p>
          <a:p>
            <a:pPr lvl="1" algn="just">
              <a:lnSpc>
                <a:spcPct val="100000"/>
              </a:lnSpc>
              <a:buFont typeface="Wingdings" panose="05000000000000000000" pitchFamily="2" charset="2"/>
              <a:buChar char="Ø"/>
            </a:pPr>
            <a:r>
              <a:rPr lang="fr-FR" sz="2000" dirty="0"/>
              <a:t> Utile dans les applications temps réel, réseau, I/O, </a:t>
            </a:r>
            <a:r>
              <a:rPr lang="fr-FR" sz="2000" dirty="0" err="1"/>
              <a:t>microservices</a:t>
            </a:r>
            <a:r>
              <a:rPr lang="fr-FR" sz="2000" dirty="0"/>
              <a:t>, etc</a:t>
            </a:r>
            <a:r>
              <a:rPr lang="fr-FR" sz="2000" dirty="0" smtClean="0"/>
              <a:t>.</a:t>
            </a:r>
          </a:p>
          <a:p>
            <a:pPr lvl="1" algn="just">
              <a:lnSpc>
                <a:spcPct val="100000"/>
              </a:lnSpc>
              <a:buFont typeface="Wingdings" panose="05000000000000000000" pitchFamily="2" charset="2"/>
              <a:buChar char="Ø"/>
            </a:pPr>
            <a:r>
              <a:rPr lang="fr-FR" sz="2000" dirty="0" smtClean="0"/>
              <a:t>Meilleure </a:t>
            </a:r>
            <a:r>
              <a:rPr lang="fr-FR" sz="2000" dirty="0" err="1"/>
              <a:t>scalabilité</a:t>
            </a:r>
            <a:r>
              <a:rPr lang="fr-FR" sz="2000" dirty="0"/>
              <a:t>.</a:t>
            </a:r>
          </a:p>
        </p:txBody>
      </p:sp>
    </p:spTree>
    <p:extLst>
      <p:ext uri="{BB962C8B-B14F-4D97-AF65-F5344CB8AC3E}">
        <p14:creationId xmlns:p14="http://schemas.microsoft.com/office/powerpoint/2010/main" val="2322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wipe(down)">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d’usage concrets</a:t>
            </a:r>
          </a:p>
        </p:txBody>
      </p:sp>
      <p:sp>
        <p:nvSpPr>
          <p:cNvPr id="3" name="Espace réservé du contenu 2"/>
          <p:cNvSpPr>
            <a:spLocks noGrp="1"/>
          </p:cNvSpPr>
          <p:nvPr>
            <p:ph idx="1"/>
          </p:nvPr>
        </p:nvSpPr>
        <p:spPr/>
        <p:txBody>
          <a:bodyPr>
            <a:normAutofit fontScale="92500" lnSpcReduction="10000"/>
          </a:bodyPr>
          <a:lstStyle/>
          <a:p>
            <a:pPr algn="just">
              <a:lnSpc>
                <a:spcPct val="150000"/>
              </a:lnSpc>
              <a:buFont typeface="Wingdings" panose="05000000000000000000" pitchFamily="2" charset="2"/>
              <a:buChar char="Ø"/>
            </a:pPr>
            <a:r>
              <a:rPr lang="fr-FR" sz="3200" dirty="0"/>
              <a:t> Streaming de données en direct (logs, messages, etc</a:t>
            </a:r>
            <a:r>
              <a:rPr lang="fr-FR" sz="3200" dirty="0" smtClean="0"/>
              <a:t>.)</a:t>
            </a:r>
          </a:p>
          <a:p>
            <a:pPr>
              <a:lnSpc>
                <a:spcPct val="150000"/>
              </a:lnSpc>
              <a:buFont typeface="Wingdings" panose="05000000000000000000" pitchFamily="2" charset="2"/>
              <a:buChar char="Ø"/>
            </a:pPr>
            <a:r>
              <a:rPr lang="fr-FR" sz="3200" dirty="0" smtClean="0"/>
              <a:t>Interfaces </a:t>
            </a:r>
            <a:r>
              <a:rPr lang="fr-FR" sz="3200" dirty="0"/>
              <a:t>réseau non </a:t>
            </a:r>
            <a:r>
              <a:rPr lang="fr-FR" sz="3200" dirty="0" smtClean="0"/>
              <a:t>bloquantes</a:t>
            </a:r>
          </a:p>
          <a:p>
            <a:pPr>
              <a:lnSpc>
                <a:spcPct val="150000"/>
              </a:lnSpc>
              <a:buFont typeface="Wingdings" panose="05000000000000000000" pitchFamily="2" charset="2"/>
              <a:buChar char="Ø"/>
            </a:pPr>
            <a:r>
              <a:rPr lang="fr-FR" sz="3200" dirty="0" smtClean="0"/>
              <a:t>Pipelines </a:t>
            </a:r>
            <a:r>
              <a:rPr lang="fr-FR" sz="3200" dirty="0"/>
              <a:t>de traitement de données (ex : validation, filtrage, transformation</a:t>
            </a:r>
            <a:r>
              <a:rPr lang="fr-FR" sz="3200" dirty="0" smtClean="0"/>
              <a:t>)</a:t>
            </a:r>
          </a:p>
          <a:p>
            <a:pPr>
              <a:lnSpc>
                <a:spcPct val="150000"/>
              </a:lnSpc>
              <a:buFont typeface="Wingdings" panose="05000000000000000000" pitchFamily="2" charset="2"/>
              <a:buChar char="Ø"/>
            </a:pPr>
            <a:r>
              <a:rPr lang="fr-FR" sz="3200" dirty="0" smtClean="0"/>
              <a:t>Mécanisme </a:t>
            </a:r>
            <a:r>
              <a:rPr lang="fr-FR" sz="3200" dirty="0"/>
              <a:t>de type Observer amélioré avec gestion de charge</a:t>
            </a:r>
          </a:p>
        </p:txBody>
      </p:sp>
    </p:spTree>
    <p:extLst>
      <p:ext uri="{BB962C8B-B14F-4D97-AF65-F5344CB8AC3E}">
        <p14:creationId xmlns:p14="http://schemas.microsoft.com/office/powerpoint/2010/main" val="47167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Résumé</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553378" y="2743200"/>
            <a:ext cx="8791460" cy="23135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959880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Méthodes Privées dans les Interfaces</a:t>
            </a:r>
          </a:p>
        </p:txBody>
      </p:sp>
      <p:sp>
        <p:nvSpPr>
          <p:cNvPr id="3" name="Espace réservé du contenu 2"/>
          <p:cNvSpPr>
            <a:spLocks noGrp="1"/>
          </p:cNvSpPr>
          <p:nvPr>
            <p:ph idx="1"/>
          </p:nvPr>
        </p:nvSpPr>
        <p:spPr>
          <a:xfrm>
            <a:off x="1097280" y="1608668"/>
            <a:ext cx="10058400" cy="4023360"/>
          </a:xfrm>
        </p:spPr>
        <p:txBody>
          <a:bodyPr>
            <a:noAutofit/>
          </a:bodyPr>
          <a:lstStyle/>
          <a:p>
            <a:pPr algn="just">
              <a:lnSpc>
                <a:spcPct val="150000"/>
              </a:lnSpc>
              <a:buFont typeface="Wingdings" panose="05000000000000000000" pitchFamily="2" charset="2"/>
              <a:buChar char="Ø"/>
            </a:pPr>
            <a:r>
              <a:rPr lang="fr-FR" sz="2800" dirty="0"/>
              <a:t> Problème avant JDK 9 </a:t>
            </a:r>
            <a:r>
              <a:rPr lang="fr-FR" sz="2800" dirty="0" smtClean="0"/>
              <a:t>:</a:t>
            </a:r>
          </a:p>
          <a:p>
            <a:pPr lvl="1" algn="just">
              <a:lnSpc>
                <a:spcPct val="150000"/>
              </a:lnSpc>
              <a:buFont typeface="Wingdings" panose="05000000000000000000" pitchFamily="2" charset="2"/>
              <a:buChar char="Ø"/>
            </a:pPr>
            <a:r>
              <a:rPr lang="fr-FR" sz="2400" dirty="0"/>
              <a:t> Les interfaces ne pouvaient contenir que des méthodes abstraites, des méthodes par défaut ou des méthodes statiques</a:t>
            </a:r>
            <a:r>
              <a:rPr lang="fr-FR" sz="2400" dirty="0" smtClean="0"/>
              <a:t>.</a:t>
            </a:r>
          </a:p>
          <a:p>
            <a:pPr lvl="1" algn="just">
              <a:lnSpc>
                <a:spcPct val="150000"/>
              </a:lnSpc>
              <a:buFont typeface="Wingdings" panose="05000000000000000000" pitchFamily="2" charset="2"/>
              <a:buChar char="Ø"/>
            </a:pPr>
            <a:r>
              <a:rPr lang="fr-FR" sz="2400" dirty="0"/>
              <a:t> La duplication de code était fréquente dans les méthodes par défaut</a:t>
            </a:r>
            <a:r>
              <a:rPr lang="fr-FR" sz="2400" dirty="0" smtClean="0"/>
              <a:t>.</a:t>
            </a:r>
          </a:p>
          <a:p>
            <a:pPr algn="just">
              <a:lnSpc>
                <a:spcPct val="150000"/>
              </a:lnSpc>
              <a:buFont typeface="Wingdings" panose="05000000000000000000" pitchFamily="2" charset="2"/>
              <a:buChar char="Ø"/>
            </a:pPr>
            <a:r>
              <a:rPr lang="fr-FR" sz="2800" dirty="0"/>
              <a:t> Solution dans JDK 9 </a:t>
            </a:r>
            <a:r>
              <a:rPr lang="fr-FR" sz="2800" dirty="0" smtClean="0"/>
              <a:t>:</a:t>
            </a:r>
          </a:p>
          <a:p>
            <a:pPr algn="just">
              <a:lnSpc>
                <a:spcPct val="150000"/>
              </a:lnSpc>
              <a:buFont typeface="Wingdings" panose="05000000000000000000" pitchFamily="2" charset="2"/>
              <a:buChar char="Ø"/>
            </a:pPr>
            <a:r>
              <a:rPr lang="fr-FR" sz="2800" dirty="0"/>
              <a:t> Les méthodes privées permettent d’extraire du code commun pour le réutiliser.</a:t>
            </a:r>
          </a:p>
        </p:txBody>
      </p:sp>
    </p:spTree>
    <p:extLst>
      <p:ext uri="{BB962C8B-B14F-4D97-AF65-F5344CB8AC3E}">
        <p14:creationId xmlns:p14="http://schemas.microsoft.com/office/powerpoint/2010/main" val="14095094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a:t>
            </a:r>
            <a:endParaRPr lang="fr-FR" dirty="0"/>
          </a:p>
        </p:txBody>
      </p:sp>
      <p:pic>
        <p:nvPicPr>
          <p:cNvPr id="4" name="Espace réservé du contenu 3"/>
          <p:cNvPicPr>
            <a:picLocks noGrp="1" noChangeAspect="1"/>
          </p:cNvPicPr>
          <p:nvPr>
            <p:ph idx="1"/>
          </p:nvPr>
        </p:nvPicPr>
        <p:blipFill>
          <a:blip r:embed="rId2"/>
          <a:stretch>
            <a:fillRect/>
          </a:stretch>
        </p:blipFill>
        <p:spPr>
          <a:xfrm>
            <a:off x="2472267" y="2116667"/>
            <a:ext cx="7095066" cy="3691465"/>
          </a:xfrm>
          <a:prstGeom prst="rect">
            <a:avLst/>
          </a:prstGeom>
        </p:spPr>
      </p:pic>
    </p:spTree>
    <p:extLst>
      <p:ext uri="{BB962C8B-B14F-4D97-AF65-F5344CB8AC3E}">
        <p14:creationId xmlns:p14="http://schemas.microsoft.com/office/powerpoint/2010/main" val="14810746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Conclusion</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Les nouveautés de la JDK 9 visent à améliorer la productivité et la lisibilité du code</a:t>
            </a:r>
            <a:r>
              <a:rPr lang="fr-FR" sz="3600" dirty="0" smtClean="0"/>
              <a:t>.</a:t>
            </a:r>
          </a:p>
          <a:p>
            <a:pPr algn="just">
              <a:lnSpc>
                <a:spcPct val="150000"/>
              </a:lnSpc>
              <a:buFont typeface="Wingdings" panose="05000000000000000000" pitchFamily="2" charset="2"/>
              <a:buChar char="Ø"/>
            </a:pPr>
            <a:r>
              <a:rPr lang="fr-FR" sz="3600" dirty="0"/>
              <a:t> Ces fonctionnalités renforcent Java en tant que langage moderne</a:t>
            </a:r>
            <a:r>
              <a:rPr lang="fr-FR" sz="3600" dirty="0" smtClean="0"/>
              <a:t>.</a:t>
            </a:r>
          </a:p>
          <a:p>
            <a:pPr algn="just">
              <a:lnSpc>
                <a:spcPct val="150000"/>
              </a:lnSpc>
              <a:buFont typeface="Wingdings" panose="05000000000000000000" pitchFamily="2" charset="2"/>
              <a:buChar char="Ø"/>
            </a:pPr>
            <a:endParaRPr lang="fr-FR" sz="3600" dirty="0"/>
          </a:p>
        </p:txBody>
      </p:sp>
    </p:spTree>
    <p:extLst>
      <p:ext uri="{BB962C8B-B14F-4D97-AF65-F5344CB8AC3E}">
        <p14:creationId xmlns:p14="http://schemas.microsoft.com/office/powerpoint/2010/main" val="18829976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Atelier </a:t>
            </a:r>
            <a:r>
              <a:rPr lang="fr-FR" b="1" dirty="0"/>
              <a:t>Utilisation des </a:t>
            </a:r>
            <a:r>
              <a:rPr lang="fr-FR" b="1" dirty="0" err="1"/>
              <a:t>Reactive</a:t>
            </a:r>
            <a:r>
              <a:rPr lang="fr-FR" b="1" dirty="0"/>
              <a:t> </a:t>
            </a:r>
            <a:r>
              <a:rPr lang="fr-FR" b="1" dirty="0" err="1" smtClean="0"/>
              <a:t>Streams</a:t>
            </a:r>
            <a:r>
              <a:rPr lang="fr-FR" b="1" dirty="0" smtClean="0"/>
              <a:t/>
            </a:r>
            <a:br>
              <a:rPr lang="fr-FR" b="1" dirty="0" smtClean="0"/>
            </a:br>
            <a:r>
              <a:rPr lang="fr-FR" b="1" dirty="0"/>
              <a:t>Mono</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a:t>
            </a:r>
            <a:r>
              <a:rPr lang="fr-FR" sz="3200" dirty="0" smtClean="0"/>
              <a:t>Objectif :</a:t>
            </a:r>
          </a:p>
          <a:p>
            <a:pPr lvl="1" algn="just">
              <a:lnSpc>
                <a:spcPct val="150000"/>
              </a:lnSpc>
              <a:buFont typeface="Wingdings" panose="05000000000000000000" pitchFamily="2" charset="2"/>
              <a:buChar char="Ø"/>
            </a:pPr>
            <a:r>
              <a:rPr lang="fr-FR" sz="2800" dirty="0"/>
              <a:t> Comprendre les concepts de </a:t>
            </a:r>
            <a:r>
              <a:rPr lang="fr-FR" sz="2800" b="1" dirty="0"/>
              <a:t>Publisher</a:t>
            </a:r>
            <a:r>
              <a:rPr lang="fr-FR" sz="2800" dirty="0"/>
              <a:t>, </a:t>
            </a:r>
            <a:r>
              <a:rPr lang="fr-FR" sz="2800" b="1" dirty="0" err="1"/>
              <a:t>Subscriber</a:t>
            </a:r>
            <a:r>
              <a:rPr lang="fr-FR" sz="2800" dirty="0"/>
              <a:t>, </a:t>
            </a:r>
            <a:r>
              <a:rPr lang="fr-FR" sz="2800" b="1" dirty="0" err="1" smtClean="0"/>
              <a:t>Subscription</a:t>
            </a:r>
            <a:endParaRPr lang="fr-FR" sz="2800" b="1" dirty="0" smtClean="0"/>
          </a:p>
          <a:p>
            <a:pPr lvl="1" algn="just">
              <a:lnSpc>
                <a:spcPct val="150000"/>
              </a:lnSpc>
              <a:buFont typeface="Wingdings" panose="05000000000000000000" pitchFamily="2" charset="2"/>
              <a:buChar char="Ø"/>
            </a:pPr>
            <a:r>
              <a:rPr lang="fr-FR" sz="2800" dirty="0" smtClean="0"/>
              <a:t>Implémenter </a:t>
            </a:r>
            <a:r>
              <a:rPr lang="fr-FR" sz="2800" dirty="0"/>
              <a:t>un flux </a:t>
            </a:r>
            <a:r>
              <a:rPr lang="fr-FR" sz="2800" b="1" dirty="0"/>
              <a:t>Mono-</a:t>
            </a:r>
            <a:r>
              <a:rPr lang="fr-FR" sz="2800" b="1" dirty="0" err="1"/>
              <a:t>like</a:t>
            </a:r>
            <a:r>
              <a:rPr lang="fr-FR" sz="2800" dirty="0"/>
              <a:t> (un seul élément émis</a:t>
            </a:r>
            <a:r>
              <a:rPr lang="fr-FR" sz="2800" dirty="0" smtClean="0"/>
              <a:t>)</a:t>
            </a:r>
          </a:p>
          <a:p>
            <a:pPr lvl="1" algn="just">
              <a:lnSpc>
                <a:spcPct val="150000"/>
              </a:lnSpc>
              <a:buFont typeface="Wingdings" panose="05000000000000000000" pitchFamily="2" charset="2"/>
              <a:buChar char="Ø"/>
            </a:pPr>
            <a:r>
              <a:rPr lang="fr-FR" sz="2800" dirty="0" smtClean="0"/>
              <a:t>Gérer </a:t>
            </a:r>
            <a:r>
              <a:rPr lang="fr-FR" sz="2800" dirty="0"/>
              <a:t>le flux de contrôle (</a:t>
            </a:r>
            <a:r>
              <a:rPr lang="fr-FR" sz="2800" b="1" dirty="0" err="1"/>
              <a:t>backpressure</a:t>
            </a:r>
            <a:r>
              <a:rPr lang="fr-FR" sz="2800" dirty="0"/>
              <a:t>)</a:t>
            </a:r>
          </a:p>
        </p:txBody>
      </p:sp>
    </p:spTree>
    <p:extLst>
      <p:ext uri="{BB962C8B-B14F-4D97-AF65-F5344CB8AC3E}">
        <p14:creationId xmlns:p14="http://schemas.microsoft.com/office/powerpoint/2010/main" val="23331124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Mise en place d’un Publisher/</a:t>
            </a:r>
            <a:r>
              <a:rPr lang="fr-FR" sz="4000" b="1" dirty="0" err="1"/>
              <a:t>Subscriber</a:t>
            </a:r>
            <a:r>
              <a:rPr lang="fr-FR" sz="4000" b="1" dirty="0"/>
              <a:t> basique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Étapes </a:t>
            </a:r>
            <a:r>
              <a:rPr lang="fr-FR" sz="3200" dirty="0" smtClean="0"/>
              <a:t>:</a:t>
            </a:r>
          </a:p>
          <a:p>
            <a:pPr marL="544068" lvl="1" indent="-342900" algn="just">
              <a:lnSpc>
                <a:spcPct val="150000"/>
              </a:lnSpc>
              <a:buFont typeface="+mj-lt"/>
              <a:buAutoNum type="arabicPeriod"/>
            </a:pPr>
            <a:r>
              <a:rPr lang="fr-FR" sz="2800" dirty="0"/>
              <a:t> Créer une classe </a:t>
            </a:r>
            <a:r>
              <a:rPr lang="fr-FR" sz="2800" b="1" dirty="0" err="1"/>
              <a:t>MonoPublisher</a:t>
            </a:r>
            <a:r>
              <a:rPr lang="fr-FR" sz="2800" dirty="0"/>
              <a:t> qui étend </a:t>
            </a:r>
            <a:r>
              <a:rPr lang="fr-FR" sz="2800" b="1" dirty="0" err="1" smtClean="0"/>
              <a:t>SubmissionPublisher</a:t>
            </a:r>
            <a:endParaRPr lang="fr-FR" sz="2800" b="1" dirty="0" smtClean="0"/>
          </a:p>
          <a:p>
            <a:pPr marL="544068" lvl="1" indent="-342900" algn="just">
              <a:lnSpc>
                <a:spcPct val="150000"/>
              </a:lnSpc>
              <a:buFont typeface="+mj-lt"/>
              <a:buAutoNum type="arabicPeriod"/>
            </a:pPr>
            <a:r>
              <a:rPr lang="fr-FR" sz="2800" dirty="0" smtClean="0"/>
              <a:t>Créer </a:t>
            </a:r>
            <a:r>
              <a:rPr lang="fr-FR" sz="2800" dirty="0"/>
              <a:t>un </a:t>
            </a:r>
            <a:r>
              <a:rPr lang="fr-FR" sz="2800" b="1" dirty="0" err="1"/>
              <a:t>Subscriber</a:t>
            </a:r>
            <a:r>
              <a:rPr lang="fr-FR" sz="2800" dirty="0"/>
              <a:t> qui affiche la donnée </a:t>
            </a:r>
            <a:r>
              <a:rPr lang="fr-FR" sz="2800" dirty="0" smtClean="0"/>
              <a:t>reçue</a:t>
            </a:r>
          </a:p>
          <a:p>
            <a:pPr marL="544068" lvl="1" indent="-342900" algn="just">
              <a:lnSpc>
                <a:spcPct val="150000"/>
              </a:lnSpc>
              <a:buFont typeface="+mj-lt"/>
              <a:buAutoNum type="arabicPeriod"/>
            </a:pPr>
            <a:r>
              <a:rPr lang="fr-FR" sz="2800" dirty="0" smtClean="0"/>
              <a:t>Tester </a:t>
            </a:r>
            <a:r>
              <a:rPr lang="fr-FR" sz="2800" dirty="0"/>
              <a:t>l’interaction</a:t>
            </a:r>
          </a:p>
        </p:txBody>
      </p:sp>
    </p:spTree>
    <p:extLst>
      <p:ext uri="{BB962C8B-B14F-4D97-AF65-F5344CB8AC3E}">
        <p14:creationId xmlns:p14="http://schemas.microsoft.com/office/powerpoint/2010/main" val="10477854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550843" y="418641"/>
            <a:ext cx="10604837" cy="57464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152627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Inférence de type de variables locales (var)</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3200" dirty="0"/>
              <a:t> Qu'est-ce que l'inférence de type </a:t>
            </a:r>
            <a:r>
              <a:rPr lang="fr-FR" sz="3200" dirty="0" smtClean="0"/>
              <a:t>?</a:t>
            </a:r>
          </a:p>
          <a:p>
            <a:pPr lvl="1" algn="just">
              <a:buFont typeface="Wingdings" panose="05000000000000000000" pitchFamily="2" charset="2"/>
              <a:buChar char="Ø"/>
            </a:pPr>
            <a:r>
              <a:rPr lang="fr-FR" sz="2800" dirty="0"/>
              <a:t> Introduit avec le mot-clé </a:t>
            </a:r>
            <a:r>
              <a:rPr lang="fr-FR" sz="2800" b="1" dirty="0"/>
              <a:t>var</a:t>
            </a:r>
            <a:r>
              <a:rPr lang="fr-FR" sz="2800" dirty="0"/>
              <a:t> en JDK 10</a:t>
            </a:r>
            <a:r>
              <a:rPr lang="fr-FR" sz="2800" dirty="0" smtClean="0"/>
              <a:t>.</a:t>
            </a:r>
          </a:p>
          <a:p>
            <a:pPr lvl="1" algn="just">
              <a:buFont typeface="Wingdings" panose="05000000000000000000" pitchFamily="2" charset="2"/>
              <a:buChar char="Ø"/>
            </a:pPr>
            <a:r>
              <a:rPr lang="fr-FR" sz="2800" dirty="0"/>
              <a:t> Permet au compilateur de déduire automatiquement le type d'une variable locale lors de son initialisation</a:t>
            </a:r>
            <a:r>
              <a:rPr lang="fr-FR" sz="2800" dirty="0" smtClean="0"/>
              <a:t>.</a:t>
            </a:r>
          </a:p>
          <a:p>
            <a:pPr lvl="1" algn="just">
              <a:buFont typeface="Wingdings" panose="05000000000000000000" pitchFamily="2" charset="2"/>
              <a:buChar char="Ø"/>
            </a:pPr>
            <a:r>
              <a:rPr lang="fr-FR" sz="2800" dirty="0"/>
              <a:t> Permet au compilateur de déduire automatiquement le type d'une variable locale lors de son initialisation</a:t>
            </a:r>
            <a:r>
              <a:rPr lang="fr-FR" sz="2800" dirty="0" smtClean="0"/>
              <a:t>.</a:t>
            </a:r>
          </a:p>
          <a:p>
            <a:pPr lvl="1" algn="just">
              <a:buFont typeface="Wingdings" panose="05000000000000000000" pitchFamily="2" charset="2"/>
              <a:buChar char="Ø"/>
            </a:pPr>
            <a:r>
              <a:rPr lang="fr-FR" sz="2800" dirty="0"/>
              <a:t> Utilisation </a:t>
            </a:r>
            <a:r>
              <a:rPr lang="fr-FR" sz="2800" dirty="0" smtClean="0"/>
              <a:t>:</a:t>
            </a:r>
          </a:p>
          <a:p>
            <a:pPr lvl="2" algn="just">
              <a:buFont typeface="Wingdings" panose="05000000000000000000" pitchFamily="2" charset="2"/>
              <a:buChar char="Ø"/>
            </a:pPr>
            <a:r>
              <a:rPr lang="fr-FR" sz="2000" dirty="0"/>
              <a:t> Exemple basique :</a:t>
            </a:r>
          </a:p>
        </p:txBody>
      </p:sp>
      <p:pic>
        <p:nvPicPr>
          <p:cNvPr id="6" name="Image 5"/>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Lst>
          </a:blip>
          <a:stretch>
            <a:fillRect/>
          </a:stretch>
        </p:blipFill>
        <p:spPr>
          <a:xfrm>
            <a:off x="4313555" y="4686298"/>
            <a:ext cx="5657850" cy="1037167"/>
          </a:xfrm>
          <a:prstGeom prst="rect">
            <a:avLst/>
          </a:prstGeom>
        </p:spPr>
      </p:pic>
    </p:spTree>
    <p:extLst>
      <p:ext uri="{BB962C8B-B14F-4D97-AF65-F5344CB8AC3E}">
        <p14:creationId xmlns:p14="http://schemas.microsoft.com/office/powerpoint/2010/main" val="40419508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Points clés</a:t>
            </a:r>
          </a:p>
        </p:txBody>
      </p:sp>
      <p:sp>
        <p:nvSpPr>
          <p:cNvPr id="3" name="Espace réservé du contenu 2"/>
          <p:cNvSpPr>
            <a:spLocks noGrp="1"/>
          </p:cNvSpPr>
          <p:nvPr>
            <p:ph idx="1"/>
          </p:nvPr>
        </p:nvSpPr>
        <p:spPr/>
        <p:txBody>
          <a:bodyPr>
            <a:normAutofit fontScale="92500" lnSpcReduction="10000"/>
          </a:bodyPr>
          <a:lstStyle/>
          <a:p>
            <a:pPr algn="just">
              <a:lnSpc>
                <a:spcPct val="200000"/>
              </a:lnSpc>
              <a:buFont typeface="Wingdings" panose="05000000000000000000" pitchFamily="2" charset="2"/>
              <a:buChar char="Ø"/>
            </a:pPr>
            <a:r>
              <a:rPr lang="fr-FR" sz="3200" dirty="0"/>
              <a:t> Déduction basée sur le type </a:t>
            </a:r>
            <a:r>
              <a:rPr lang="fr-FR" sz="3200" dirty="0" smtClean="0"/>
              <a:t>d'initialisation</a:t>
            </a:r>
          </a:p>
          <a:p>
            <a:pPr algn="just">
              <a:lnSpc>
                <a:spcPct val="200000"/>
              </a:lnSpc>
              <a:buFont typeface="Wingdings" panose="05000000000000000000" pitchFamily="2" charset="2"/>
              <a:buChar char="Ø"/>
            </a:pPr>
            <a:r>
              <a:rPr lang="fr-FR" sz="3200" dirty="0"/>
              <a:t> </a:t>
            </a:r>
            <a:r>
              <a:rPr lang="fr-FR" sz="3200" b="1" dirty="0"/>
              <a:t>Portée</a:t>
            </a:r>
            <a:r>
              <a:rPr lang="fr-FR" sz="3200" dirty="0"/>
              <a:t> : Utilisable uniquement pour les variables locales (dans les méthodes, blocs ou boucles</a:t>
            </a:r>
            <a:r>
              <a:rPr lang="fr-FR" sz="3200" dirty="0" smtClean="0"/>
              <a:t>)</a:t>
            </a:r>
          </a:p>
          <a:p>
            <a:pPr algn="just">
              <a:lnSpc>
                <a:spcPct val="200000"/>
              </a:lnSpc>
              <a:buFont typeface="Wingdings" panose="05000000000000000000" pitchFamily="2" charset="2"/>
              <a:buChar char="Ø"/>
            </a:pPr>
            <a:r>
              <a:rPr lang="fr-FR" sz="3200" dirty="0"/>
              <a:t> Interdictions</a:t>
            </a:r>
            <a:endParaRPr lang="fr-FR" sz="3200" dirty="0" smtClean="0"/>
          </a:p>
        </p:txBody>
      </p:sp>
    </p:spTree>
    <p:extLst>
      <p:ext uri="{BB962C8B-B14F-4D97-AF65-F5344CB8AC3E}">
        <p14:creationId xmlns:p14="http://schemas.microsoft.com/office/powerpoint/2010/main" val="26184772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Déduction basée sur le type d'initialisation</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3200" dirty="0"/>
              <a:t> La variable doit être initialisée au moment de sa déclaration</a:t>
            </a:r>
            <a:r>
              <a:rPr lang="fr-FR" sz="3200" dirty="0" smtClean="0"/>
              <a:t>.</a:t>
            </a:r>
          </a:p>
          <a:p>
            <a:pPr algn="just">
              <a:buFont typeface="Wingdings" panose="05000000000000000000" pitchFamily="2" charset="2"/>
              <a:buChar char="Ø"/>
            </a:pPr>
            <a:r>
              <a:rPr lang="fr-FR" sz="3200" dirty="0"/>
              <a:t> Le type déduit reste statique et ne change pas à l'exécution.</a:t>
            </a:r>
          </a:p>
        </p:txBody>
      </p:sp>
      <p:pic>
        <p:nvPicPr>
          <p:cNvPr id="4" name="Image 3"/>
          <p:cNvPicPr>
            <a:picLocks noChangeAspect="1"/>
          </p:cNvPicPr>
          <p:nvPr/>
        </p:nvPicPr>
        <p:blipFill>
          <a:blip r:embed="rId2"/>
          <a:stretch>
            <a:fillRect/>
          </a:stretch>
        </p:blipFill>
        <p:spPr>
          <a:xfrm>
            <a:off x="3505200" y="4016903"/>
            <a:ext cx="4822825" cy="893763"/>
          </a:xfrm>
          <a:prstGeom prst="rect">
            <a:avLst/>
          </a:prstGeom>
        </p:spPr>
      </p:pic>
    </p:spTree>
    <p:extLst>
      <p:ext uri="{BB962C8B-B14F-4D97-AF65-F5344CB8AC3E}">
        <p14:creationId xmlns:p14="http://schemas.microsoft.com/office/powerpoint/2010/main" val="1820262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600" b="1" dirty="0"/>
              <a:t>Portée : Utilisable uniquement pour les variables locales (dans les méthodes, blocs ou boucles)</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smtClean="0"/>
              <a:t> </a:t>
            </a:r>
            <a:endParaRPr lang="fr-FR" dirty="0"/>
          </a:p>
        </p:txBody>
      </p:sp>
      <p:pic>
        <p:nvPicPr>
          <p:cNvPr id="4" name="Image 3"/>
          <p:cNvPicPr>
            <a:picLocks noChangeAspect="1"/>
          </p:cNvPicPr>
          <p:nvPr/>
        </p:nvPicPr>
        <p:blipFill>
          <a:blip r:embed="rId2"/>
          <a:stretch>
            <a:fillRect/>
          </a:stretch>
        </p:blipFill>
        <p:spPr>
          <a:xfrm>
            <a:off x="2963333" y="3043237"/>
            <a:ext cx="5892799" cy="17827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41889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Interdictions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4000" dirty="0"/>
              <a:t> Non applicable pour les champs de classe, paramètres de méthode ou variables non initialisées.</a:t>
            </a:r>
          </a:p>
        </p:txBody>
      </p:sp>
      <p:pic>
        <p:nvPicPr>
          <p:cNvPr id="4" name="Image 3"/>
          <p:cNvPicPr>
            <a:picLocks noChangeAspect="1"/>
          </p:cNvPicPr>
          <p:nvPr/>
        </p:nvPicPr>
        <p:blipFill>
          <a:blip r:embed="rId2"/>
          <a:stretch>
            <a:fillRect/>
          </a:stretch>
        </p:blipFill>
        <p:spPr>
          <a:xfrm>
            <a:off x="3877734" y="3857414"/>
            <a:ext cx="7277946" cy="11040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574622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a:t>
            </a:r>
            <a:r>
              <a:rPr lang="fr-FR" b="1" dirty="0" smtClean="0"/>
              <a:t>&amp; Limitations</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Avantages </a:t>
            </a:r>
            <a:r>
              <a:rPr lang="fr-FR" sz="3200" dirty="0" smtClean="0"/>
              <a:t>:</a:t>
            </a:r>
          </a:p>
          <a:p>
            <a:pPr lvl="1" algn="just">
              <a:lnSpc>
                <a:spcPct val="150000"/>
              </a:lnSpc>
              <a:buFont typeface="Wingdings" panose="05000000000000000000" pitchFamily="2" charset="2"/>
              <a:buChar char="Ø"/>
            </a:pPr>
            <a:r>
              <a:rPr lang="fr-FR" sz="2800" dirty="0"/>
              <a:t> Simplifie le code, en particulier dans les déclarations complexes</a:t>
            </a:r>
            <a:r>
              <a:rPr lang="fr-FR" sz="2800" dirty="0" smtClean="0"/>
              <a:t>.</a:t>
            </a:r>
          </a:p>
          <a:p>
            <a:pPr lvl="1" algn="just">
              <a:lnSpc>
                <a:spcPct val="150000"/>
              </a:lnSpc>
              <a:buFont typeface="Wingdings" panose="05000000000000000000" pitchFamily="2" charset="2"/>
              <a:buChar char="Ø"/>
            </a:pPr>
            <a:r>
              <a:rPr lang="fr-FR" sz="2800" dirty="0"/>
              <a:t> Reste fortement typé, contrairement aux langages dynamiques</a:t>
            </a:r>
            <a:r>
              <a:rPr lang="fr-FR" sz="2800" dirty="0" smtClean="0"/>
              <a:t>.</a:t>
            </a:r>
          </a:p>
          <a:p>
            <a:pPr algn="just">
              <a:lnSpc>
                <a:spcPct val="150000"/>
              </a:lnSpc>
              <a:buFont typeface="Wingdings" panose="05000000000000000000" pitchFamily="2" charset="2"/>
              <a:buChar char="Ø"/>
            </a:pPr>
            <a:r>
              <a:rPr lang="fr-FR" sz="3200" dirty="0"/>
              <a:t> Limitations </a:t>
            </a:r>
            <a:r>
              <a:rPr lang="fr-FR" sz="3200" dirty="0" smtClean="0"/>
              <a:t>:</a:t>
            </a:r>
          </a:p>
          <a:p>
            <a:pPr lvl="1" algn="just">
              <a:lnSpc>
                <a:spcPct val="150000"/>
              </a:lnSpc>
              <a:buFont typeface="Wingdings" panose="05000000000000000000" pitchFamily="2" charset="2"/>
              <a:buChar char="Ø"/>
            </a:pPr>
            <a:r>
              <a:rPr lang="fr-FR" sz="2800" dirty="0"/>
              <a:t> Peut réduire la lisibilité si mal utilisé.</a:t>
            </a:r>
          </a:p>
        </p:txBody>
      </p:sp>
      <p:pic>
        <p:nvPicPr>
          <p:cNvPr id="4" name="Image 3"/>
          <p:cNvPicPr>
            <a:picLocks noChangeAspect="1"/>
          </p:cNvPicPr>
          <p:nvPr/>
        </p:nvPicPr>
        <p:blipFill>
          <a:blip r:embed="rId2"/>
          <a:stretch>
            <a:fillRect/>
          </a:stretch>
        </p:blipFill>
        <p:spPr>
          <a:xfrm>
            <a:off x="4538133" y="5664306"/>
            <a:ext cx="6432339" cy="5671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345378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Améliorations dans les API existantes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Collecteurs dans Collectors (Stream API</a:t>
            </a:r>
            <a:r>
              <a:rPr lang="fr-FR" sz="3200" dirty="0" smtClean="0"/>
              <a:t>)</a:t>
            </a:r>
          </a:p>
          <a:p>
            <a:pPr algn="just">
              <a:lnSpc>
                <a:spcPct val="150000"/>
              </a:lnSpc>
              <a:buFont typeface="Wingdings" panose="05000000000000000000" pitchFamily="2" charset="2"/>
              <a:buChar char="Ø"/>
            </a:pPr>
            <a:r>
              <a:rPr lang="fr-FR" sz="3200" dirty="0"/>
              <a:t> </a:t>
            </a:r>
            <a:r>
              <a:rPr lang="fr-FR" sz="3200" dirty="0" err="1" smtClean="0"/>
              <a:t>Optional</a:t>
            </a:r>
            <a:endParaRPr lang="fr-FR" sz="3200" dirty="0" smtClean="0"/>
          </a:p>
          <a:p>
            <a:pPr algn="just">
              <a:lnSpc>
                <a:spcPct val="150000"/>
              </a:lnSpc>
              <a:buFont typeface="Wingdings" panose="05000000000000000000" pitchFamily="2" charset="2"/>
              <a:buChar char="Ø"/>
            </a:pPr>
            <a:r>
              <a:rPr lang="fr-FR" sz="3200" dirty="0"/>
              <a:t> Copie d'une collection dans une nouvelle </a:t>
            </a:r>
            <a:r>
              <a:rPr lang="fr-FR" sz="3200" dirty="0" smtClean="0"/>
              <a:t>liste/ensemble</a:t>
            </a:r>
          </a:p>
          <a:p>
            <a:pPr algn="just">
              <a:lnSpc>
                <a:spcPct val="150000"/>
              </a:lnSpc>
              <a:buFont typeface="Wingdings" panose="05000000000000000000" pitchFamily="2" charset="2"/>
              <a:buChar char="Ø"/>
            </a:pPr>
            <a:r>
              <a:rPr lang="fr-FR" sz="3200" dirty="0"/>
              <a:t> Performances et </a:t>
            </a:r>
            <a:r>
              <a:rPr lang="fr-FR" sz="3200" dirty="0" err="1"/>
              <a:t>garbage</a:t>
            </a:r>
            <a:r>
              <a:rPr lang="fr-FR" sz="3200" dirty="0"/>
              <a:t> collector</a:t>
            </a:r>
          </a:p>
        </p:txBody>
      </p:sp>
    </p:spTree>
    <p:extLst>
      <p:ext uri="{BB962C8B-B14F-4D97-AF65-F5344CB8AC3E}">
        <p14:creationId xmlns:p14="http://schemas.microsoft.com/office/powerpoint/2010/main" val="21139844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Collecteurs dans Collectors (Stream API)</a:t>
            </a:r>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3200" dirty="0"/>
              <a:t> Nouvelle méthode </a:t>
            </a:r>
            <a:r>
              <a:rPr lang="fr-FR" sz="3200" b="1" dirty="0" err="1"/>
              <a:t>Collectors.toUnmodifiableList</a:t>
            </a:r>
            <a:r>
              <a:rPr lang="fr-FR" sz="3200" b="1" dirty="0"/>
              <a:t>() </a:t>
            </a:r>
            <a:r>
              <a:rPr lang="fr-FR" sz="3200" dirty="0" smtClean="0"/>
              <a:t>:</a:t>
            </a:r>
          </a:p>
          <a:p>
            <a:pPr lvl="1">
              <a:lnSpc>
                <a:spcPct val="150000"/>
              </a:lnSpc>
              <a:buFont typeface="Wingdings" panose="05000000000000000000" pitchFamily="2" charset="2"/>
              <a:buChar char="Ø"/>
            </a:pPr>
            <a:r>
              <a:rPr lang="fr-FR" sz="2800" dirty="0"/>
              <a:t> Crée une liste immuable directement depuis un </a:t>
            </a:r>
            <a:r>
              <a:rPr lang="fr-FR" sz="2800" dirty="0" err="1"/>
              <a:t>stream</a:t>
            </a:r>
            <a:r>
              <a:rPr lang="fr-FR" sz="2800" dirty="0"/>
              <a:t>.</a:t>
            </a:r>
          </a:p>
        </p:txBody>
      </p:sp>
      <p:pic>
        <p:nvPicPr>
          <p:cNvPr id="6" name="Image 5"/>
          <p:cNvPicPr>
            <a:picLocks noChangeAspect="1"/>
          </p:cNvPicPr>
          <p:nvPr/>
        </p:nvPicPr>
        <p:blipFill>
          <a:blip r:embed="rId2"/>
          <a:stretch>
            <a:fillRect/>
          </a:stretch>
        </p:blipFill>
        <p:spPr>
          <a:xfrm>
            <a:off x="2302933" y="3716337"/>
            <a:ext cx="8026400" cy="14483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707782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Optional</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3600" dirty="0"/>
              <a:t> Ajout de la méthode </a:t>
            </a:r>
            <a:r>
              <a:rPr lang="fr-FR" sz="3600" dirty="0" err="1"/>
              <a:t>orElseThrow</a:t>
            </a:r>
            <a:r>
              <a:rPr lang="fr-FR" sz="3600" dirty="0"/>
              <a:t>() </a:t>
            </a:r>
            <a:r>
              <a:rPr lang="fr-FR" sz="3600" dirty="0" smtClean="0"/>
              <a:t>:</a:t>
            </a:r>
          </a:p>
          <a:p>
            <a:pPr lvl="1">
              <a:lnSpc>
                <a:spcPct val="150000"/>
              </a:lnSpc>
              <a:buFont typeface="Wingdings" panose="05000000000000000000" pitchFamily="2" charset="2"/>
              <a:buChar char="Ø"/>
            </a:pPr>
            <a:r>
              <a:rPr lang="fr-FR" sz="3200" dirty="0"/>
              <a:t> Remplace </a:t>
            </a:r>
            <a:r>
              <a:rPr lang="fr-FR" sz="3200" dirty="0" err="1"/>
              <a:t>get</a:t>
            </a:r>
            <a:r>
              <a:rPr lang="fr-FR" sz="3200" dirty="0"/>
              <a:t>() avec un comportement sécurisé.</a:t>
            </a:r>
          </a:p>
        </p:txBody>
      </p:sp>
      <p:pic>
        <p:nvPicPr>
          <p:cNvPr id="6" name="Image 5"/>
          <p:cNvPicPr>
            <a:picLocks noChangeAspect="1"/>
          </p:cNvPicPr>
          <p:nvPr/>
        </p:nvPicPr>
        <p:blipFill>
          <a:blip r:embed="rId2"/>
          <a:stretch>
            <a:fillRect/>
          </a:stretch>
        </p:blipFill>
        <p:spPr>
          <a:xfrm>
            <a:off x="1845733" y="3857414"/>
            <a:ext cx="8720667" cy="1561253"/>
          </a:xfrm>
          <a:prstGeom prst="rect">
            <a:avLst/>
          </a:prstGeom>
        </p:spPr>
      </p:pic>
    </p:spTree>
    <p:extLst>
      <p:ext uri="{BB962C8B-B14F-4D97-AF65-F5344CB8AC3E}">
        <p14:creationId xmlns:p14="http://schemas.microsoft.com/office/powerpoint/2010/main" val="8835317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200" b="1" dirty="0"/>
              <a:t>Copie d'une collection dans une nouvelle liste/ensemble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Ajout des méthodes </a:t>
            </a:r>
            <a:r>
              <a:rPr lang="fr-FR" sz="3600" b="1" dirty="0" err="1"/>
              <a:t>List.copyOf</a:t>
            </a:r>
            <a:r>
              <a:rPr lang="fr-FR" sz="3600" b="1" dirty="0"/>
              <a:t>() </a:t>
            </a:r>
            <a:r>
              <a:rPr lang="fr-FR" sz="3600" dirty="0"/>
              <a:t>et </a:t>
            </a:r>
            <a:r>
              <a:rPr lang="fr-FR" sz="3600" b="1" dirty="0" err="1"/>
              <a:t>Set.copyOf</a:t>
            </a:r>
            <a:r>
              <a:rPr lang="fr-FR" sz="3600" b="1" dirty="0"/>
              <a:t>() </a:t>
            </a:r>
            <a:r>
              <a:rPr lang="fr-FR" sz="3600" dirty="0" smtClean="0"/>
              <a:t>:</a:t>
            </a:r>
          </a:p>
          <a:p>
            <a:pPr lvl="1" algn="just">
              <a:lnSpc>
                <a:spcPct val="150000"/>
              </a:lnSpc>
              <a:buFont typeface="Wingdings" panose="05000000000000000000" pitchFamily="2" charset="2"/>
              <a:buChar char="Ø"/>
            </a:pPr>
            <a:r>
              <a:rPr lang="fr-FR" sz="3200" dirty="0"/>
              <a:t> Crée une copie immuable d'une collection existante.</a:t>
            </a:r>
          </a:p>
        </p:txBody>
      </p:sp>
      <p:pic>
        <p:nvPicPr>
          <p:cNvPr id="5" name="Image 4"/>
          <p:cNvPicPr>
            <a:picLocks noChangeAspect="1"/>
          </p:cNvPicPr>
          <p:nvPr/>
        </p:nvPicPr>
        <p:blipFill>
          <a:blip r:embed="rId2"/>
          <a:stretch>
            <a:fillRect/>
          </a:stretch>
        </p:blipFill>
        <p:spPr>
          <a:xfrm>
            <a:off x="2952803" y="3857414"/>
            <a:ext cx="6347354" cy="12012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3421309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Performances et </a:t>
            </a:r>
            <a:r>
              <a:rPr lang="fr-FR" b="1" dirty="0" err="1"/>
              <a:t>garbage</a:t>
            </a:r>
            <a:r>
              <a:rPr lang="fr-FR" b="1" dirty="0"/>
              <a:t> collector</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Introduction de l’implémentation expérimentale </a:t>
            </a:r>
            <a:r>
              <a:rPr lang="fr-FR" sz="3200" b="1" dirty="0"/>
              <a:t>G1 </a:t>
            </a:r>
            <a:r>
              <a:rPr lang="fr-FR" sz="3200" b="1" dirty="0" err="1"/>
              <a:t>Garbage</a:t>
            </a:r>
            <a:r>
              <a:rPr lang="fr-FR" sz="3200" b="1" dirty="0"/>
              <a:t> Collector</a:t>
            </a:r>
            <a:r>
              <a:rPr lang="fr-FR" sz="3200" dirty="0"/>
              <a:t> </a:t>
            </a:r>
            <a:r>
              <a:rPr lang="fr-FR" sz="3200" dirty="0" smtClean="0"/>
              <a:t>:</a:t>
            </a:r>
          </a:p>
          <a:p>
            <a:pPr lvl="1" algn="just">
              <a:lnSpc>
                <a:spcPct val="150000"/>
              </a:lnSpc>
              <a:buFont typeface="Wingdings" panose="05000000000000000000" pitchFamily="2" charset="2"/>
              <a:buChar char="Ø"/>
            </a:pPr>
            <a:r>
              <a:rPr lang="fr-FR" sz="2800" dirty="0"/>
              <a:t> Réduction des pauses dans le traitement des objets volumineux</a:t>
            </a:r>
            <a:r>
              <a:rPr lang="fr-FR" sz="2800" dirty="0" smtClean="0"/>
              <a:t>.</a:t>
            </a:r>
          </a:p>
          <a:p>
            <a:pPr lvl="1" algn="just">
              <a:lnSpc>
                <a:spcPct val="150000"/>
              </a:lnSpc>
              <a:buFont typeface="Wingdings" panose="05000000000000000000" pitchFamily="2" charset="2"/>
              <a:buChar char="Ø"/>
            </a:pPr>
            <a:r>
              <a:rPr lang="fr-FR" sz="2800" dirty="0"/>
              <a:t> Configuration améliorée pour les systèmes à grande mémoire.</a:t>
            </a:r>
          </a:p>
        </p:txBody>
      </p:sp>
    </p:spTree>
    <p:extLst>
      <p:ext uri="{BB962C8B-B14F-4D97-AF65-F5344CB8AC3E}">
        <p14:creationId xmlns:p14="http://schemas.microsoft.com/office/powerpoint/2010/main" val="40384314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Conclusion</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L'inférence de type réduit la verbosité tout en maintenant la sécurité de type</a:t>
            </a:r>
            <a:r>
              <a:rPr lang="fr-FR" sz="2800" dirty="0" smtClean="0"/>
              <a:t>.</a:t>
            </a:r>
          </a:p>
          <a:p>
            <a:pPr algn="just">
              <a:lnSpc>
                <a:spcPct val="150000"/>
              </a:lnSpc>
              <a:buFont typeface="Wingdings" panose="05000000000000000000" pitchFamily="2" charset="2"/>
              <a:buChar char="Ø"/>
            </a:pPr>
            <a:r>
              <a:rPr lang="fr-FR" sz="2800" dirty="0"/>
              <a:t> Les améliorations des API apportent davantage de praticité et de performances pour le développement moderne</a:t>
            </a:r>
            <a:r>
              <a:rPr lang="fr-FR" sz="2800" dirty="0" smtClean="0"/>
              <a:t>.</a:t>
            </a:r>
          </a:p>
          <a:p>
            <a:pPr algn="just">
              <a:lnSpc>
                <a:spcPct val="150000"/>
              </a:lnSpc>
              <a:buFont typeface="Wingdings" panose="05000000000000000000" pitchFamily="2" charset="2"/>
              <a:buChar char="Ø"/>
            </a:pPr>
            <a:r>
              <a:rPr lang="fr-FR" sz="2800" dirty="0"/>
              <a:t> Ces fonctionnalités renforcent Java en tant que langage flexible et puissant.</a:t>
            </a:r>
          </a:p>
        </p:txBody>
      </p:sp>
    </p:spTree>
    <p:extLst>
      <p:ext uri="{BB962C8B-B14F-4D97-AF65-F5344CB8AC3E}">
        <p14:creationId xmlns:p14="http://schemas.microsoft.com/office/powerpoint/2010/main" val="15752122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Inférence de type pour les expressions lambda</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2800" dirty="0"/>
              <a:t> Contexte </a:t>
            </a:r>
            <a:r>
              <a:rPr lang="fr-FR" sz="2800" dirty="0" smtClean="0"/>
              <a:t>:</a:t>
            </a:r>
          </a:p>
          <a:p>
            <a:pPr lvl="1">
              <a:buFont typeface="Wingdings" panose="05000000000000000000" pitchFamily="2" charset="2"/>
              <a:buChar char="Ø"/>
            </a:pPr>
            <a:r>
              <a:rPr lang="fr-FR" sz="2400" dirty="0"/>
              <a:t> Avant la JDK 11, les paramètres des expressions lambda nécessitaient une définition explicite du type ou restaient implicites</a:t>
            </a:r>
            <a:r>
              <a:rPr lang="fr-FR" sz="2400" dirty="0" smtClean="0"/>
              <a:t>.</a:t>
            </a:r>
          </a:p>
          <a:p>
            <a:pPr lvl="1">
              <a:buFont typeface="Wingdings" panose="05000000000000000000" pitchFamily="2" charset="2"/>
              <a:buChar char="Ø"/>
            </a:pPr>
            <a:r>
              <a:rPr lang="fr-FR" sz="2400" dirty="0"/>
              <a:t> Avec l'inférence de type via var, les paramètres deviennent plus concis</a:t>
            </a:r>
            <a:r>
              <a:rPr lang="fr-FR" sz="2400" dirty="0" smtClean="0"/>
              <a:t>.</a:t>
            </a:r>
          </a:p>
          <a:p>
            <a:pPr lvl="1">
              <a:buFont typeface="Wingdings" panose="05000000000000000000" pitchFamily="2" charset="2"/>
              <a:buChar char="Ø"/>
            </a:pPr>
            <a:r>
              <a:rPr lang="fr-FR" sz="2400" dirty="0"/>
              <a:t> Exemple avant JDK 11 </a:t>
            </a:r>
            <a:r>
              <a:rPr lang="fr-FR" sz="2400" dirty="0" smtClean="0"/>
              <a:t>:</a:t>
            </a:r>
          </a:p>
          <a:p>
            <a:pPr lvl="1">
              <a:buFont typeface="Wingdings" panose="05000000000000000000" pitchFamily="2" charset="2"/>
              <a:buChar char="Ø"/>
            </a:pPr>
            <a:endParaRPr lang="fr-FR" sz="2400" dirty="0"/>
          </a:p>
          <a:p>
            <a:pPr lvl="1">
              <a:buFont typeface="Wingdings" panose="05000000000000000000" pitchFamily="2" charset="2"/>
              <a:buChar char="Ø"/>
            </a:pPr>
            <a:endParaRPr lang="fr-FR" sz="2400" dirty="0" smtClean="0"/>
          </a:p>
          <a:p>
            <a:pPr lvl="1">
              <a:buFont typeface="Wingdings" panose="05000000000000000000" pitchFamily="2" charset="2"/>
              <a:buChar char="Ø"/>
            </a:pPr>
            <a:r>
              <a:rPr lang="fr-FR" sz="2400" dirty="0"/>
              <a:t> Exemple avec JDK 11 :</a:t>
            </a:r>
          </a:p>
        </p:txBody>
      </p:sp>
      <p:pic>
        <p:nvPicPr>
          <p:cNvPr id="5" name="Image 4"/>
          <p:cNvPicPr>
            <a:picLocks noChangeAspect="1"/>
          </p:cNvPicPr>
          <p:nvPr/>
        </p:nvPicPr>
        <p:blipFill>
          <a:blip r:embed="rId2"/>
          <a:stretch>
            <a:fillRect/>
          </a:stretch>
        </p:blipFill>
        <p:spPr>
          <a:xfrm>
            <a:off x="4742392" y="3478265"/>
            <a:ext cx="5619750" cy="7582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3"/>
          <a:stretch>
            <a:fillRect/>
          </a:stretch>
        </p:blipFill>
        <p:spPr>
          <a:xfrm>
            <a:off x="4742392" y="4762129"/>
            <a:ext cx="5619750" cy="8463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101305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Points importants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L'utilisation de var dans les </a:t>
            </a:r>
            <a:r>
              <a:rPr lang="fr-FR" sz="2800" b="1" dirty="0" err="1"/>
              <a:t>lambdas</a:t>
            </a:r>
            <a:r>
              <a:rPr lang="fr-FR" sz="2800" dirty="0"/>
              <a:t> nécessite la même annotation pour tous les paramètres</a:t>
            </a:r>
            <a:r>
              <a:rPr lang="fr-FR" sz="2800" dirty="0" smtClean="0"/>
              <a:t>.</a:t>
            </a:r>
          </a:p>
          <a:p>
            <a:pPr algn="just">
              <a:lnSpc>
                <a:spcPct val="150000"/>
              </a:lnSpc>
              <a:buFont typeface="Wingdings" panose="05000000000000000000" pitchFamily="2" charset="2"/>
              <a:buChar char="Ø"/>
            </a:pPr>
            <a:endParaRPr lang="fr-FR" sz="2800" dirty="0"/>
          </a:p>
          <a:p>
            <a:pPr algn="just">
              <a:lnSpc>
                <a:spcPct val="150000"/>
              </a:lnSpc>
              <a:buFont typeface="Wingdings" panose="05000000000000000000" pitchFamily="2" charset="2"/>
              <a:buChar char="Ø"/>
            </a:pPr>
            <a:r>
              <a:rPr lang="fr-FR" sz="2800" dirty="0" smtClean="0"/>
              <a:t> </a:t>
            </a:r>
            <a:r>
              <a:rPr lang="fr-FR" sz="2800" dirty="0"/>
              <a:t>Améliore la lisibilité dans des </a:t>
            </a:r>
            <a:r>
              <a:rPr lang="fr-FR" sz="2800" b="1" dirty="0" err="1"/>
              <a:t>lambdas</a:t>
            </a:r>
            <a:r>
              <a:rPr lang="fr-FR" sz="2800" dirty="0"/>
              <a:t> complexes, mais peut réduire la clarté si mal utilisé.</a:t>
            </a:r>
          </a:p>
        </p:txBody>
      </p:sp>
      <p:pic>
        <p:nvPicPr>
          <p:cNvPr id="5" name="Image 4"/>
          <p:cNvPicPr>
            <a:picLocks noChangeAspect="1"/>
          </p:cNvPicPr>
          <p:nvPr/>
        </p:nvPicPr>
        <p:blipFill>
          <a:blip r:embed="rId2"/>
          <a:stretch>
            <a:fillRect/>
          </a:stretch>
        </p:blipFill>
        <p:spPr>
          <a:xfrm>
            <a:off x="5280554" y="2679698"/>
            <a:ext cx="4777846" cy="6223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626002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Simplification des "</a:t>
            </a:r>
            <a:r>
              <a:rPr lang="fr-FR" b="1" dirty="0" err="1"/>
              <a:t>run</a:t>
            </a:r>
            <a:r>
              <a:rPr lang="fr-FR" b="1" dirty="0"/>
              <a:t>" de programmes</a:t>
            </a:r>
          </a:p>
        </p:txBody>
      </p:sp>
      <p:sp>
        <p:nvSpPr>
          <p:cNvPr id="3" name="Espace réservé du contenu 2"/>
          <p:cNvSpPr>
            <a:spLocks noGrp="1"/>
          </p:cNvSpPr>
          <p:nvPr>
            <p:ph idx="1"/>
          </p:nvPr>
        </p:nvSpPr>
        <p:spPr/>
        <p:txBody>
          <a:bodyPr>
            <a:noAutofit/>
          </a:bodyPr>
          <a:lstStyle/>
          <a:p>
            <a:pPr>
              <a:buFont typeface="Wingdings" panose="05000000000000000000" pitchFamily="2" charset="2"/>
              <a:buChar char="Ø"/>
            </a:pPr>
            <a:r>
              <a:rPr lang="fr-FR" sz="2800" dirty="0"/>
              <a:t> Nouveauté </a:t>
            </a:r>
            <a:r>
              <a:rPr lang="fr-FR" sz="2800" dirty="0" smtClean="0"/>
              <a:t>:</a:t>
            </a:r>
          </a:p>
          <a:p>
            <a:pPr lvl="1">
              <a:buFont typeface="Wingdings" panose="05000000000000000000" pitchFamily="2" charset="2"/>
              <a:buChar char="Ø"/>
            </a:pPr>
            <a:r>
              <a:rPr lang="fr-FR" sz="2400" dirty="0"/>
              <a:t> Les fichiers sources Java peuvent être exécutés directement sans compilation préalable en .class</a:t>
            </a:r>
            <a:r>
              <a:rPr lang="fr-FR" sz="2400" dirty="0" smtClean="0"/>
              <a:t>.</a:t>
            </a:r>
          </a:p>
          <a:p>
            <a:pPr lvl="1">
              <a:buFont typeface="Wingdings" panose="05000000000000000000" pitchFamily="2" charset="2"/>
              <a:buChar char="Ø"/>
            </a:pPr>
            <a:r>
              <a:rPr lang="fr-FR" sz="2400" dirty="0"/>
              <a:t> Avant JDK 11 </a:t>
            </a:r>
            <a:r>
              <a:rPr lang="fr-FR" sz="2400" dirty="0" smtClean="0"/>
              <a:t>:</a:t>
            </a:r>
          </a:p>
          <a:p>
            <a:pPr lvl="1">
              <a:buFont typeface="Wingdings" panose="05000000000000000000" pitchFamily="2" charset="2"/>
              <a:buChar char="Ø"/>
            </a:pPr>
            <a:endParaRPr lang="fr-FR" sz="2400" dirty="0"/>
          </a:p>
          <a:p>
            <a:pPr lvl="1">
              <a:buFont typeface="Wingdings" panose="05000000000000000000" pitchFamily="2" charset="2"/>
              <a:buChar char="Ø"/>
            </a:pPr>
            <a:endParaRPr lang="fr-FR" sz="2400" dirty="0" smtClean="0"/>
          </a:p>
          <a:p>
            <a:pPr lvl="1">
              <a:buFont typeface="Wingdings" panose="05000000000000000000" pitchFamily="2" charset="2"/>
              <a:buChar char="Ø"/>
            </a:pPr>
            <a:r>
              <a:rPr lang="fr-FR" sz="2400" dirty="0"/>
              <a:t> Avec JDK 11 </a:t>
            </a:r>
            <a:r>
              <a:rPr lang="fr-FR" sz="2400" dirty="0" smtClean="0"/>
              <a:t>:</a:t>
            </a:r>
          </a:p>
          <a:p>
            <a:pPr lvl="1">
              <a:buFont typeface="Wingdings" panose="05000000000000000000" pitchFamily="2" charset="2"/>
              <a:buChar char="Ø"/>
            </a:pPr>
            <a:endParaRPr lang="fr-FR" sz="2400" dirty="0"/>
          </a:p>
          <a:p>
            <a:pPr lvl="1">
              <a:buFont typeface="Wingdings" panose="05000000000000000000" pitchFamily="2" charset="2"/>
              <a:buChar char="Ø"/>
            </a:pPr>
            <a:r>
              <a:rPr lang="fr-FR" sz="2400" dirty="0"/>
              <a:t> Avantages </a:t>
            </a:r>
            <a:r>
              <a:rPr lang="fr-FR" sz="2400" dirty="0" smtClean="0"/>
              <a:t>:</a:t>
            </a:r>
          </a:p>
          <a:p>
            <a:pPr lvl="2">
              <a:buFont typeface="Wingdings" panose="05000000000000000000" pitchFamily="2" charset="2"/>
              <a:buChar char="Ø"/>
            </a:pPr>
            <a:r>
              <a:rPr lang="fr-FR" sz="1800" dirty="0"/>
              <a:t> Utile pour les scripts, les tests rapides et les démonstrations</a:t>
            </a:r>
            <a:r>
              <a:rPr lang="fr-FR" sz="1800" dirty="0" smtClean="0"/>
              <a:t>.</a:t>
            </a:r>
          </a:p>
          <a:p>
            <a:pPr lvl="2">
              <a:buFont typeface="Wingdings" panose="05000000000000000000" pitchFamily="2" charset="2"/>
              <a:buChar char="Ø"/>
            </a:pPr>
            <a:r>
              <a:rPr lang="fr-FR" sz="1800" dirty="0"/>
              <a:t> Prise en charge pour les programmes d'un seul fichier (pas pour les projets multi-fichiers).</a:t>
            </a:r>
          </a:p>
        </p:txBody>
      </p:sp>
      <p:pic>
        <p:nvPicPr>
          <p:cNvPr id="5" name="Image 4"/>
          <p:cNvPicPr>
            <a:picLocks noChangeAspect="1"/>
          </p:cNvPicPr>
          <p:nvPr/>
        </p:nvPicPr>
        <p:blipFill>
          <a:blip r:embed="rId2"/>
          <a:stretch>
            <a:fillRect/>
          </a:stretch>
        </p:blipFill>
        <p:spPr>
          <a:xfrm>
            <a:off x="3792007" y="3075675"/>
            <a:ext cx="2879725" cy="8574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3"/>
          <a:stretch>
            <a:fillRect/>
          </a:stretch>
        </p:blipFill>
        <p:spPr>
          <a:xfrm>
            <a:off x="3792007" y="4288764"/>
            <a:ext cx="2822881" cy="5711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58809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2800" b="1" dirty="0"/>
              <a:t>Améliorations dans les classes String, </a:t>
            </a:r>
            <a:r>
              <a:rPr lang="fr-FR" sz="2800" b="1" dirty="0" err="1"/>
              <a:t>StringBuilder</a:t>
            </a:r>
            <a:r>
              <a:rPr lang="fr-FR" sz="2800" b="1" dirty="0"/>
              <a:t> et </a:t>
            </a:r>
            <a:r>
              <a:rPr lang="fr-FR" sz="2800" b="1" dirty="0" err="1"/>
              <a:t>StringBuffer</a:t>
            </a:r>
            <a:endParaRPr lang="fr-FR" sz="2800" b="1" dirty="0"/>
          </a:p>
        </p:txBody>
      </p:sp>
      <p:sp>
        <p:nvSpPr>
          <p:cNvPr id="3" name="Espace réservé du contenu 2"/>
          <p:cNvSpPr>
            <a:spLocks noGrp="1"/>
          </p:cNvSpPr>
          <p:nvPr>
            <p:ph idx="1"/>
          </p:nvPr>
        </p:nvSpPr>
        <p:spPr/>
        <p:txBody>
          <a:bodyPr>
            <a:normAutofit/>
          </a:bodyPr>
          <a:lstStyle/>
          <a:p>
            <a:pPr>
              <a:lnSpc>
                <a:spcPct val="200000"/>
              </a:lnSpc>
              <a:buFont typeface="Wingdings" panose="05000000000000000000" pitchFamily="2" charset="2"/>
              <a:buChar char="Ø"/>
            </a:pPr>
            <a:r>
              <a:rPr lang="fr-FR" sz="3600" dirty="0"/>
              <a:t> Méthode </a:t>
            </a:r>
            <a:r>
              <a:rPr lang="fr-FR" sz="3600" b="1" dirty="0" err="1"/>
              <a:t>isBlank</a:t>
            </a:r>
            <a:r>
              <a:rPr lang="fr-FR" sz="3600" dirty="0" smtClean="0"/>
              <a:t>()</a:t>
            </a:r>
          </a:p>
          <a:p>
            <a:pPr>
              <a:lnSpc>
                <a:spcPct val="200000"/>
              </a:lnSpc>
              <a:buFont typeface="Wingdings" panose="05000000000000000000" pitchFamily="2" charset="2"/>
              <a:buChar char="Ø"/>
            </a:pPr>
            <a:r>
              <a:rPr lang="fr-FR" sz="3600" dirty="0"/>
              <a:t> Méthode </a:t>
            </a:r>
            <a:r>
              <a:rPr lang="fr-FR" sz="3600" b="1" dirty="0" err="1"/>
              <a:t>lines</a:t>
            </a:r>
            <a:r>
              <a:rPr lang="fr-FR" sz="3600" dirty="0" smtClean="0"/>
              <a:t>()</a:t>
            </a:r>
          </a:p>
          <a:p>
            <a:pPr>
              <a:lnSpc>
                <a:spcPct val="200000"/>
              </a:lnSpc>
              <a:buFont typeface="Wingdings" panose="05000000000000000000" pitchFamily="2" charset="2"/>
              <a:buChar char="Ø"/>
            </a:pPr>
            <a:r>
              <a:rPr lang="fr-FR" sz="3600" dirty="0"/>
              <a:t> Méthode </a:t>
            </a:r>
            <a:r>
              <a:rPr lang="fr-FR" sz="3600" b="1" dirty="0" err="1"/>
              <a:t>repeat</a:t>
            </a:r>
            <a:r>
              <a:rPr lang="fr-FR" sz="3600" b="1" dirty="0"/>
              <a:t>(</a:t>
            </a:r>
            <a:r>
              <a:rPr lang="fr-FR" sz="3600" b="1" dirty="0" err="1"/>
              <a:t>int</a:t>
            </a:r>
            <a:r>
              <a:rPr lang="fr-FR" sz="3600" dirty="0"/>
              <a:t> </a:t>
            </a:r>
            <a:r>
              <a:rPr lang="fr-FR" sz="3600" b="1" dirty="0"/>
              <a:t>count</a:t>
            </a:r>
            <a:r>
              <a:rPr lang="fr-FR" sz="3600" dirty="0"/>
              <a:t>)</a:t>
            </a:r>
          </a:p>
        </p:txBody>
      </p:sp>
    </p:spTree>
    <p:extLst>
      <p:ext uri="{BB962C8B-B14F-4D97-AF65-F5344CB8AC3E}">
        <p14:creationId xmlns:p14="http://schemas.microsoft.com/office/powerpoint/2010/main" val="125234943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Méthode </a:t>
            </a:r>
            <a:r>
              <a:rPr lang="fr-FR" dirty="0" err="1"/>
              <a:t>isBlank</a:t>
            </a:r>
            <a:r>
              <a:rPr lang="fr-FR" dirty="0"/>
              <a:t>()</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2800" dirty="0"/>
              <a:t> Vérifie si une chaîne est vide ou ne contient que des espaces.</a:t>
            </a:r>
          </a:p>
        </p:txBody>
      </p:sp>
      <p:pic>
        <p:nvPicPr>
          <p:cNvPr id="5" name="Image 4"/>
          <p:cNvPicPr>
            <a:picLocks noChangeAspect="1"/>
          </p:cNvPicPr>
          <p:nvPr/>
        </p:nvPicPr>
        <p:blipFill>
          <a:blip r:embed="rId2"/>
          <a:stretch>
            <a:fillRect/>
          </a:stretch>
        </p:blipFill>
        <p:spPr>
          <a:xfrm>
            <a:off x="4018280" y="2809664"/>
            <a:ext cx="4216400" cy="1047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2138349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Méthode </a:t>
            </a:r>
            <a:r>
              <a:rPr lang="fr-FR" b="1" dirty="0" err="1"/>
              <a:t>lines</a:t>
            </a:r>
            <a:r>
              <a:rPr lang="fr-FR" b="1" dirty="0"/>
              <a:t>()</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4400" dirty="0"/>
              <a:t> Divise une chaîne en lignes.</a:t>
            </a:r>
          </a:p>
        </p:txBody>
      </p:sp>
      <p:pic>
        <p:nvPicPr>
          <p:cNvPr id="5" name="Image 4"/>
          <p:cNvPicPr>
            <a:picLocks noChangeAspect="1"/>
          </p:cNvPicPr>
          <p:nvPr/>
        </p:nvPicPr>
        <p:blipFill>
          <a:blip r:embed="rId2"/>
          <a:stretch>
            <a:fillRect/>
          </a:stretch>
        </p:blipFill>
        <p:spPr>
          <a:xfrm>
            <a:off x="2210327" y="3214686"/>
            <a:ext cx="8116147" cy="15943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764923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Méthode </a:t>
            </a:r>
            <a:r>
              <a:rPr lang="fr-FR" b="1" dirty="0" err="1"/>
              <a:t>repeat</a:t>
            </a:r>
            <a:r>
              <a:rPr lang="fr-FR" b="1" dirty="0"/>
              <a:t>(</a:t>
            </a:r>
            <a:r>
              <a:rPr lang="fr-FR" b="1" dirty="0" err="1"/>
              <a:t>int</a:t>
            </a:r>
            <a:r>
              <a:rPr lang="fr-FR" b="1" dirty="0"/>
              <a:t> count)</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3600" dirty="0"/>
              <a:t> Répète une chaîne un nombre donné de fois.</a:t>
            </a:r>
          </a:p>
        </p:txBody>
      </p:sp>
      <p:pic>
        <p:nvPicPr>
          <p:cNvPr id="5" name="Image 4"/>
          <p:cNvPicPr>
            <a:picLocks noChangeAspect="1"/>
          </p:cNvPicPr>
          <p:nvPr/>
        </p:nvPicPr>
        <p:blipFill>
          <a:blip r:embed="rId2"/>
          <a:stretch>
            <a:fillRect/>
          </a:stretch>
        </p:blipFill>
        <p:spPr>
          <a:xfrm>
            <a:off x="3183466" y="2777067"/>
            <a:ext cx="5875867" cy="1376701"/>
          </a:xfrm>
          <a:prstGeom prst="rect">
            <a:avLst/>
          </a:prstGeom>
        </p:spPr>
      </p:pic>
    </p:spTree>
    <p:extLst>
      <p:ext uri="{BB962C8B-B14F-4D97-AF65-F5344CB8AC3E}">
        <p14:creationId xmlns:p14="http://schemas.microsoft.com/office/powerpoint/2010/main" val="285618208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Améliorations dans </a:t>
            </a:r>
            <a:r>
              <a:rPr lang="fr-FR" sz="4000" b="1" dirty="0" err="1"/>
              <a:t>StringBuilder</a:t>
            </a:r>
            <a:r>
              <a:rPr lang="fr-FR" sz="4000" b="1" dirty="0"/>
              <a:t> et </a:t>
            </a:r>
            <a:r>
              <a:rPr lang="fr-FR" sz="4000" b="1" dirty="0" err="1"/>
              <a:t>StringBuffer</a:t>
            </a:r>
            <a:endParaRPr lang="fr-FR" sz="4000"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Performances améliorées pour les opérations fréquentes de concaténation</a:t>
            </a:r>
            <a:r>
              <a:rPr lang="fr-FR" sz="3200" dirty="0" smtClean="0"/>
              <a:t>.</a:t>
            </a:r>
          </a:p>
          <a:p>
            <a:pPr algn="just">
              <a:lnSpc>
                <a:spcPct val="150000"/>
              </a:lnSpc>
              <a:buFont typeface="Wingdings" panose="05000000000000000000" pitchFamily="2" charset="2"/>
              <a:buChar char="Ø"/>
            </a:pPr>
            <a:r>
              <a:rPr lang="fr-FR" sz="3200" dirty="0"/>
              <a:t> Pas de changement majeur en termes de nouvelles API, mais elles bénéficient des optimisations globales de la JDK.</a:t>
            </a:r>
          </a:p>
        </p:txBody>
      </p:sp>
    </p:spTree>
    <p:extLst>
      <p:ext uri="{BB962C8B-B14F-4D97-AF65-F5344CB8AC3E}">
        <p14:creationId xmlns:p14="http://schemas.microsoft.com/office/powerpoint/2010/main" val="22320220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Améliorations des </a:t>
            </a:r>
            <a:r>
              <a:rPr lang="fr-FR" b="1" dirty="0" err="1"/>
              <a:t>Predicate</a:t>
            </a:r>
            <a:r>
              <a:rPr lang="fr-FR" b="1" dirty="0"/>
              <a:t> Java 8</a:t>
            </a:r>
          </a:p>
        </p:txBody>
      </p:sp>
      <p:sp>
        <p:nvSpPr>
          <p:cNvPr id="3" name="Espace réservé du contenu 2"/>
          <p:cNvSpPr>
            <a:spLocks noGrp="1"/>
          </p:cNvSpPr>
          <p:nvPr>
            <p:ph idx="1"/>
          </p:nvPr>
        </p:nvSpPr>
        <p:spPr/>
        <p:txBody>
          <a:bodyPr>
            <a:noAutofit/>
          </a:bodyPr>
          <a:lstStyle/>
          <a:p>
            <a:pPr>
              <a:buFont typeface="Wingdings" panose="05000000000000000000" pitchFamily="2" charset="2"/>
              <a:buChar char="Ø"/>
            </a:pPr>
            <a:r>
              <a:rPr lang="fr-FR" sz="3200" dirty="0"/>
              <a:t> Nouveautés dans l'interface </a:t>
            </a:r>
            <a:r>
              <a:rPr lang="fr-FR" sz="3200" dirty="0" err="1" smtClean="0"/>
              <a:t>Predicate</a:t>
            </a:r>
            <a:r>
              <a:rPr lang="fr-FR" sz="3200" dirty="0" smtClean="0"/>
              <a:t> :</a:t>
            </a:r>
          </a:p>
          <a:p>
            <a:pPr lvl="1">
              <a:buFont typeface="Wingdings" panose="05000000000000000000" pitchFamily="2" charset="2"/>
              <a:buChar char="Ø"/>
            </a:pPr>
            <a:r>
              <a:rPr lang="fr-FR" sz="2800" dirty="0"/>
              <a:t> Méthode not(</a:t>
            </a:r>
            <a:r>
              <a:rPr lang="fr-FR" sz="2800" dirty="0" err="1"/>
              <a:t>Predicate</a:t>
            </a:r>
            <a:r>
              <a:rPr lang="fr-FR" sz="2800" dirty="0"/>
              <a:t>&lt;T</a:t>
            </a:r>
            <a:r>
              <a:rPr lang="fr-FR" sz="2800" dirty="0" smtClean="0"/>
              <a:t>&gt;)</a:t>
            </a:r>
          </a:p>
          <a:p>
            <a:pPr lvl="2">
              <a:buFont typeface="Wingdings" panose="05000000000000000000" pitchFamily="2" charset="2"/>
              <a:buChar char="Ø"/>
            </a:pPr>
            <a:r>
              <a:rPr lang="fr-FR" sz="2000" dirty="0"/>
              <a:t> Inverse un prédicat existant</a:t>
            </a:r>
            <a:r>
              <a:rPr lang="fr-FR" sz="2000" dirty="0" smtClean="0"/>
              <a:t>.</a:t>
            </a:r>
          </a:p>
          <a:p>
            <a:pPr lvl="1">
              <a:buFont typeface="Wingdings" panose="05000000000000000000" pitchFamily="2" charset="2"/>
              <a:buChar char="Ø"/>
            </a:pPr>
            <a:endParaRPr lang="fr-FR" sz="2800" dirty="0"/>
          </a:p>
          <a:p>
            <a:pPr lvl="1">
              <a:buFont typeface="Wingdings" panose="05000000000000000000" pitchFamily="2" charset="2"/>
              <a:buChar char="Ø"/>
            </a:pPr>
            <a:endParaRPr lang="fr-FR" sz="2800" dirty="0" smtClean="0"/>
          </a:p>
          <a:p>
            <a:pPr lvl="1">
              <a:buFont typeface="Wingdings" panose="05000000000000000000" pitchFamily="2" charset="2"/>
              <a:buChar char="Ø"/>
            </a:pPr>
            <a:endParaRPr lang="fr-FR" sz="2800" dirty="0"/>
          </a:p>
          <a:p>
            <a:pPr lvl="1">
              <a:buFont typeface="Wingdings" panose="05000000000000000000" pitchFamily="2" charset="2"/>
              <a:buChar char="Ø"/>
            </a:pPr>
            <a:r>
              <a:rPr lang="fr-FR" sz="2800" b="1" dirty="0" smtClean="0"/>
              <a:t>Avantages</a:t>
            </a:r>
            <a:r>
              <a:rPr lang="fr-FR" sz="2800" dirty="0" smtClean="0"/>
              <a:t> :</a:t>
            </a:r>
          </a:p>
          <a:p>
            <a:pPr lvl="2">
              <a:buFont typeface="Wingdings" panose="05000000000000000000" pitchFamily="2" charset="2"/>
              <a:buChar char="Ø"/>
            </a:pPr>
            <a:r>
              <a:rPr lang="fr-FR" sz="2000" dirty="0"/>
              <a:t> Simplifie l'écriture des conditions inversées</a:t>
            </a:r>
            <a:r>
              <a:rPr lang="fr-FR" sz="2000" dirty="0" smtClean="0"/>
              <a:t>.</a:t>
            </a:r>
          </a:p>
          <a:p>
            <a:pPr lvl="2">
              <a:buFont typeface="Wingdings" panose="05000000000000000000" pitchFamily="2" charset="2"/>
              <a:buChar char="Ø"/>
            </a:pPr>
            <a:r>
              <a:rPr lang="fr-FR" sz="2000" dirty="0"/>
              <a:t> Remplace les constructions plus longues comme </a:t>
            </a:r>
            <a:r>
              <a:rPr lang="fr-FR" sz="2000" dirty="0" err="1"/>
              <a:t>filter</a:t>
            </a:r>
            <a:r>
              <a:rPr lang="fr-FR" sz="2000" dirty="0"/>
              <a:t>(s -&gt; !</a:t>
            </a:r>
            <a:r>
              <a:rPr lang="fr-FR" sz="2000" dirty="0" err="1"/>
              <a:t>s.isEmpty</a:t>
            </a:r>
            <a:r>
              <a:rPr lang="fr-FR" sz="2000" dirty="0"/>
              <a:t>()).</a:t>
            </a:r>
          </a:p>
        </p:txBody>
      </p:sp>
      <p:pic>
        <p:nvPicPr>
          <p:cNvPr id="6" name="Image 5"/>
          <p:cNvPicPr>
            <a:picLocks noChangeAspect="1"/>
          </p:cNvPicPr>
          <p:nvPr/>
        </p:nvPicPr>
        <p:blipFill>
          <a:blip r:embed="rId3"/>
          <a:stretch>
            <a:fillRect/>
          </a:stretch>
        </p:blipFill>
        <p:spPr>
          <a:xfrm>
            <a:off x="5127625" y="3069167"/>
            <a:ext cx="4896908" cy="16721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149896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Classes imbriquées et visibilité des attributs</a:t>
            </a:r>
          </a:p>
        </p:txBody>
      </p:sp>
      <p:sp>
        <p:nvSpPr>
          <p:cNvPr id="3" name="Espace réservé du contenu 2"/>
          <p:cNvSpPr>
            <a:spLocks noGrp="1"/>
          </p:cNvSpPr>
          <p:nvPr>
            <p:ph idx="1"/>
          </p:nvPr>
        </p:nvSpPr>
        <p:spPr/>
        <p:txBody>
          <a:bodyPr>
            <a:normAutofit fontScale="92500" lnSpcReduction="20000"/>
          </a:bodyPr>
          <a:lstStyle/>
          <a:p>
            <a:pPr>
              <a:buFont typeface="Wingdings" panose="05000000000000000000" pitchFamily="2" charset="2"/>
              <a:buChar char="Ø"/>
            </a:pPr>
            <a:r>
              <a:rPr lang="fr-FR" dirty="0"/>
              <a:t> Changements pour les classes imbriquées </a:t>
            </a:r>
            <a:r>
              <a:rPr lang="fr-FR" dirty="0" smtClean="0"/>
              <a:t>:</a:t>
            </a:r>
          </a:p>
          <a:p>
            <a:pPr lvl="1">
              <a:buFont typeface="Wingdings" panose="05000000000000000000" pitchFamily="2" charset="2"/>
              <a:buChar char="Ø"/>
            </a:pPr>
            <a:r>
              <a:rPr lang="fr-FR" dirty="0"/>
              <a:t> Les classes imbriquées privées peuvent désormais accéder directement aux attributs privés de la classe englobante</a:t>
            </a:r>
            <a:r>
              <a:rPr lang="fr-FR" dirty="0" smtClean="0"/>
              <a:t>.</a:t>
            </a:r>
          </a:p>
          <a:p>
            <a:pPr lvl="1">
              <a:buFont typeface="Wingdings" panose="05000000000000000000" pitchFamily="2" charset="2"/>
              <a:buChar char="Ø"/>
            </a:pPr>
            <a:r>
              <a:rPr lang="fr-FR" dirty="0"/>
              <a:t> Exemple </a:t>
            </a:r>
            <a:r>
              <a:rPr lang="fr-FR" dirty="0" smtClean="0"/>
              <a:t>:</a:t>
            </a:r>
          </a:p>
          <a:p>
            <a:pPr lvl="1">
              <a:buFont typeface="Wingdings" panose="05000000000000000000" pitchFamily="2" charset="2"/>
              <a:buChar char="Ø"/>
            </a:pPr>
            <a:r>
              <a:rPr lang="fr-FR" dirty="0"/>
              <a:t> Avant JDK 11 :						Avec JDK 11 </a:t>
            </a:r>
            <a:r>
              <a:rPr lang="fr-FR" dirty="0" smtClean="0"/>
              <a:t>:</a:t>
            </a:r>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r>
              <a:rPr lang="fr-FR" dirty="0" smtClean="0"/>
              <a:t> </a:t>
            </a:r>
          </a:p>
          <a:p>
            <a:pPr lvl="1">
              <a:buFont typeface="Wingdings" panose="05000000000000000000" pitchFamily="2" charset="2"/>
              <a:buChar char="Ø"/>
            </a:pPr>
            <a:r>
              <a:rPr lang="fr-FR" dirty="0"/>
              <a:t> Avantage </a:t>
            </a:r>
            <a:r>
              <a:rPr lang="fr-FR" dirty="0" smtClean="0"/>
              <a:t>:</a:t>
            </a:r>
          </a:p>
          <a:p>
            <a:pPr lvl="2">
              <a:buFont typeface="Wingdings" panose="05000000000000000000" pitchFamily="2" charset="2"/>
              <a:buChar char="Ø"/>
            </a:pPr>
            <a:r>
              <a:rPr lang="fr-FR" dirty="0"/>
              <a:t> Réduction du </a:t>
            </a:r>
            <a:r>
              <a:rPr lang="fr-FR" dirty="0" err="1"/>
              <a:t>boilerplate</a:t>
            </a:r>
            <a:r>
              <a:rPr lang="fr-FR" dirty="0"/>
              <a:t> pour les classes imbriquées.</a:t>
            </a: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a:p>
        </p:txBody>
      </p:sp>
      <p:pic>
        <p:nvPicPr>
          <p:cNvPr id="4" name="Image 3"/>
          <p:cNvPicPr>
            <a:picLocks noChangeAspect="1"/>
          </p:cNvPicPr>
          <p:nvPr/>
        </p:nvPicPr>
        <p:blipFill>
          <a:blip r:embed="rId2"/>
          <a:stretch>
            <a:fillRect/>
          </a:stretch>
        </p:blipFill>
        <p:spPr>
          <a:xfrm>
            <a:off x="1257828" y="3060701"/>
            <a:ext cx="3952875" cy="2057400"/>
          </a:xfrm>
          <a:prstGeom prst="rect">
            <a:avLst/>
          </a:prstGeom>
        </p:spPr>
      </p:pic>
      <p:pic>
        <p:nvPicPr>
          <p:cNvPr id="5" name="Image 4"/>
          <p:cNvPicPr>
            <a:picLocks noChangeAspect="1"/>
          </p:cNvPicPr>
          <p:nvPr/>
        </p:nvPicPr>
        <p:blipFill>
          <a:blip r:embed="rId3"/>
          <a:stretch>
            <a:fillRect/>
          </a:stretch>
        </p:blipFill>
        <p:spPr>
          <a:xfrm>
            <a:off x="6785504" y="3060701"/>
            <a:ext cx="3362325" cy="2133600"/>
          </a:xfrm>
          <a:prstGeom prst="rect">
            <a:avLst/>
          </a:prstGeom>
        </p:spPr>
      </p:pic>
    </p:spTree>
    <p:extLst>
      <p:ext uri="{BB962C8B-B14F-4D97-AF65-F5344CB8AC3E}">
        <p14:creationId xmlns:p14="http://schemas.microsoft.com/office/powerpoint/2010/main" val="32571176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Autofit/>
          </a:bodyPr>
          <a:lstStyle/>
          <a:p>
            <a:pPr algn="ctr"/>
            <a:r>
              <a:rPr lang="fr-FR" sz="4000" b="1" dirty="0"/>
              <a:t>Suppression des modules JEE, </a:t>
            </a:r>
            <a:r>
              <a:rPr lang="fr-FR" sz="4000" b="1" dirty="0" err="1"/>
              <a:t>JavaFX</a:t>
            </a:r>
            <a:r>
              <a:rPr lang="fr-FR" sz="4000" b="1" dirty="0"/>
              <a:t> et CORBA</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2800" dirty="0"/>
              <a:t> Modules supprimés </a:t>
            </a:r>
            <a:r>
              <a:rPr lang="fr-FR" sz="2800" dirty="0" smtClean="0"/>
              <a:t>:</a:t>
            </a:r>
          </a:p>
          <a:p>
            <a:pPr lvl="1">
              <a:buFont typeface="Wingdings" panose="05000000000000000000" pitchFamily="2" charset="2"/>
              <a:buChar char="Ø"/>
            </a:pPr>
            <a:r>
              <a:rPr lang="fr-FR" sz="2400" dirty="0"/>
              <a:t> </a:t>
            </a:r>
            <a:r>
              <a:rPr lang="fr-FR" sz="2400" b="1" dirty="0"/>
              <a:t>JEE</a:t>
            </a:r>
            <a:r>
              <a:rPr lang="fr-FR" sz="2400" dirty="0"/>
              <a:t> (Java Enterprise Edition) </a:t>
            </a:r>
            <a:r>
              <a:rPr lang="fr-FR" sz="2400" dirty="0" smtClean="0"/>
              <a:t>:</a:t>
            </a:r>
          </a:p>
          <a:p>
            <a:pPr lvl="2">
              <a:buFont typeface="Wingdings" panose="05000000000000000000" pitchFamily="2" charset="2"/>
              <a:buChar char="Ø"/>
            </a:pPr>
            <a:r>
              <a:rPr lang="fr-FR" sz="1800" dirty="0"/>
              <a:t> Modules liés à JAXB, JAX-WS, etc</a:t>
            </a:r>
            <a:r>
              <a:rPr lang="fr-FR" sz="1800" dirty="0" smtClean="0"/>
              <a:t>.</a:t>
            </a:r>
          </a:p>
          <a:p>
            <a:pPr lvl="2">
              <a:buFont typeface="Wingdings" panose="05000000000000000000" pitchFamily="2" charset="2"/>
              <a:buChar char="Ø"/>
            </a:pPr>
            <a:r>
              <a:rPr lang="fr-FR" sz="1800" dirty="0"/>
              <a:t> Remplacés par des solutions externes comme Jakarta EE</a:t>
            </a:r>
            <a:r>
              <a:rPr lang="fr-FR" sz="1800" dirty="0" smtClean="0"/>
              <a:t>.</a:t>
            </a:r>
          </a:p>
          <a:p>
            <a:pPr lvl="1">
              <a:buFont typeface="Wingdings" panose="05000000000000000000" pitchFamily="2" charset="2"/>
              <a:buChar char="Ø"/>
            </a:pPr>
            <a:r>
              <a:rPr lang="fr-FR" sz="2400" dirty="0"/>
              <a:t> </a:t>
            </a:r>
            <a:r>
              <a:rPr lang="fr-FR" sz="2400" b="1" dirty="0" err="1"/>
              <a:t>JavaFX</a:t>
            </a:r>
            <a:r>
              <a:rPr lang="fr-FR" sz="2400" dirty="0"/>
              <a:t> </a:t>
            </a:r>
            <a:r>
              <a:rPr lang="fr-FR" sz="2400" dirty="0" smtClean="0"/>
              <a:t>:</a:t>
            </a:r>
          </a:p>
          <a:p>
            <a:pPr lvl="2">
              <a:buFont typeface="Wingdings" panose="05000000000000000000" pitchFamily="2" charset="2"/>
              <a:buChar char="Ø"/>
            </a:pPr>
            <a:r>
              <a:rPr lang="fr-FR" sz="1800" dirty="0"/>
              <a:t> Retiré de la JDK et distribué séparément pour alléger la plateforme</a:t>
            </a:r>
            <a:r>
              <a:rPr lang="fr-FR" sz="1800" dirty="0" smtClean="0"/>
              <a:t>.</a:t>
            </a:r>
          </a:p>
          <a:p>
            <a:pPr lvl="1">
              <a:buFont typeface="Wingdings" panose="05000000000000000000" pitchFamily="2" charset="2"/>
              <a:buChar char="Ø"/>
            </a:pPr>
            <a:r>
              <a:rPr lang="fr-FR" sz="2400" dirty="0"/>
              <a:t> </a:t>
            </a:r>
            <a:r>
              <a:rPr lang="fr-FR" sz="2400" b="1" dirty="0"/>
              <a:t>CORBA</a:t>
            </a:r>
            <a:r>
              <a:rPr lang="fr-FR" sz="2400" dirty="0"/>
              <a:t> </a:t>
            </a:r>
            <a:r>
              <a:rPr lang="fr-FR" sz="2400" dirty="0" smtClean="0"/>
              <a:t>:</a:t>
            </a:r>
          </a:p>
          <a:p>
            <a:pPr lvl="2">
              <a:buFont typeface="Wingdings" panose="05000000000000000000" pitchFamily="2" charset="2"/>
              <a:buChar char="Ø"/>
            </a:pPr>
            <a:r>
              <a:rPr lang="fr-FR" sz="1800" dirty="0"/>
              <a:t> Protocole obsolète pour les communications distribuées</a:t>
            </a:r>
            <a:r>
              <a:rPr lang="fr-FR" sz="1800" dirty="0" smtClean="0"/>
              <a:t>.</a:t>
            </a:r>
          </a:p>
          <a:p>
            <a:pPr lvl="1">
              <a:buFont typeface="Wingdings" panose="05000000000000000000" pitchFamily="2" charset="2"/>
              <a:buChar char="Ø"/>
            </a:pPr>
            <a:r>
              <a:rPr lang="fr-FR" sz="2400" dirty="0"/>
              <a:t> Impacts </a:t>
            </a:r>
            <a:r>
              <a:rPr lang="fr-FR" sz="2400" dirty="0" smtClean="0"/>
              <a:t>:</a:t>
            </a:r>
          </a:p>
          <a:p>
            <a:pPr lvl="2">
              <a:buFont typeface="Wingdings" panose="05000000000000000000" pitchFamily="2" charset="2"/>
              <a:buChar char="Ø"/>
            </a:pPr>
            <a:r>
              <a:rPr lang="fr-FR" sz="1800" dirty="0"/>
              <a:t> Réduction de la taille de la JDK</a:t>
            </a:r>
            <a:r>
              <a:rPr lang="fr-FR" sz="1800" dirty="0" smtClean="0"/>
              <a:t>.</a:t>
            </a:r>
          </a:p>
          <a:p>
            <a:pPr lvl="2">
              <a:buFont typeface="Wingdings" panose="05000000000000000000" pitchFamily="2" charset="2"/>
              <a:buChar char="Ø"/>
            </a:pPr>
            <a:r>
              <a:rPr lang="fr-FR" sz="1800" dirty="0"/>
              <a:t> Encouragement à utiliser des bibliothèques spécialisées pour les fonctionnalités </a:t>
            </a:r>
            <a:r>
              <a:rPr lang="fr-FR" sz="1800" dirty="0" smtClean="0"/>
              <a:t>avancées.9</a:t>
            </a:r>
            <a:endParaRPr lang="fr-FR" sz="1800" dirty="0"/>
          </a:p>
        </p:txBody>
      </p:sp>
    </p:spTree>
    <p:extLst>
      <p:ext uri="{BB962C8B-B14F-4D97-AF65-F5344CB8AC3E}">
        <p14:creationId xmlns:p14="http://schemas.microsoft.com/office/powerpoint/2010/main" val="2872674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Les inférences de type simplifient les expressions </a:t>
            </a:r>
            <a:r>
              <a:rPr lang="fr-FR" sz="2800" b="1" dirty="0" err="1"/>
              <a:t>lambdas</a:t>
            </a:r>
            <a:r>
              <a:rPr lang="fr-FR" sz="2800" dirty="0" smtClean="0"/>
              <a:t>.</a:t>
            </a:r>
          </a:p>
          <a:p>
            <a:pPr algn="just">
              <a:lnSpc>
                <a:spcPct val="150000"/>
              </a:lnSpc>
              <a:buFont typeface="Wingdings" panose="05000000000000000000" pitchFamily="2" charset="2"/>
              <a:buChar char="Ø"/>
            </a:pPr>
            <a:r>
              <a:rPr lang="fr-FR" sz="2800" dirty="0"/>
              <a:t> La simplification des exécutions et les améliorations des classes renforcent la productivité</a:t>
            </a:r>
            <a:r>
              <a:rPr lang="fr-FR" sz="2800" dirty="0" smtClean="0"/>
              <a:t>.</a:t>
            </a:r>
          </a:p>
          <a:p>
            <a:pPr algn="just">
              <a:lnSpc>
                <a:spcPct val="150000"/>
              </a:lnSpc>
              <a:buFont typeface="Wingdings" panose="05000000000000000000" pitchFamily="2" charset="2"/>
              <a:buChar char="Ø"/>
            </a:pPr>
            <a:r>
              <a:rPr lang="fr-FR" sz="2800" dirty="0"/>
              <a:t> La suppression de modules obsolètes allège la plateforme pour un Java plus moderne.</a:t>
            </a:r>
          </a:p>
        </p:txBody>
      </p:sp>
    </p:spTree>
    <p:extLst>
      <p:ext uri="{BB962C8B-B14F-4D97-AF65-F5344CB8AC3E}">
        <p14:creationId xmlns:p14="http://schemas.microsoft.com/office/powerpoint/2010/main" val="70841518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Atelier</a:t>
            </a:r>
            <a:endParaRPr lang="fr-FR" dirty="0"/>
          </a:p>
        </p:txBody>
      </p:sp>
      <p:sp>
        <p:nvSpPr>
          <p:cNvPr id="3" name="Espace réservé du contenu 2"/>
          <p:cNvSpPr>
            <a:spLocks noGrp="1"/>
          </p:cNvSpPr>
          <p:nvPr>
            <p:ph idx="1"/>
          </p:nvPr>
        </p:nvSpPr>
        <p:spPr/>
        <p:txBody>
          <a:bodyPr>
            <a:normAutofit/>
          </a:bodyPr>
          <a:lstStyle/>
          <a:p>
            <a:pPr>
              <a:lnSpc>
                <a:spcPct val="200000"/>
              </a:lnSpc>
            </a:pPr>
            <a:r>
              <a:rPr lang="fr-FR" sz="3200" dirty="0"/>
              <a:t>Test des fonctionnalités apportées par la JDK </a:t>
            </a:r>
            <a:r>
              <a:rPr lang="fr-FR" sz="3200" dirty="0" smtClean="0"/>
              <a:t>11</a:t>
            </a:r>
          </a:p>
          <a:p>
            <a:pPr marL="457200" indent="-457200">
              <a:lnSpc>
                <a:spcPct val="200000"/>
              </a:lnSpc>
              <a:buFont typeface="+mj-lt"/>
              <a:buAutoNum type="arabicPeriod"/>
            </a:pPr>
            <a:r>
              <a:rPr lang="fr-FR" sz="3200" b="1" dirty="0" smtClean="0"/>
              <a:t> </a:t>
            </a:r>
            <a:r>
              <a:rPr lang="fr-FR" sz="3200" b="1" dirty="0"/>
              <a:t>Nouvelles méthodes de </a:t>
            </a:r>
            <a:r>
              <a:rPr lang="fr-FR" sz="3200" b="1" dirty="0" smtClean="0"/>
              <a:t>String</a:t>
            </a:r>
          </a:p>
        </p:txBody>
      </p:sp>
    </p:spTree>
    <p:extLst>
      <p:ext uri="{BB962C8B-B14F-4D97-AF65-F5344CB8AC3E}">
        <p14:creationId xmlns:p14="http://schemas.microsoft.com/office/powerpoint/2010/main" val="210923383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 Nouvelles méthodes de </a:t>
            </a:r>
            <a:r>
              <a:rPr lang="fr-FR" b="1" dirty="0" smtClean="0"/>
              <a:t>String</a:t>
            </a:r>
            <a:endParaRPr lang="fr-FR" dirty="0"/>
          </a:p>
        </p:txBody>
      </p:sp>
      <p:pic>
        <p:nvPicPr>
          <p:cNvPr id="4" name="Espace réservé du contenu 3"/>
          <p:cNvPicPr>
            <a:picLocks noGrp="1" noChangeAspect="1"/>
          </p:cNvPicPr>
          <p:nvPr>
            <p:ph idx="1"/>
          </p:nvPr>
        </p:nvPicPr>
        <p:blipFill>
          <a:blip r:embed="rId2"/>
          <a:stretch>
            <a:fillRect/>
          </a:stretch>
        </p:blipFill>
        <p:spPr>
          <a:xfrm>
            <a:off x="1097280" y="2218267"/>
            <a:ext cx="10058400" cy="30818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4544769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Apports de la JDK 12 et 13</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2800" dirty="0"/>
              <a:t> </a:t>
            </a:r>
            <a:r>
              <a:rPr lang="fr-FR" sz="2800" dirty="0" smtClean="0"/>
              <a:t>Les </a:t>
            </a:r>
            <a:r>
              <a:rPr lang="fr-FR" sz="2800" dirty="0"/>
              <a:t>apports introduits par la JDK 12 et JDK 13, </a:t>
            </a:r>
            <a:r>
              <a:rPr lang="fr-FR" sz="2800" dirty="0" smtClean="0"/>
              <a:t>inclut </a:t>
            </a:r>
            <a:r>
              <a:rPr lang="fr-FR" sz="2800" dirty="0"/>
              <a:t>des fonctionnalités marquantes comme les améliorations du </a:t>
            </a:r>
            <a:r>
              <a:rPr lang="fr-FR" sz="2800" b="1" dirty="0" smtClean="0"/>
              <a:t>switch</a:t>
            </a:r>
            <a:r>
              <a:rPr lang="fr-FR" sz="2800" dirty="0" smtClean="0"/>
              <a:t>, </a:t>
            </a:r>
            <a:r>
              <a:rPr lang="fr-FR" sz="2800" dirty="0"/>
              <a:t>les blocs de texte, le mot-clé </a:t>
            </a:r>
            <a:r>
              <a:rPr lang="fr-FR" sz="2800" b="1" dirty="0" err="1"/>
              <a:t>yield</a:t>
            </a:r>
            <a:r>
              <a:rPr lang="fr-FR" sz="2800" dirty="0"/>
              <a:t>, ainsi que des outils pratiques.</a:t>
            </a:r>
          </a:p>
        </p:txBody>
      </p:sp>
    </p:spTree>
    <p:extLst>
      <p:ext uri="{BB962C8B-B14F-4D97-AF65-F5344CB8AC3E}">
        <p14:creationId xmlns:p14="http://schemas.microsoft.com/office/powerpoint/2010/main" val="4216662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 switch comme instruction et expression (JDK 12 &amp; JDK 13)</a:t>
            </a:r>
          </a:p>
        </p:txBody>
      </p:sp>
      <p:sp>
        <p:nvSpPr>
          <p:cNvPr id="3" name="Espace réservé du contenu 2"/>
          <p:cNvSpPr>
            <a:spLocks noGrp="1"/>
          </p:cNvSpPr>
          <p:nvPr>
            <p:ph idx="1"/>
          </p:nvPr>
        </p:nvSpPr>
        <p:spPr/>
        <p:txBody>
          <a:bodyPr>
            <a:normAutofit lnSpcReduction="10000"/>
          </a:bodyPr>
          <a:lstStyle/>
          <a:p>
            <a:pPr>
              <a:buFont typeface="Wingdings" panose="05000000000000000000" pitchFamily="2" charset="2"/>
              <a:buChar char="Ø"/>
            </a:pPr>
            <a:r>
              <a:rPr lang="fr-FR" dirty="0"/>
              <a:t> Problème avant JDK 12 </a:t>
            </a:r>
            <a:r>
              <a:rPr lang="fr-FR" dirty="0" smtClean="0"/>
              <a:t>:</a:t>
            </a:r>
          </a:p>
          <a:p>
            <a:pPr lvl="1">
              <a:buFont typeface="Wingdings" panose="05000000000000000000" pitchFamily="2" charset="2"/>
              <a:buChar char="Ø"/>
            </a:pPr>
            <a:r>
              <a:rPr lang="fr-FR" dirty="0"/>
              <a:t> Le switch ne pouvait être utilisé que comme une instruction impérative. Il exigeait souvent plusieurs lignes de code, même pour des cas simples, et nécessitait des break explicites pour éviter les exécutions involontaires en cascade</a:t>
            </a:r>
            <a:r>
              <a:rPr lang="fr-FR" dirty="0" smtClean="0"/>
              <a:t>.</a:t>
            </a:r>
          </a:p>
          <a:p>
            <a:pPr>
              <a:buFont typeface="Wingdings" panose="05000000000000000000" pitchFamily="2" charset="2"/>
              <a:buChar char="Ø"/>
            </a:pPr>
            <a:r>
              <a:rPr lang="fr-FR" dirty="0"/>
              <a:t> Améliorations </a:t>
            </a:r>
            <a:r>
              <a:rPr lang="fr-FR" dirty="0" smtClean="0"/>
              <a:t>:</a:t>
            </a:r>
          </a:p>
          <a:p>
            <a:pPr lvl="1">
              <a:buFont typeface="Wingdings" panose="05000000000000000000" pitchFamily="2" charset="2"/>
              <a:buChar char="Ø"/>
            </a:pPr>
            <a:r>
              <a:rPr lang="fr-FR" dirty="0"/>
              <a:t> Switch comme une expression : Avec les nouvelles versions, switch peut retourner une valeur, simplifiant le code</a:t>
            </a:r>
            <a:r>
              <a:rPr lang="fr-FR" dirty="0" smtClean="0"/>
              <a:t>.</a:t>
            </a:r>
          </a:p>
          <a:p>
            <a:pPr lvl="1">
              <a:buFont typeface="Wingdings" panose="05000000000000000000" pitchFamily="2" charset="2"/>
              <a:buChar char="Ø"/>
            </a:pPr>
            <a:r>
              <a:rPr lang="fr-FR" dirty="0"/>
              <a:t> </a:t>
            </a:r>
            <a:r>
              <a:rPr lang="fr-FR" dirty="0" smtClean="0"/>
              <a:t>Exemple :</a:t>
            </a:r>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r>
              <a:rPr lang="fr-FR" dirty="0"/>
              <a:t> Flèches (-&gt;) au lieu de case + break : Elles permettent de rendre le code plus lisible et d’éliminer le besoin de break.</a:t>
            </a:r>
          </a:p>
        </p:txBody>
      </p:sp>
      <p:pic>
        <p:nvPicPr>
          <p:cNvPr id="6" name="Image 5"/>
          <p:cNvPicPr>
            <a:picLocks noChangeAspect="1"/>
          </p:cNvPicPr>
          <p:nvPr/>
        </p:nvPicPr>
        <p:blipFill>
          <a:blip r:embed="rId2"/>
          <a:stretch>
            <a:fillRect/>
          </a:stretch>
        </p:blipFill>
        <p:spPr>
          <a:xfrm>
            <a:off x="3621460" y="3857414"/>
            <a:ext cx="3514725" cy="1209675"/>
          </a:xfrm>
          <a:prstGeom prst="rect">
            <a:avLst/>
          </a:prstGeom>
        </p:spPr>
      </p:pic>
    </p:spTree>
    <p:extLst>
      <p:ext uri="{BB962C8B-B14F-4D97-AF65-F5344CB8AC3E}">
        <p14:creationId xmlns:p14="http://schemas.microsoft.com/office/powerpoint/2010/main" val="8632254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Avantages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Code plus lisible</a:t>
            </a:r>
            <a:r>
              <a:rPr lang="fr-FR" sz="3200" dirty="0" smtClean="0"/>
              <a:t>.</a:t>
            </a:r>
          </a:p>
          <a:p>
            <a:pPr algn="just">
              <a:lnSpc>
                <a:spcPct val="150000"/>
              </a:lnSpc>
              <a:buFont typeface="Wingdings" panose="05000000000000000000" pitchFamily="2" charset="2"/>
              <a:buChar char="Ø"/>
            </a:pPr>
            <a:r>
              <a:rPr lang="fr-FR" sz="3200" dirty="0"/>
              <a:t> Moins de risques d’erreurs dues à l’oubli de break</a:t>
            </a:r>
            <a:r>
              <a:rPr lang="fr-FR" sz="3200" dirty="0" smtClean="0"/>
              <a:t>.</a:t>
            </a:r>
          </a:p>
          <a:p>
            <a:pPr algn="just">
              <a:lnSpc>
                <a:spcPct val="150000"/>
              </a:lnSpc>
              <a:buFont typeface="Wingdings" panose="05000000000000000000" pitchFamily="2" charset="2"/>
              <a:buChar char="Ø"/>
            </a:pPr>
            <a:r>
              <a:rPr lang="fr-FR" sz="3200" dirty="0"/>
              <a:t> Convient à la programmation fonctionnelle grâce au retour direct de valeurs.</a:t>
            </a:r>
          </a:p>
        </p:txBody>
      </p:sp>
    </p:spTree>
    <p:extLst>
      <p:ext uri="{BB962C8B-B14F-4D97-AF65-F5344CB8AC3E}">
        <p14:creationId xmlns:p14="http://schemas.microsoft.com/office/powerpoint/2010/main" val="221377192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Les blocs de texte (</a:t>
            </a:r>
            <a:r>
              <a:rPr lang="fr-FR" b="1" dirty="0" err="1"/>
              <a:t>Text</a:t>
            </a:r>
            <a:r>
              <a:rPr lang="fr-FR" b="1" dirty="0"/>
              <a:t> Blocks) – JDK 13</a:t>
            </a:r>
          </a:p>
        </p:txBody>
      </p:sp>
      <p:sp>
        <p:nvSpPr>
          <p:cNvPr id="3" name="Espace réservé du contenu 2"/>
          <p:cNvSpPr>
            <a:spLocks noGrp="1"/>
          </p:cNvSpPr>
          <p:nvPr>
            <p:ph idx="1"/>
          </p:nvPr>
        </p:nvSpPr>
        <p:spPr>
          <a:xfrm>
            <a:off x="1097280" y="1679787"/>
            <a:ext cx="10058400" cy="4023360"/>
          </a:xfrm>
        </p:spPr>
        <p:txBody>
          <a:bodyPr>
            <a:noAutofit/>
          </a:bodyPr>
          <a:lstStyle/>
          <a:p>
            <a:pPr algn="just">
              <a:lnSpc>
                <a:spcPct val="100000"/>
              </a:lnSpc>
              <a:buFont typeface="Wingdings" panose="05000000000000000000" pitchFamily="2" charset="2"/>
              <a:buChar char="Ø"/>
            </a:pPr>
            <a:r>
              <a:rPr lang="fr-FR" sz="3200" dirty="0"/>
              <a:t> Problème avant JDK 13 </a:t>
            </a:r>
            <a:r>
              <a:rPr lang="fr-FR" sz="3200" dirty="0" smtClean="0"/>
              <a:t>:</a:t>
            </a:r>
          </a:p>
          <a:p>
            <a:pPr lvl="1" algn="just">
              <a:lnSpc>
                <a:spcPct val="100000"/>
              </a:lnSpc>
              <a:buFont typeface="Wingdings" panose="05000000000000000000" pitchFamily="2" charset="2"/>
              <a:buChar char="Ø"/>
            </a:pPr>
            <a:r>
              <a:rPr lang="fr-FR" sz="2800" dirty="0"/>
              <a:t> Pour inclure de longues chaînes multi-lignes (comme du HTML, JSON, ou SQL), il fallait concaténer les lignes avec +, ce qui rendait le code difficile à lire</a:t>
            </a:r>
            <a:r>
              <a:rPr lang="fr-FR" sz="2800" dirty="0" smtClean="0"/>
              <a:t>.</a:t>
            </a:r>
          </a:p>
          <a:p>
            <a:pPr algn="just">
              <a:lnSpc>
                <a:spcPct val="100000"/>
              </a:lnSpc>
              <a:buFont typeface="Wingdings" panose="05000000000000000000" pitchFamily="2" charset="2"/>
              <a:buChar char="Ø"/>
            </a:pPr>
            <a:r>
              <a:rPr lang="fr-FR" sz="3200" dirty="0"/>
              <a:t> Introduction des blocs de </a:t>
            </a:r>
            <a:r>
              <a:rPr lang="fr-FR" sz="3200" dirty="0" smtClean="0"/>
              <a:t>texte :</a:t>
            </a:r>
          </a:p>
          <a:p>
            <a:pPr lvl="1" algn="just">
              <a:lnSpc>
                <a:spcPct val="100000"/>
              </a:lnSpc>
              <a:buFont typeface="Wingdings" panose="05000000000000000000" pitchFamily="2" charset="2"/>
              <a:buChar char="Ø"/>
            </a:pPr>
            <a:r>
              <a:rPr lang="fr-FR" sz="2800" dirty="0"/>
              <a:t> Un bloc de texte est une chaîne multi-lignes entourée de triples guillemets ("""), introduisant </a:t>
            </a:r>
            <a:r>
              <a:rPr lang="fr-FR" sz="2800" dirty="0" smtClean="0"/>
              <a:t>:</a:t>
            </a:r>
          </a:p>
          <a:p>
            <a:pPr lvl="2" algn="just">
              <a:lnSpc>
                <a:spcPct val="100000"/>
              </a:lnSpc>
              <a:buFont typeface="Wingdings" panose="05000000000000000000" pitchFamily="2" charset="2"/>
              <a:buChar char="Ø"/>
            </a:pPr>
            <a:r>
              <a:rPr lang="fr-FR" sz="2000" dirty="0"/>
              <a:t> Une syntaxe simplifiée pour les chaînes multi-lignes</a:t>
            </a:r>
            <a:r>
              <a:rPr lang="fr-FR" sz="2000" dirty="0" smtClean="0"/>
              <a:t>.</a:t>
            </a:r>
          </a:p>
          <a:p>
            <a:pPr lvl="2" algn="just">
              <a:lnSpc>
                <a:spcPct val="100000"/>
              </a:lnSpc>
              <a:buFont typeface="Wingdings" panose="05000000000000000000" pitchFamily="2" charset="2"/>
              <a:buChar char="Ø"/>
            </a:pPr>
            <a:r>
              <a:rPr lang="fr-FR" sz="2000" dirty="0"/>
              <a:t> Une gestion automatique des retours à la ligne et des espaces inutiles.</a:t>
            </a:r>
          </a:p>
        </p:txBody>
      </p:sp>
    </p:spTree>
    <p:extLst>
      <p:ext uri="{BB962C8B-B14F-4D97-AF65-F5344CB8AC3E}">
        <p14:creationId xmlns:p14="http://schemas.microsoft.com/office/powerpoint/2010/main" val="353169928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chor="ctr"/>
          <a:lstStyle/>
          <a:p>
            <a:pPr algn="ctr"/>
            <a:r>
              <a:rPr lang="fr-FR" b="1" dirty="0"/>
              <a:t>Exemple</a:t>
            </a:r>
          </a:p>
        </p:txBody>
      </p:sp>
      <p:sp>
        <p:nvSpPr>
          <p:cNvPr id="5" name="Espace réservé du texte 4"/>
          <p:cNvSpPr>
            <a:spLocks noGrp="1"/>
          </p:cNvSpPr>
          <p:nvPr>
            <p:ph type="body" idx="1"/>
          </p:nvPr>
        </p:nvSpPr>
        <p:spPr/>
        <p:txBody>
          <a:bodyPr/>
          <a:lstStyle/>
          <a:p>
            <a:r>
              <a:rPr lang="fr-FR" dirty="0"/>
              <a:t>Avant JDK 13 :</a:t>
            </a:r>
          </a:p>
        </p:txBody>
      </p:sp>
      <p:pic>
        <p:nvPicPr>
          <p:cNvPr id="9" name="Espace réservé du contenu 8"/>
          <p:cNvPicPr>
            <a:picLocks noGrp="1" noChangeAspect="1"/>
          </p:cNvPicPr>
          <p:nvPr>
            <p:ph sz="half" idx="2"/>
          </p:nvPr>
        </p:nvPicPr>
        <p:blipFill>
          <a:blip r:embed="rId2"/>
          <a:stretch>
            <a:fillRect/>
          </a:stretch>
        </p:blipFill>
        <p:spPr>
          <a:xfrm>
            <a:off x="1097280" y="3014133"/>
            <a:ext cx="4150201" cy="20150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Espace réservé du texte 6"/>
          <p:cNvSpPr>
            <a:spLocks noGrp="1"/>
          </p:cNvSpPr>
          <p:nvPr>
            <p:ph type="body" sz="quarter" idx="3"/>
          </p:nvPr>
        </p:nvSpPr>
        <p:spPr/>
        <p:txBody>
          <a:bodyPr/>
          <a:lstStyle/>
          <a:p>
            <a:r>
              <a:rPr lang="fr-FR" dirty="0"/>
              <a:t>Avec JDK 13 :</a:t>
            </a:r>
          </a:p>
        </p:txBody>
      </p:sp>
      <p:pic>
        <p:nvPicPr>
          <p:cNvPr id="10" name="Espace réservé du contenu 9"/>
          <p:cNvPicPr>
            <a:picLocks noGrp="1" noChangeAspect="1"/>
          </p:cNvPicPr>
          <p:nvPr>
            <p:ph sz="quarter" idx="4"/>
          </p:nvPr>
        </p:nvPicPr>
        <p:blipFill>
          <a:blip r:embed="rId3"/>
          <a:stretch>
            <a:fillRect/>
          </a:stretch>
        </p:blipFill>
        <p:spPr>
          <a:xfrm>
            <a:off x="6874933" y="3014134"/>
            <a:ext cx="3826933" cy="20150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6476844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chor="ctr"/>
          <a:lstStyle/>
          <a:p>
            <a:pPr algn="ctr"/>
            <a:r>
              <a:rPr lang="fr-FR" b="1" dirty="0"/>
              <a:t>Avantages</a:t>
            </a:r>
          </a:p>
        </p:txBody>
      </p:sp>
      <p:sp>
        <p:nvSpPr>
          <p:cNvPr id="8" name="Espace réservé du contenu 7"/>
          <p:cNvSpPr>
            <a:spLocks noGrp="1"/>
          </p:cNvSpPr>
          <p:nvPr>
            <p:ph idx="1"/>
          </p:nvPr>
        </p:nvSpPr>
        <p:spPr/>
        <p:txBody>
          <a:bodyPr>
            <a:normAutofit/>
          </a:bodyPr>
          <a:lstStyle/>
          <a:p>
            <a:pPr>
              <a:lnSpc>
                <a:spcPct val="200000"/>
              </a:lnSpc>
              <a:buFont typeface="Wingdings" panose="05000000000000000000" pitchFamily="2" charset="2"/>
              <a:buChar char="Ø"/>
            </a:pPr>
            <a:r>
              <a:rPr lang="fr-FR" sz="2800" dirty="0"/>
              <a:t> </a:t>
            </a:r>
            <a:r>
              <a:rPr lang="fr-FR" sz="2800" dirty="0" smtClean="0"/>
              <a:t> Meilleure </a:t>
            </a:r>
            <a:r>
              <a:rPr lang="fr-FR" sz="2800" dirty="0"/>
              <a:t>lisibilité du code.</a:t>
            </a:r>
          </a:p>
          <a:p>
            <a:pPr>
              <a:lnSpc>
                <a:spcPct val="200000"/>
              </a:lnSpc>
              <a:buFont typeface="Wingdings" panose="05000000000000000000" pitchFamily="2" charset="2"/>
              <a:buChar char="Ø"/>
            </a:pPr>
            <a:r>
              <a:rPr lang="fr-FR" sz="2800" dirty="0" smtClean="0"/>
              <a:t>  Moins </a:t>
            </a:r>
            <a:r>
              <a:rPr lang="fr-FR" sz="2800" dirty="0"/>
              <a:t>de manipulations manuelles pour gérer les chaînes.</a:t>
            </a:r>
          </a:p>
          <a:p>
            <a:pPr>
              <a:lnSpc>
                <a:spcPct val="200000"/>
              </a:lnSpc>
              <a:buFont typeface="Wingdings" panose="05000000000000000000" pitchFamily="2" charset="2"/>
              <a:buChar char="Ø"/>
            </a:pPr>
            <a:endParaRPr lang="fr-FR" sz="2800" dirty="0"/>
          </a:p>
        </p:txBody>
      </p:sp>
    </p:spTree>
    <p:extLst>
      <p:ext uri="{BB962C8B-B14F-4D97-AF65-F5344CB8AC3E}">
        <p14:creationId xmlns:p14="http://schemas.microsoft.com/office/powerpoint/2010/main" val="268257312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 mot-clé </a:t>
            </a:r>
            <a:r>
              <a:rPr lang="fr-FR" b="1" dirty="0" err="1"/>
              <a:t>yield</a:t>
            </a:r>
            <a:r>
              <a:rPr lang="fr-FR" b="1" dirty="0"/>
              <a:t> – JDK 13</a:t>
            </a:r>
          </a:p>
        </p:txBody>
      </p:sp>
      <p:sp>
        <p:nvSpPr>
          <p:cNvPr id="3" name="Espace réservé du contenu 2"/>
          <p:cNvSpPr>
            <a:spLocks noGrp="1"/>
          </p:cNvSpPr>
          <p:nvPr>
            <p:ph idx="1"/>
          </p:nvPr>
        </p:nvSpPr>
        <p:spPr/>
        <p:txBody>
          <a:bodyPr>
            <a:normAutofit lnSpcReduction="10000"/>
          </a:bodyPr>
          <a:lstStyle/>
          <a:p>
            <a:pPr>
              <a:buFont typeface="Wingdings" panose="05000000000000000000" pitchFamily="2" charset="2"/>
              <a:buChar char="Ø"/>
            </a:pPr>
            <a:r>
              <a:rPr lang="fr-FR" dirty="0"/>
              <a:t> Contexte </a:t>
            </a:r>
            <a:r>
              <a:rPr lang="fr-FR" dirty="0" smtClean="0"/>
              <a:t>:</a:t>
            </a:r>
          </a:p>
          <a:p>
            <a:pPr lvl="1">
              <a:buFont typeface="Wingdings" panose="05000000000000000000" pitchFamily="2" charset="2"/>
              <a:buChar char="Ø"/>
            </a:pPr>
            <a:r>
              <a:rPr lang="fr-FR" dirty="0"/>
              <a:t> Lors de l’utilisation de switch comme expression, il est parfois nécessaire de retourner une valeur complexe ou conditionnelle. Le mot-clé </a:t>
            </a:r>
            <a:r>
              <a:rPr lang="fr-FR" dirty="0" err="1"/>
              <a:t>yield</a:t>
            </a:r>
            <a:r>
              <a:rPr lang="fr-FR" dirty="0"/>
              <a:t> permet de fournir une valeur à partir d’un bloc de code dans un switch</a:t>
            </a:r>
            <a:r>
              <a:rPr lang="fr-FR" dirty="0" smtClean="0"/>
              <a:t>.</a:t>
            </a:r>
          </a:p>
          <a:p>
            <a:pPr lvl="1">
              <a:buFont typeface="Wingdings" panose="05000000000000000000" pitchFamily="2" charset="2"/>
              <a:buChar char="Ø"/>
            </a:pPr>
            <a:r>
              <a:rPr lang="fr-FR" dirty="0"/>
              <a:t> </a:t>
            </a:r>
            <a:r>
              <a:rPr lang="fr-FR" dirty="0" smtClean="0"/>
              <a:t>Exemple :</a:t>
            </a:r>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r>
              <a:rPr lang="fr-FR" dirty="0"/>
              <a:t> Avantages </a:t>
            </a:r>
            <a:r>
              <a:rPr lang="fr-FR" dirty="0" smtClean="0"/>
              <a:t>:</a:t>
            </a:r>
          </a:p>
          <a:p>
            <a:pPr lvl="2">
              <a:buFont typeface="Wingdings" panose="05000000000000000000" pitchFamily="2" charset="2"/>
              <a:buChar char="Ø"/>
            </a:pPr>
            <a:r>
              <a:rPr lang="fr-FR" dirty="0"/>
              <a:t> Permet de gérer des calculs complexes directement dans une expression switch</a:t>
            </a:r>
            <a:r>
              <a:rPr lang="fr-FR" dirty="0" smtClean="0"/>
              <a:t>.</a:t>
            </a:r>
          </a:p>
          <a:p>
            <a:pPr lvl="2">
              <a:buFont typeface="Wingdings" panose="05000000000000000000" pitchFamily="2" charset="2"/>
              <a:buChar char="Ø"/>
            </a:pPr>
            <a:r>
              <a:rPr lang="fr-FR" dirty="0"/>
              <a:t> Plus intuitif et conforme à la syntaxe moderne.</a:t>
            </a:r>
          </a:p>
        </p:txBody>
      </p:sp>
      <p:pic>
        <p:nvPicPr>
          <p:cNvPr id="7" name="Image 6"/>
          <p:cNvPicPr>
            <a:picLocks noChangeAspect="1"/>
          </p:cNvPicPr>
          <p:nvPr/>
        </p:nvPicPr>
        <p:blipFill>
          <a:blip r:embed="rId2"/>
          <a:stretch>
            <a:fillRect/>
          </a:stretch>
        </p:blipFill>
        <p:spPr>
          <a:xfrm>
            <a:off x="3327929" y="2699133"/>
            <a:ext cx="5309295" cy="2239050"/>
          </a:xfrm>
          <a:prstGeom prst="rect">
            <a:avLst/>
          </a:prstGeom>
        </p:spPr>
      </p:pic>
    </p:spTree>
    <p:extLst>
      <p:ext uri="{BB962C8B-B14F-4D97-AF65-F5344CB8AC3E}">
        <p14:creationId xmlns:p14="http://schemas.microsoft.com/office/powerpoint/2010/main" val="292522301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Les outils apportés par la JDK 12 et JDK 13</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JDK 12 : JEP 346 – Prompt </a:t>
            </a:r>
            <a:r>
              <a:rPr lang="fr-FR" sz="2800" dirty="0" err="1"/>
              <a:t>Garbage</a:t>
            </a:r>
            <a:r>
              <a:rPr lang="fr-FR" sz="2800" dirty="0"/>
              <a:t> Collection (GC</a:t>
            </a:r>
            <a:r>
              <a:rPr lang="fr-FR" sz="2800" dirty="0" smtClean="0"/>
              <a:t>)</a:t>
            </a:r>
          </a:p>
          <a:p>
            <a:pPr algn="just">
              <a:lnSpc>
                <a:spcPct val="150000"/>
              </a:lnSpc>
              <a:buFont typeface="Wingdings" panose="05000000000000000000" pitchFamily="2" charset="2"/>
              <a:buChar char="Ø"/>
            </a:pPr>
            <a:r>
              <a:rPr lang="fr-FR" sz="2800" dirty="0"/>
              <a:t> </a:t>
            </a:r>
            <a:r>
              <a:rPr lang="en-US" sz="2800" dirty="0"/>
              <a:t>JDK 13 : Reimplementation of the Legacy Socket API (JEP 353</a:t>
            </a:r>
            <a:r>
              <a:rPr lang="en-US" sz="2800" dirty="0" smtClean="0"/>
              <a:t>)</a:t>
            </a:r>
          </a:p>
          <a:p>
            <a:pPr algn="just">
              <a:lnSpc>
                <a:spcPct val="150000"/>
              </a:lnSpc>
              <a:buFont typeface="Wingdings" panose="05000000000000000000" pitchFamily="2" charset="2"/>
              <a:buChar char="Ø"/>
            </a:pPr>
            <a:r>
              <a:rPr lang="en-US" sz="2800" dirty="0"/>
              <a:t> </a:t>
            </a:r>
            <a:r>
              <a:rPr lang="fr-FR" sz="2800" dirty="0"/>
              <a:t>JDK Flight Recorder (JFR)</a:t>
            </a:r>
          </a:p>
        </p:txBody>
      </p:sp>
    </p:spTree>
    <p:extLst>
      <p:ext uri="{BB962C8B-B14F-4D97-AF65-F5344CB8AC3E}">
        <p14:creationId xmlns:p14="http://schemas.microsoft.com/office/powerpoint/2010/main" val="382135028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JDK 12 : JEP 346 – Prompt </a:t>
            </a:r>
            <a:r>
              <a:rPr lang="fr-FR" sz="4000" b="1" dirty="0" err="1"/>
              <a:t>Garbage</a:t>
            </a:r>
            <a:r>
              <a:rPr lang="fr-FR" sz="4000" b="1" dirty="0"/>
              <a:t> Collection (GC)</a:t>
            </a:r>
            <a:endParaRPr lang="fr-FR" sz="4000" dirty="0"/>
          </a:p>
        </p:txBody>
      </p:sp>
      <p:sp>
        <p:nvSpPr>
          <p:cNvPr id="3" name="Espace réservé du contenu 2"/>
          <p:cNvSpPr>
            <a:spLocks noGrp="1"/>
          </p:cNvSpPr>
          <p:nvPr>
            <p:ph idx="1"/>
          </p:nvPr>
        </p:nvSpPr>
        <p:spPr/>
        <p:txBody>
          <a:bodyPr>
            <a:noAutofit/>
          </a:bodyPr>
          <a:lstStyle/>
          <a:p>
            <a:pPr algn="just">
              <a:lnSpc>
                <a:spcPct val="200000"/>
              </a:lnSpc>
              <a:buFont typeface="Wingdings" panose="05000000000000000000" pitchFamily="2" charset="2"/>
              <a:buChar char="Ø"/>
            </a:pPr>
            <a:r>
              <a:rPr lang="fr-FR" sz="3600" dirty="0"/>
              <a:t> Permet de demander explicitement au </a:t>
            </a:r>
            <a:r>
              <a:rPr lang="fr-FR" sz="3600" dirty="0" err="1"/>
              <a:t>Garbage</a:t>
            </a:r>
            <a:r>
              <a:rPr lang="fr-FR" sz="3600" dirty="0"/>
              <a:t> Collector de nettoyer la mémoire via </a:t>
            </a:r>
            <a:r>
              <a:rPr lang="fr-FR" sz="3600" dirty="0" err="1"/>
              <a:t>System.gc</a:t>
            </a:r>
            <a:r>
              <a:rPr lang="fr-FR" sz="3600" dirty="0" smtClean="0"/>
              <a:t>().</a:t>
            </a:r>
          </a:p>
          <a:p>
            <a:pPr algn="just">
              <a:lnSpc>
                <a:spcPct val="200000"/>
              </a:lnSpc>
              <a:buFont typeface="Wingdings" panose="05000000000000000000" pitchFamily="2" charset="2"/>
              <a:buChar char="Ø"/>
            </a:pPr>
            <a:r>
              <a:rPr lang="fr-FR" sz="3600" dirty="0"/>
              <a:t> Principalement utile dans les tests et les diagnostics.</a:t>
            </a:r>
          </a:p>
        </p:txBody>
      </p:sp>
    </p:spTree>
    <p:extLst>
      <p:ext uri="{BB962C8B-B14F-4D97-AF65-F5344CB8AC3E}">
        <p14:creationId xmlns:p14="http://schemas.microsoft.com/office/powerpoint/2010/main" val="340477396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JEP</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En Java, </a:t>
            </a:r>
            <a:r>
              <a:rPr lang="fr-FR" sz="2400" b="1" dirty="0"/>
              <a:t>JEP</a:t>
            </a:r>
            <a:r>
              <a:rPr lang="fr-FR" sz="2400" dirty="0"/>
              <a:t> signifie </a:t>
            </a:r>
            <a:r>
              <a:rPr lang="fr-FR" sz="2400" dirty="0" smtClean="0"/>
              <a:t>"</a:t>
            </a:r>
            <a:r>
              <a:rPr lang="fr-FR" sz="2400" b="1" dirty="0" smtClean="0"/>
              <a:t>Java </a:t>
            </a:r>
            <a:r>
              <a:rPr lang="fr-FR" sz="2400" b="1" dirty="0" err="1" smtClean="0"/>
              <a:t>Enhancement</a:t>
            </a:r>
            <a:r>
              <a:rPr lang="fr-FR" sz="2400" b="1" dirty="0" smtClean="0"/>
              <a:t> </a:t>
            </a:r>
            <a:r>
              <a:rPr lang="fr-FR" sz="2400" b="1" dirty="0" err="1" smtClean="0"/>
              <a:t>Proposal</a:t>
            </a:r>
            <a:r>
              <a:rPr lang="fr-FR" sz="2400" dirty="0" smtClean="0"/>
              <a:t>" </a:t>
            </a:r>
            <a:r>
              <a:rPr lang="fr-FR" sz="2400" dirty="0"/>
              <a:t>(Proposition d'amélioration de Java).C'est un document qui décrit une nouvelle fonctionnalité, une amélioration ou un changement proposé pour la plateforme Java. Les </a:t>
            </a:r>
            <a:r>
              <a:rPr lang="fr-FR" sz="2400" b="1" dirty="0" err="1"/>
              <a:t>JEPs</a:t>
            </a:r>
            <a:r>
              <a:rPr lang="fr-FR" sz="2400" dirty="0"/>
              <a:t> sont un mécanisme utilisé par l'équipe de développement de Java (principalement dirigée par Oracle) pour organiser, communiquer et suivre les changements dans le langage, les API, la machine virtuelle (JVM) ou tout autre composant de l'écosystème Java.</a:t>
            </a:r>
          </a:p>
        </p:txBody>
      </p:sp>
    </p:spTree>
    <p:extLst>
      <p:ext uri="{BB962C8B-B14F-4D97-AF65-F5344CB8AC3E}">
        <p14:creationId xmlns:p14="http://schemas.microsoft.com/office/powerpoint/2010/main" val="1088207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Structure et objectifs d'un JEP</a:t>
            </a:r>
          </a:p>
        </p:txBody>
      </p:sp>
      <p:sp>
        <p:nvSpPr>
          <p:cNvPr id="3" name="Espace réservé du contenu 2"/>
          <p:cNvSpPr>
            <a:spLocks noGrp="1"/>
          </p:cNvSpPr>
          <p:nvPr>
            <p:ph idx="1"/>
          </p:nvPr>
        </p:nvSpPr>
        <p:spPr>
          <a:xfrm>
            <a:off x="508000" y="1845734"/>
            <a:ext cx="10647680" cy="4023360"/>
          </a:xfrm>
        </p:spPr>
        <p:txBody>
          <a:bodyPr>
            <a:normAutofit/>
          </a:bodyPr>
          <a:lstStyle/>
          <a:p>
            <a:pPr algn="just">
              <a:lnSpc>
                <a:spcPct val="150000"/>
              </a:lnSpc>
              <a:buFont typeface="Wingdings" panose="05000000000000000000" pitchFamily="2" charset="2"/>
              <a:buChar char="Ø"/>
            </a:pPr>
            <a:r>
              <a:rPr lang="fr-FR" sz="2400" dirty="0"/>
              <a:t> Un JEP est généralement un document qui </a:t>
            </a:r>
            <a:r>
              <a:rPr lang="fr-FR" sz="2400" dirty="0" smtClean="0"/>
              <a:t>:</a:t>
            </a:r>
          </a:p>
          <a:p>
            <a:pPr marL="544068" lvl="1" indent="-342900" algn="just">
              <a:lnSpc>
                <a:spcPct val="150000"/>
              </a:lnSpc>
              <a:buFont typeface="+mj-lt"/>
              <a:buAutoNum type="arabicPeriod"/>
            </a:pPr>
            <a:r>
              <a:rPr lang="fr-FR" sz="2000" b="1" dirty="0" smtClean="0"/>
              <a:t>Décrit l'objectif</a:t>
            </a:r>
            <a:r>
              <a:rPr lang="fr-FR" sz="2000" dirty="0" smtClean="0"/>
              <a:t> : Il explique quelle fonctionnalité ou amélioration est proposée.</a:t>
            </a:r>
          </a:p>
          <a:p>
            <a:pPr marL="544068" lvl="1" indent="-342900" algn="just">
              <a:lnSpc>
                <a:spcPct val="150000"/>
              </a:lnSpc>
              <a:buFont typeface="+mj-lt"/>
              <a:buAutoNum type="arabicPeriod"/>
            </a:pPr>
            <a:r>
              <a:rPr lang="fr-FR" sz="2000" dirty="0"/>
              <a:t> </a:t>
            </a:r>
            <a:r>
              <a:rPr lang="fr-FR" sz="2000" b="1" dirty="0"/>
              <a:t>Détaille le problème </a:t>
            </a:r>
            <a:r>
              <a:rPr lang="fr-FR" sz="2000" dirty="0"/>
              <a:t>: Pourquoi cette amélioration est nécessaire et quel problème elle résout</a:t>
            </a:r>
            <a:r>
              <a:rPr lang="fr-FR" sz="2000" dirty="0" smtClean="0"/>
              <a:t>.</a:t>
            </a:r>
          </a:p>
          <a:p>
            <a:pPr marL="544068" lvl="1" indent="-342900" algn="just">
              <a:lnSpc>
                <a:spcPct val="150000"/>
              </a:lnSpc>
              <a:buFont typeface="+mj-lt"/>
              <a:buAutoNum type="arabicPeriod"/>
            </a:pPr>
            <a:r>
              <a:rPr lang="fr-FR" sz="2000" b="1" dirty="0"/>
              <a:t>Explique la solution </a:t>
            </a:r>
            <a:r>
              <a:rPr lang="fr-FR" sz="2000" dirty="0"/>
              <a:t>: Comment la fonctionnalité sera mise en œuvre</a:t>
            </a:r>
            <a:r>
              <a:rPr lang="fr-FR" sz="2000" dirty="0" smtClean="0"/>
              <a:t>.</a:t>
            </a:r>
          </a:p>
          <a:p>
            <a:pPr marL="544068" lvl="1" indent="-342900" algn="just">
              <a:lnSpc>
                <a:spcPct val="150000"/>
              </a:lnSpc>
              <a:buFont typeface="+mj-lt"/>
              <a:buAutoNum type="arabicPeriod"/>
            </a:pPr>
            <a:r>
              <a:rPr lang="fr-FR" sz="2000" b="1" dirty="0"/>
              <a:t>Évalue l'impact </a:t>
            </a:r>
            <a:r>
              <a:rPr lang="fr-FR" sz="2000" dirty="0"/>
              <a:t>: Quels sont les avantages, inconvénients et risques possibles</a:t>
            </a:r>
            <a:r>
              <a:rPr lang="fr-FR" sz="2000" dirty="0" smtClean="0"/>
              <a:t>.</a:t>
            </a:r>
          </a:p>
          <a:p>
            <a:pPr marL="544068" lvl="1" indent="-342900" algn="just">
              <a:lnSpc>
                <a:spcPct val="150000"/>
              </a:lnSpc>
              <a:buFont typeface="+mj-lt"/>
              <a:buAutoNum type="arabicPeriod"/>
            </a:pPr>
            <a:r>
              <a:rPr lang="fr-FR" sz="2000" b="1" dirty="0"/>
              <a:t>Planifie la mise en œuvre </a:t>
            </a:r>
            <a:r>
              <a:rPr lang="fr-FR" sz="2000" dirty="0"/>
              <a:t>: Inclut les étapes pour intégrer cette fonctionnalité dans Java.</a:t>
            </a:r>
          </a:p>
        </p:txBody>
      </p:sp>
    </p:spTree>
    <p:extLst>
      <p:ext uri="{BB962C8B-B14F-4D97-AF65-F5344CB8AC3E}">
        <p14:creationId xmlns:p14="http://schemas.microsoft.com/office/powerpoint/2010/main" val="19849941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en-US" b="1" dirty="0"/>
              <a:t>JDK 13 : Reimplementation of the Legacy Socket API (JEP 353)</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La pile réseau sous-jacente a été réécrite en utilisant le langage Java, ce qui améliore la maintenance et la fiabilité.</a:t>
            </a:r>
          </a:p>
        </p:txBody>
      </p:sp>
    </p:spTree>
    <p:extLst>
      <p:ext uri="{BB962C8B-B14F-4D97-AF65-F5344CB8AC3E}">
        <p14:creationId xmlns:p14="http://schemas.microsoft.com/office/powerpoint/2010/main" val="241355317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JDK Flight Recorder (JFR)</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Introduit dans JDK 12, JFR est un outil de profilage permettant d’enregistrer des événements liés à la JVM pour analyser les performances ou les bugs.</a:t>
            </a:r>
          </a:p>
        </p:txBody>
      </p:sp>
    </p:spTree>
    <p:extLst>
      <p:ext uri="{BB962C8B-B14F-4D97-AF65-F5344CB8AC3E}">
        <p14:creationId xmlns:p14="http://schemas.microsoft.com/office/powerpoint/2010/main" val="100405026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Simplification et lisibilité accrue grâce au switch amélioré et aux blocs de texte</a:t>
            </a:r>
            <a:r>
              <a:rPr lang="fr-FR" sz="2800" dirty="0" smtClean="0"/>
              <a:t>.</a:t>
            </a:r>
          </a:p>
          <a:p>
            <a:pPr algn="just">
              <a:lnSpc>
                <a:spcPct val="150000"/>
              </a:lnSpc>
              <a:buFont typeface="Wingdings" panose="05000000000000000000" pitchFamily="2" charset="2"/>
              <a:buChar char="Ø"/>
            </a:pPr>
            <a:r>
              <a:rPr lang="fr-FR" sz="2800" dirty="0" smtClean="0"/>
              <a:t> Flexibilité </a:t>
            </a:r>
            <a:r>
              <a:rPr lang="fr-FR" sz="2800" dirty="0"/>
              <a:t>et puissance supplémentaires avec le mot-clé </a:t>
            </a:r>
            <a:r>
              <a:rPr lang="fr-FR" sz="2800" b="1" dirty="0" err="1"/>
              <a:t>yield</a:t>
            </a:r>
            <a:r>
              <a:rPr lang="fr-FR" sz="2800" dirty="0" smtClean="0"/>
              <a:t>.</a:t>
            </a:r>
          </a:p>
          <a:p>
            <a:pPr algn="just">
              <a:lnSpc>
                <a:spcPct val="150000"/>
              </a:lnSpc>
              <a:buFont typeface="Wingdings" panose="05000000000000000000" pitchFamily="2" charset="2"/>
              <a:buChar char="Ø"/>
            </a:pPr>
            <a:r>
              <a:rPr lang="fr-FR" sz="2800" dirty="0" smtClean="0"/>
              <a:t> Outils </a:t>
            </a:r>
            <a:r>
              <a:rPr lang="fr-FR" sz="2800" dirty="0"/>
              <a:t>intégrés pour mieux gérer les diagnostics et les performances.</a:t>
            </a:r>
          </a:p>
        </p:txBody>
      </p:sp>
    </p:spTree>
    <p:extLst>
      <p:ext uri="{BB962C8B-B14F-4D97-AF65-F5344CB8AC3E}">
        <p14:creationId xmlns:p14="http://schemas.microsoft.com/office/powerpoint/2010/main" val="71303027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Atelier</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Test des fonctionnalités apportées par les JDK 12 et </a:t>
            </a:r>
            <a:r>
              <a:rPr lang="fr-FR" sz="2800" dirty="0" smtClean="0"/>
              <a:t>13</a:t>
            </a:r>
          </a:p>
          <a:p>
            <a:pPr lvl="1" algn="just">
              <a:lnSpc>
                <a:spcPct val="150000"/>
              </a:lnSpc>
              <a:buFont typeface="Wingdings" panose="05000000000000000000" pitchFamily="2" charset="2"/>
              <a:buChar char="Ø"/>
            </a:pPr>
            <a:r>
              <a:rPr lang="fr-FR" sz="2400" dirty="0" smtClean="0"/>
              <a:t> </a:t>
            </a:r>
            <a:r>
              <a:rPr lang="fr-FR" sz="2800" dirty="0"/>
              <a:t>Tester les nouvelles API du JDK </a:t>
            </a:r>
            <a:r>
              <a:rPr lang="fr-FR" sz="2800" dirty="0" smtClean="0"/>
              <a:t>12 :</a:t>
            </a:r>
          </a:p>
          <a:p>
            <a:pPr lvl="2" algn="just">
              <a:lnSpc>
                <a:spcPct val="150000"/>
              </a:lnSpc>
              <a:buFont typeface="Wingdings" panose="05000000000000000000" pitchFamily="2" charset="2"/>
              <a:buChar char="Ø"/>
            </a:pPr>
            <a:r>
              <a:rPr lang="fr-FR" sz="2400" dirty="0"/>
              <a:t>  </a:t>
            </a:r>
            <a:r>
              <a:rPr lang="fr-FR" sz="2800" b="1" dirty="0" err="1"/>
              <a:t>Collectors.teeing</a:t>
            </a:r>
            <a:r>
              <a:rPr lang="fr-FR" sz="2800" b="1" dirty="0"/>
              <a:t>() </a:t>
            </a:r>
            <a:r>
              <a:rPr lang="fr-FR" sz="2800" dirty="0"/>
              <a:t>pour obtenir la moyenne et la somme en une seule opération</a:t>
            </a:r>
          </a:p>
          <a:p>
            <a:pPr lvl="1" algn="just">
              <a:lnSpc>
                <a:spcPct val="150000"/>
              </a:lnSpc>
              <a:buFont typeface="Wingdings" panose="05000000000000000000" pitchFamily="2" charset="2"/>
              <a:buChar char="Ø"/>
            </a:pPr>
            <a:r>
              <a:rPr lang="fr-FR" sz="2400" dirty="0" smtClean="0"/>
              <a:t>Utilisation </a:t>
            </a:r>
            <a:r>
              <a:rPr lang="fr-FR" sz="2400" dirty="0"/>
              <a:t>des expressions </a:t>
            </a:r>
            <a:r>
              <a:rPr lang="fr-FR" sz="2400" b="1" dirty="0"/>
              <a:t>switch</a:t>
            </a:r>
            <a:r>
              <a:rPr lang="fr-FR" sz="2400" dirty="0"/>
              <a:t> (</a:t>
            </a:r>
            <a:r>
              <a:rPr lang="fr-FR" sz="2400" b="1" dirty="0"/>
              <a:t>JEP 325 &amp; 354</a:t>
            </a:r>
            <a:r>
              <a:rPr lang="fr-FR" sz="2400" dirty="0"/>
              <a:t>)</a:t>
            </a:r>
            <a:endParaRPr lang="fr-FR" sz="2400" dirty="0" smtClean="0"/>
          </a:p>
          <a:p>
            <a:pPr lvl="1" algn="just">
              <a:lnSpc>
                <a:spcPct val="150000"/>
              </a:lnSpc>
              <a:buFont typeface="Wingdings" panose="05000000000000000000" pitchFamily="2" charset="2"/>
              <a:buChar char="Ø"/>
            </a:pPr>
            <a:r>
              <a:rPr lang="fr-FR" sz="2800" dirty="0" smtClean="0"/>
              <a:t>Tester </a:t>
            </a:r>
            <a:r>
              <a:rPr lang="fr-FR" sz="2800" dirty="0"/>
              <a:t>les </a:t>
            </a:r>
            <a:r>
              <a:rPr lang="fr-FR" sz="2800" b="1" dirty="0" err="1"/>
              <a:t>Text</a:t>
            </a:r>
            <a:r>
              <a:rPr lang="fr-FR" sz="2800" b="1" dirty="0"/>
              <a:t> Blocks </a:t>
            </a:r>
            <a:r>
              <a:rPr lang="fr-FR" sz="2800" dirty="0"/>
              <a:t>(</a:t>
            </a:r>
            <a:r>
              <a:rPr lang="fr-FR" sz="2800" b="1" dirty="0"/>
              <a:t>JEP 355</a:t>
            </a:r>
            <a:r>
              <a:rPr lang="fr-FR" sz="2800" dirty="0" smtClean="0"/>
              <a:t>)</a:t>
            </a:r>
          </a:p>
          <a:p>
            <a:pPr lvl="1" algn="just">
              <a:lnSpc>
                <a:spcPct val="150000"/>
              </a:lnSpc>
              <a:buFont typeface="Wingdings" panose="05000000000000000000" pitchFamily="2" charset="2"/>
              <a:buChar char="Ø"/>
            </a:pPr>
            <a:r>
              <a:rPr lang="fr-FR" sz="2800" dirty="0"/>
              <a:t> </a:t>
            </a:r>
            <a:endParaRPr lang="fr-FR" sz="2400" dirty="0"/>
          </a:p>
        </p:txBody>
      </p:sp>
    </p:spTree>
    <p:extLst>
      <p:ext uri="{BB962C8B-B14F-4D97-AF65-F5344CB8AC3E}">
        <p14:creationId xmlns:p14="http://schemas.microsoft.com/office/powerpoint/2010/main" val="341359766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Collectors.teeing</a:t>
            </a:r>
            <a:r>
              <a:rPr lang="fr-FR" b="1" dirty="0"/>
              <a:t>()</a:t>
            </a:r>
            <a:endParaRPr lang="fr-FR" dirty="0"/>
          </a:p>
        </p:txBody>
      </p:sp>
      <p:pic>
        <p:nvPicPr>
          <p:cNvPr id="4" name="Espace réservé du contenu 3"/>
          <p:cNvPicPr>
            <a:picLocks noGrp="1" noChangeAspect="1"/>
          </p:cNvPicPr>
          <p:nvPr>
            <p:ph idx="1"/>
          </p:nvPr>
        </p:nvPicPr>
        <p:blipFill>
          <a:blip r:embed="rId2"/>
          <a:stretch>
            <a:fillRect/>
          </a:stretch>
        </p:blipFill>
        <p:spPr>
          <a:xfrm>
            <a:off x="1236134" y="1947333"/>
            <a:ext cx="9919546" cy="41147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321297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Utilisation des expressions switch (JEP 325 &amp; 354)</a:t>
            </a:r>
          </a:p>
        </p:txBody>
      </p:sp>
      <p:pic>
        <p:nvPicPr>
          <p:cNvPr id="6" name="Espace réservé du contenu 5"/>
          <p:cNvPicPr>
            <a:picLocks noGrp="1" noChangeAspect="1"/>
          </p:cNvPicPr>
          <p:nvPr>
            <p:ph sz="half"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219199" y="1845735"/>
            <a:ext cx="4487333" cy="40233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Espace réservé du contenu 6"/>
          <p:cNvPicPr>
            <a:picLocks noGrp="1" noChangeAspect="1"/>
          </p:cNvPicPr>
          <p:nvPr>
            <p:ph sz="half" idx="2"/>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6079067" y="1845735"/>
            <a:ext cx="5076613" cy="40233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5553559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lvl="1" algn="ctr" rtl="0">
              <a:lnSpc>
                <a:spcPct val="85000"/>
              </a:lnSpc>
              <a:spcBef>
                <a:spcPct val="0"/>
              </a:spcBef>
            </a:pPr>
            <a:r>
              <a:rPr lang="fr-FR" sz="2800" b="1" dirty="0" smtClean="0"/>
              <a:t>Tester les </a:t>
            </a:r>
            <a:r>
              <a:rPr lang="fr-FR" sz="2800" b="1" dirty="0" err="1" smtClean="0"/>
              <a:t>Text</a:t>
            </a:r>
            <a:r>
              <a:rPr lang="fr-FR" sz="2800" b="1" dirty="0" smtClean="0"/>
              <a:t> Blocks (JEP 355)</a:t>
            </a:r>
            <a:br>
              <a:rPr lang="fr-FR" sz="2800" b="1" dirty="0" smtClean="0"/>
            </a:br>
            <a:endParaRPr lang="fr-FR" b="1" dirty="0"/>
          </a:p>
        </p:txBody>
      </p:sp>
      <p:pic>
        <p:nvPicPr>
          <p:cNvPr id="5" name="Espace réservé du contenu 4"/>
          <p:cNvPicPr>
            <a:picLocks noGrp="1" noChangeAspect="1"/>
          </p:cNvPicPr>
          <p:nvPr>
            <p:ph sz="half" idx="1"/>
          </p:nvPr>
        </p:nvPicPr>
        <p:blipFill>
          <a:blip r:embed="rId2">
            <a:duotone>
              <a:prstClr val="black"/>
              <a:srgbClr val="D9C3A5">
                <a:tint val="50000"/>
                <a:satMod val="180000"/>
              </a:srgbClr>
            </a:duotone>
          </a:blip>
          <a:stretch>
            <a:fillRect/>
          </a:stretch>
        </p:blipFill>
        <p:spPr>
          <a:xfrm>
            <a:off x="1097281" y="2065867"/>
            <a:ext cx="4710852" cy="38032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Espace réservé du contenu 5"/>
          <p:cNvPicPr>
            <a:picLocks noGrp="1" noChangeAspect="1"/>
          </p:cNvPicPr>
          <p:nvPr>
            <p:ph sz="half" idx="2"/>
          </p:nvPr>
        </p:nvPicPr>
        <p:blipFill>
          <a:blip r:embed="rId3">
            <a:duotone>
              <a:prstClr val="black"/>
              <a:srgbClr val="D9C3A5">
                <a:tint val="50000"/>
                <a:satMod val="180000"/>
              </a:srgbClr>
            </a:duotone>
          </a:blip>
          <a:stretch>
            <a:fillRect/>
          </a:stretch>
        </p:blipFill>
        <p:spPr>
          <a:xfrm>
            <a:off x="6197600" y="2065867"/>
            <a:ext cx="4521200" cy="38032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0160730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Apports </a:t>
            </a:r>
            <a:r>
              <a:rPr lang="fr-FR" b="1" dirty="0"/>
              <a:t>de la JDK 14</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L</a:t>
            </a:r>
            <a:r>
              <a:rPr lang="fr-FR" sz="3600" dirty="0" smtClean="0"/>
              <a:t>es </a:t>
            </a:r>
            <a:r>
              <a:rPr lang="fr-FR" sz="3600" dirty="0"/>
              <a:t>principaux apports introduits dans la </a:t>
            </a:r>
            <a:r>
              <a:rPr lang="fr-FR" sz="3600" b="1" dirty="0"/>
              <a:t>JDK 14</a:t>
            </a:r>
            <a:r>
              <a:rPr lang="fr-FR" sz="3600" dirty="0"/>
              <a:t>, qui inclut des améliorations syntaxiques, des outils de diagnostic et des fonctionnalités de suivi en temps réel.</a:t>
            </a:r>
          </a:p>
        </p:txBody>
      </p:sp>
    </p:spTree>
    <p:extLst>
      <p:ext uri="{BB962C8B-B14F-4D97-AF65-F5344CB8AC3E}">
        <p14:creationId xmlns:p14="http://schemas.microsoft.com/office/powerpoint/2010/main" val="196808248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218869"/>
            <a:ext cx="10058400" cy="1450757"/>
          </a:xfrm>
        </p:spPr>
        <p:txBody>
          <a:bodyPr anchor="ctr"/>
          <a:lstStyle/>
          <a:p>
            <a:pPr algn="ctr"/>
            <a:r>
              <a:rPr lang="fr-FR" b="1" dirty="0"/>
              <a:t>Changements dans les switch</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La JDK 14 poursuit l'amélioration du switch, initiée dans les versions précédentes, avec des fonctionnalités supplémentaires en préversion (</a:t>
            </a:r>
            <a:r>
              <a:rPr lang="fr-FR" dirty="0" err="1"/>
              <a:t>Preview</a:t>
            </a:r>
            <a:r>
              <a:rPr lang="fr-FR" dirty="0"/>
              <a:t> </a:t>
            </a:r>
            <a:r>
              <a:rPr lang="fr-FR" dirty="0" err="1"/>
              <a:t>Feature</a:t>
            </a:r>
            <a:r>
              <a:rPr lang="fr-FR" dirty="0" smtClean="0"/>
              <a:t>).</a:t>
            </a:r>
          </a:p>
          <a:p>
            <a:pPr>
              <a:buFont typeface="Wingdings" panose="05000000000000000000" pitchFamily="2" charset="2"/>
              <a:buChar char="Ø"/>
            </a:pPr>
            <a:r>
              <a:rPr lang="fr-FR" dirty="0"/>
              <a:t> Nouveautés </a:t>
            </a:r>
            <a:r>
              <a:rPr lang="fr-FR" dirty="0" smtClean="0"/>
              <a:t>:</a:t>
            </a:r>
          </a:p>
          <a:p>
            <a:pPr lvl="1">
              <a:buFont typeface="Wingdings" panose="05000000000000000000" pitchFamily="2" charset="2"/>
              <a:buChar char="Ø"/>
            </a:pPr>
            <a:r>
              <a:rPr lang="fr-FR" dirty="0"/>
              <a:t> Les modifications sont une extension du switch comme expression introduit dans JDK 12 et stabilisé en JDK 14</a:t>
            </a:r>
            <a:r>
              <a:rPr lang="fr-FR" dirty="0" smtClean="0"/>
              <a:t>.</a:t>
            </a:r>
          </a:p>
          <a:p>
            <a:pPr lvl="1">
              <a:buFont typeface="Wingdings" panose="05000000000000000000" pitchFamily="2" charset="2"/>
              <a:buChar char="Ø"/>
            </a:pPr>
            <a:r>
              <a:rPr lang="fr-FR" dirty="0"/>
              <a:t> Syntaxe simplifiée avec des flèches </a:t>
            </a:r>
            <a:r>
              <a:rPr lang="fr-FR" dirty="0" smtClean="0"/>
              <a:t>-&gt;.</a:t>
            </a:r>
          </a:p>
          <a:p>
            <a:pPr lvl="1">
              <a:buFont typeface="Wingdings" panose="05000000000000000000" pitchFamily="2" charset="2"/>
              <a:buChar char="Ø"/>
            </a:pPr>
            <a:r>
              <a:rPr lang="fr-FR" dirty="0"/>
              <a:t> Compatibilité ascendante avec l'ancien style</a:t>
            </a:r>
            <a:r>
              <a:rPr lang="fr-FR" dirty="0" smtClean="0"/>
              <a:t>.</a:t>
            </a:r>
          </a:p>
          <a:p>
            <a:pPr lvl="1">
              <a:buFont typeface="Wingdings" panose="05000000000000000000" pitchFamily="2" charset="2"/>
              <a:buChar char="Ø"/>
            </a:pPr>
            <a:r>
              <a:rPr lang="fr-FR" dirty="0"/>
              <a:t> Exemple d'amélioration :</a:t>
            </a:r>
          </a:p>
        </p:txBody>
      </p:sp>
      <p:pic>
        <p:nvPicPr>
          <p:cNvPr id="7" name="Image 6"/>
          <p:cNvPicPr>
            <a:picLocks noChangeAspect="1"/>
          </p:cNvPicPr>
          <p:nvPr/>
        </p:nvPicPr>
        <p:blipFill>
          <a:blip r:embed="rId2"/>
          <a:stretch>
            <a:fillRect/>
          </a:stretch>
        </p:blipFill>
        <p:spPr>
          <a:xfrm>
            <a:off x="4460345" y="4297362"/>
            <a:ext cx="4615922" cy="1680106"/>
          </a:xfrm>
          <a:prstGeom prst="rect">
            <a:avLst/>
          </a:prstGeom>
        </p:spPr>
      </p:pic>
    </p:spTree>
    <p:extLst>
      <p:ext uri="{BB962C8B-B14F-4D97-AF65-F5344CB8AC3E}">
        <p14:creationId xmlns:p14="http://schemas.microsoft.com/office/powerpoint/2010/main" val="2789062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4000" dirty="0"/>
              <a:t> Réduction des risques d'erreurs (comme l'oubli de break</a:t>
            </a:r>
            <a:r>
              <a:rPr lang="fr-FR" sz="4000" dirty="0" smtClean="0"/>
              <a:t>).</a:t>
            </a:r>
          </a:p>
          <a:p>
            <a:pPr algn="just">
              <a:lnSpc>
                <a:spcPct val="200000"/>
              </a:lnSpc>
              <a:buFont typeface="Wingdings" panose="05000000000000000000" pitchFamily="2" charset="2"/>
              <a:buChar char="Ø"/>
            </a:pPr>
            <a:r>
              <a:rPr lang="fr-FR" sz="4000" dirty="0"/>
              <a:t> Lisibilité et expressivité accrues.</a:t>
            </a:r>
          </a:p>
        </p:txBody>
      </p:sp>
    </p:spTree>
    <p:extLst>
      <p:ext uri="{BB962C8B-B14F-4D97-AF65-F5344CB8AC3E}">
        <p14:creationId xmlns:p14="http://schemas.microsoft.com/office/powerpoint/2010/main" val="2144092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Clarifications du </a:t>
            </a:r>
            <a:r>
              <a:rPr lang="fr-FR" sz="4000" b="1" dirty="0" err="1"/>
              <a:t>NullPointerException</a:t>
            </a:r>
            <a:r>
              <a:rPr lang="fr-FR" sz="4000" b="1" dirty="0"/>
              <a:t> (JEP 358)</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400" dirty="0"/>
              <a:t> Contexte </a:t>
            </a:r>
            <a:r>
              <a:rPr lang="fr-FR" sz="2400" dirty="0" smtClean="0"/>
              <a:t>:</a:t>
            </a:r>
          </a:p>
          <a:p>
            <a:pPr lvl="1" algn="just">
              <a:buFont typeface="Wingdings" panose="05000000000000000000" pitchFamily="2" charset="2"/>
              <a:buChar char="Ø"/>
            </a:pPr>
            <a:r>
              <a:rPr lang="fr-FR" sz="2000" dirty="0"/>
              <a:t> Le </a:t>
            </a:r>
            <a:r>
              <a:rPr lang="fr-FR" sz="2000" dirty="0" err="1"/>
              <a:t>NullPointerException</a:t>
            </a:r>
            <a:r>
              <a:rPr lang="fr-FR" sz="2000" dirty="0"/>
              <a:t> (NPE) est une erreur fréquente et difficile à déboguer. Avant la JDK 14, les messages des NPE n'étaient pas toujours explicites sur l'origine exacte du problème</a:t>
            </a:r>
            <a:r>
              <a:rPr lang="fr-FR" sz="2000" dirty="0" smtClean="0"/>
              <a:t>.</a:t>
            </a:r>
          </a:p>
          <a:p>
            <a:pPr algn="just">
              <a:buFont typeface="Wingdings" panose="05000000000000000000" pitchFamily="2" charset="2"/>
              <a:buChar char="Ø"/>
            </a:pPr>
            <a:r>
              <a:rPr lang="fr-FR" sz="2400" dirty="0"/>
              <a:t> Nouveauté </a:t>
            </a:r>
            <a:r>
              <a:rPr lang="fr-FR" sz="2400" dirty="0" smtClean="0"/>
              <a:t>:</a:t>
            </a:r>
          </a:p>
          <a:p>
            <a:pPr lvl="1" algn="just">
              <a:buFont typeface="Wingdings" panose="05000000000000000000" pitchFamily="2" charset="2"/>
              <a:buChar char="Ø"/>
            </a:pPr>
            <a:r>
              <a:rPr lang="fr-FR" sz="2000" dirty="0"/>
              <a:t> Les messages d'erreur pour les NPE sont désormais plus détaillés, fournissant des informations sur </a:t>
            </a:r>
            <a:r>
              <a:rPr lang="fr-FR" sz="2000" dirty="0" smtClean="0"/>
              <a:t>:</a:t>
            </a:r>
          </a:p>
          <a:p>
            <a:pPr lvl="2" algn="just">
              <a:buFont typeface="Wingdings" panose="05000000000000000000" pitchFamily="2" charset="2"/>
              <a:buChar char="Ø"/>
            </a:pPr>
            <a:r>
              <a:rPr lang="fr-FR" sz="1600" dirty="0"/>
              <a:t> Quelle variable ou expression a généré le NPE</a:t>
            </a:r>
            <a:r>
              <a:rPr lang="fr-FR" sz="1600" dirty="0" smtClean="0"/>
              <a:t>.</a:t>
            </a:r>
          </a:p>
          <a:p>
            <a:pPr lvl="2" algn="just">
              <a:buFont typeface="Wingdings" panose="05000000000000000000" pitchFamily="2" charset="2"/>
              <a:buChar char="Ø"/>
            </a:pPr>
            <a:r>
              <a:rPr lang="fr-FR" sz="1600" dirty="0"/>
              <a:t> Le contexte dans lequel l'exception s'est produite</a:t>
            </a:r>
            <a:r>
              <a:rPr lang="fr-FR" sz="1600" dirty="0" smtClean="0"/>
              <a:t>.</a:t>
            </a:r>
          </a:p>
          <a:p>
            <a:pPr lvl="1" algn="just">
              <a:buFont typeface="Wingdings" panose="05000000000000000000" pitchFamily="2" charset="2"/>
              <a:buChar char="Ø"/>
            </a:pPr>
            <a:r>
              <a:rPr lang="fr-FR" sz="2000" dirty="0"/>
              <a:t> Exemple </a:t>
            </a:r>
            <a:r>
              <a:rPr lang="fr-FR" sz="2000" dirty="0" smtClean="0"/>
              <a:t>:</a:t>
            </a:r>
          </a:p>
          <a:p>
            <a:pPr lvl="2" algn="just">
              <a:buFont typeface="Wingdings" panose="05000000000000000000" pitchFamily="2" charset="2"/>
              <a:buChar char="Ø"/>
            </a:pPr>
            <a:r>
              <a:rPr lang="fr-FR" sz="1600" dirty="0"/>
              <a:t>Avant JDK 14 </a:t>
            </a:r>
            <a:r>
              <a:rPr lang="fr-FR" sz="1600" dirty="0" smtClean="0"/>
              <a:t>: </a:t>
            </a:r>
          </a:p>
          <a:p>
            <a:pPr lvl="2" algn="just">
              <a:buFont typeface="Wingdings" panose="05000000000000000000" pitchFamily="2" charset="2"/>
              <a:buChar char="Ø"/>
            </a:pPr>
            <a:endParaRPr lang="fr-FR" sz="1600" dirty="0"/>
          </a:p>
          <a:p>
            <a:pPr lvl="2" algn="just">
              <a:buFont typeface="Wingdings" panose="05000000000000000000" pitchFamily="2" charset="2"/>
              <a:buChar char="Ø"/>
            </a:pPr>
            <a:r>
              <a:rPr lang="fr-FR" sz="1600" dirty="0"/>
              <a:t> Avec JDK 14 </a:t>
            </a:r>
            <a:r>
              <a:rPr lang="fr-FR" sz="1600" dirty="0" smtClean="0"/>
              <a:t>: </a:t>
            </a:r>
            <a:endParaRPr lang="fr-FR" sz="1600" dirty="0"/>
          </a:p>
        </p:txBody>
      </p:sp>
      <p:pic>
        <p:nvPicPr>
          <p:cNvPr id="5" name="Image 4"/>
          <p:cNvPicPr>
            <a:picLocks noChangeAspect="1"/>
          </p:cNvPicPr>
          <p:nvPr/>
        </p:nvPicPr>
        <p:blipFill>
          <a:blip r:embed="rId2"/>
          <a:stretch>
            <a:fillRect/>
          </a:stretch>
        </p:blipFill>
        <p:spPr>
          <a:xfrm>
            <a:off x="3059112" y="4843357"/>
            <a:ext cx="5289021" cy="475672"/>
          </a:xfrm>
          <a:prstGeom prst="rect">
            <a:avLst/>
          </a:prstGeom>
        </p:spPr>
      </p:pic>
      <p:pic>
        <p:nvPicPr>
          <p:cNvPr id="6" name="Image 5"/>
          <p:cNvPicPr>
            <a:picLocks noChangeAspect="1"/>
          </p:cNvPicPr>
          <p:nvPr/>
        </p:nvPicPr>
        <p:blipFill>
          <a:blip r:embed="rId3"/>
          <a:stretch>
            <a:fillRect/>
          </a:stretch>
        </p:blipFill>
        <p:spPr>
          <a:xfrm>
            <a:off x="3059112" y="5497619"/>
            <a:ext cx="8334375" cy="371475"/>
          </a:xfrm>
          <a:prstGeom prst="rect">
            <a:avLst/>
          </a:prstGeom>
        </p:spPr>
      </p:pic>
    </p:spTree>
    <p:extLst>
      <p:ext uri="{BB962C8B-B14F-4D97-AF65-F5344CB8AC3E}">
        <p14:creationId xmlns:p14="http://schemas.microsoft.com/office/powerpoint/2010/main" val="254520386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Diagnostic plus rapide</a:t>
            </a:r>
            <a:r>
              <a:rPr lang="fr-FR" sz="3200" dirty="0" smtClean="0"/>
              <a:t>.</a:t>
            </a:r>
          </a:p>
          <a:p>
            <a:pPr algn="just">
              <a:lnSpc>
                <a:spcPct val="200000"/>
              </a:lnSpc>
              <a:buFont typeface="Wingdings" panose="05000000000000000000" pitchFamily="2" charset="2"/>
              <a:buChar char="Ø"/>
            </a:pPr>
            <a:r>
              <a:rPr lang="fr-FR" sz="3200" dirty="0"/>
              <a:t> Moins de besoin d'utiliser des débogueurs ou de parcourir les logs.</a:t>
            </a:r>
          </a:p>
        </p:txBody>
      </p:sp>
    </p:spTree>
    <p:extLst>
      <p:ext uri="{BB962C8B-B14F-4D97-AF65-F5344CB8AC3E}">
        <p14:creationId xmlns:p14="http://schemas.microsoft.com/office/powerpoint/2010/main" val="278220121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en-US" sz="3600" b="1" dirty="0"/>
              <a:t>Live Monitoring avec JFR Event Streaming (JEP 349)</a:t>
            </a:r>
            <a:endParaRPr lang="fr-FR" sz="3600" b="1" dirty="0"/>
          </a:p>
        </p:txBody>
      </p:sp>
      <p:sp>
        <p:nvSpPr>
          <p:cNvPr id="3" name="Espace réservé du contenu 2"/>
          <p:cNvSpPr>
            <a:spLocks noGrp="1"/>
          </p:cNvSpPr>
          <p:nvPr>
            <p:ph idx="1"/>
          </p:nvPr>
        </p:nvSpPr>
        <p:spPr/>
        <p:txBody>
          <a:bodyPr>
            <a:noAutofit/>
          </a:bodyPr>
          <a:lstStyle/>
          <a:p>
            <a:pPr algn="just">
              <a:buFont typeface="Wingdings" panose="05000000000000000000" pitchFamily="2" charset="2"/>
              <a:buChar char="Ø"/>
            </a:pPr>
            <a:r>
              <a:rPr lang="fr-FR" sz="2800" dirty="0"/>
              <a:t> Contexte </a:t>
            </a:r>
            <a:r>
              <a:rPr lang="fr-FR" sz="2800" dirty="0" smtClean="0"/>
              <a:t>:</a:t>
            </a:r>
          </a:p>
          <a:p>
            <a:pPr lvl="1" algn="just">
              <a:buFont typeface="Wingdings" panose="05000000000000000000" pitchFamily="2" charset="2"/>
              <a:buChar char="Ø"/>
            </a:pPr>
            <a:r>
              <a:rPr lang="fr-FR" sz="2400" dirty="0"/>
              <a:t> JFR (Java Flight Recorder) permet de capturer des données de performances pour diagnostiquer les applications Java. Cependant, avant la JDK 14, l'analyse était limitée à des enregistrements statiques</a:t>
            </a:r>
            <a:r>
              <a:rPr lang="fr-FR" sz="2400" dirty="0" smtClean="0"/>
              <a:t>.</a:t>
            </a:r>
          </a:p>
          <a:p>
            <a:pPr algn="just">
              <a:buFont typeface="Wingdings" panose="05000000000000000000" pitchFamily="2" charset="2"/>
              <a:buChar char="Ø"/>
            </a:pPr>
            <a:r>
              <a:rPr lang="fr-FR" sz="2800" dirty="0"/>
              <a:t> Nouveauté </a:t>
            </a:r>
            <a:r>
              <a:rPr lang="fr-FR" sz="2800" dirty="0" smtClean="0"/>
              <a:t>:</a:t>
            </a:r>
          </a:p>
          <a:p>
            <a:pPr lvl="1" algn="just">
              <a:buFont typeface="Wingdings" panose="05000000000000000000" pitchFamily="2" charset="2"/>
              <a:buChar char="Ø"/>
            </a:pPr>
            <a:r>
              <a:rPr lang="fr-FR" sz="2400" dirty="0"/>
              <a:t> Avec la JDK 14, JFR introduit un </a:t>
            </a:r>
            <a:r>
              <a:rPr lang="fr-FR" sz="2400" b="1" dirty="0"/>
              <a:t>streaming d’événements en temps réel</a:t>
            </a:r>
            <a:r>
              <a:rPr lang="fr-FR" sz="2400" dirty="0"/>
              <a:t>, permettant de surveiller les performances d'une application en cours d'exécution</a:t>
            </a:r>
            <a:r>
              <a:rPr lang="fr-FR" sz="2400" dirty="0" smtClean="0"/>
              <a:t>.</a:t>
            </a:r>
          </a:p>
          <a:p>
            <a:pPr algn="just">
              <a:buFont typeface="Wingdings" panose="05000000000000000000" pitchFamily="2" charset="2"/>
              <a:buChar char="Ø"/>
            </a:pPr>
            <a:r>
              <a:rPr lang="fr-FR" sz="2800" dirty="0"/>
              <a:t> Fonctionnalités </a:t>
            </a:r>
            <a:r>
              <a:rPr lang="fr-FR" sz="2800" dirty="0" smtClean="0"/>
              <a:t>:</a:t>
            </a:r>
          </a:p>
          <a:p>
            <a:pPr lvl="1" algn="just">
              <a:buFont typeface="Wingdings" panose="05000000000000000000" pitchFamily="2" charset="2"/>
              <a:buChar char="Ø"/>
            </a:pPr>
            <a:r>
              <a:rPr lang="fr-FR" sz="2400" dirty="0"/>
              <a:t> Flux d'événements continus, sans impact significatif sur les performances</a:t>
            </a:r>
            <a:r>
              <a:rPr lang="fr-FR" sz="2400" dirty="0" smtClean="0"/>
              <a:t>.</a:t>
            </a:r>
          </a:p>
          <a:p>
            <a:pPr lvl="1" algn="just">
              <a:buFont typeface="Wingdings" panose="05000000000000000000" pitchFamily="2" charset="2"/>
              <a:buChar char="Ø"/>
            </a:pPr>
            <a:r>
              <a:rPr lang="fr-FR" sz="2400" dirty="0"/>
              <a:t> Accès programmatique aux événements via une API Java.</a:t>
            </a:r>
          </a:p>
        </p:txBody>
      </p:sp>
    </p:spTree>
    <p:extLst>
      <p:ext uri="{BB962C8B-B14F-4D97-AF65-F5344CB8AC3E}">
        <p14:creationId xmlns:p14="http://schemas.microsoft.com/office/powerpoint/2010/main" val="21369293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900"/>
                    </a14:imgEffect>
                  </a14:imgLayer>
                </a14:imgProps>
              </a:ext>
            </a:extLst>
          </a:blip>
          <a:stretch>
            <a:fillRect/>
          </a:stretch>
        </p:blipFill>
        <p:spPr>
          <a:xfrm>
            <a:off x="2032001" y="2607733"/>
            <a:ext cx="8043332" cy="25061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9251208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Détection proactive des problèmes</a:t>
            </a:r>
            <a:r>
              <a:rPr lang="fr-FR" sz="3600" dirty="0" smtClean="0"/>
              <a:t>.</a:t>
            </a:r>
          </a:p>
          <a:p>
            <a:pPr algn="just">
              <a:lnSpc>
                <a:spcPct val="200000"/>
              </a:lnSpc>
              <a:buFont typeface="Wingdings" panose="05000000000000000000" pitchFamily="2" charset="2"/>
              <a:buChar char="Ø"/>
            </a:pPr>
            <a:r>
              <a:rPr lang="fr-FR" sz="3600" dirty="0"/>
              <a:t> Idéal pour les applications critiques nécessitant une surveillance constante.</a:t>
            </a:r>
          </a:p>
        </p:txBody>
      </p:sp>
    </p:spTree>
    <p:extLst>
      <p:ext uri="{BB962C8B-B14F-4D97-AF65-F5344CB8AC3E}">
        <p14:creationId xmlns:p14="http://schemas.microsoft.com/office/powerpoint/2010/main" val="400113186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200" b="1" dirty="0"/>
              <a:t>Changements dans </a:t>
            </a:r>
            <a:r>
              <a:rPr lang="fr-FR" sz="3200" b="1" dirty="0" err="1"/>
              <a:t>instanceof</a:t>
            </a:r>
            <a:r>
              <a:rPr lang="fr-FR" sz="3200" b="1" dirty="0"/>
              <a:t> (Pattern </a:t>
            </a:r>
            <a:r>
              <a:rPr lang="fr-FR" sz="3200" b="1" dirty="0" err="1"/>
              <a:t>Matching</a:t>
            </a:r>
            <a:r>
              <a:rPr lang="fr-FR" sz="3200" b="1" dirty="0"/>
              <a:t> – JEP 305)</a:t>
            </a:r>
          </a:p>
        </p:txBody>
      </p:sp>
      <p:sp>
        <p:nvSpPr>
          <p:cNvPr id="3" name="Espace réservé du contenu 2"/>
          <p:cNvSpPr>
            <a:spLocks noGrp="1"/>
          </p:cNvSpPr>
          <p:nvPr>
            <p:ph idx="1"/>
          </p:nvPr>
        </p:nvSpPr>
        <p:spPr/>
        <p:txBody>
          <a:bodyPr>
            <a:normAutofit fontScale="92500"/>
          </a:bodyPr>
          <a:lstStyle/>
          <a:p>
            <a:pPr algn="just">
              <a:lnSpc>
                <a:spcPct val="150000"/>
              </a:lnSpc>
              <a:buFont typeface="Wingdings" panose="05000000000000000000" pitchFamily="2" charset="2"/>
              <a:buChar char="Ø"/>
            </a:pPr>
            <a:r>
              <a:rPr lang="fr-FR" sz="2800" dirty="0"/>
              <a:t> Problème avant JDK 14 </a:t>
            </a:r>
            <a:r>
              <a:rPr lang="fr-FR" sz="2800" dirty="0" smtClean="0"/>
              <a:t>:</a:t>
            </a:r>
          </a:p>
          <a:p>
            <a:pPr lvl="1" algn="just">
              <a:lnSpc>
                <a:spcPct val="150000"/>
              </a:lnSpc>
              <a:buFont typeface="Wingdings" panose="05000000000000000000" pitchFamily="2" charset="2"/>
              <a:buChar char="Ø"/>
            </a:pPr>
            <a:r>
              <a:rPr lang="fr-FR" sz="2400" dirty="0"/>
              <a:t> Le mot-clé </a:t>
            </a:r>
            <a:r>
              <a:rPr lang="fr-FR" sz="2400" b="1" dirty="0" err="1"/>
              <a:t>instanceof</a:t>
            </a:r>
            <a:r>
              <a:rPr lang="fr-FR" sz="2400" dirty="0"/>
              <a:t> nécessitait des vérifications explicites suivies de castings manuels, alourdissant le code</a:t>
            </a:r>
            <a:r>
              <a:rPr lang="fr-FR" sz="2400" dirty="0" smtClean="0"/>
              <a:t>.</a:t>
            </a:r>
          </a:p>
          <a:p>
            <a:pPr algn="just">
              <a:lnSpc>
                <a:spcPct val="150000"/>
              </a:lnSpc>
              <a:buFont typeface="Wingdings" panose="05000000000000000000" pitchFamily="2" charset="2"/>
              <a:buChar char="Ø"/>
            </a:pPr>
            <a:r>
              <a:rPr lang="fr-FR" sz="2800" dirty="0"/>
              <a:t> Nouveauté </a:t>
            </a:r>
            <a:r>
              <a:rPr lang="fr-FR" sz="2800" dirty="0" smtClean="0"/>
              <a:t>:</a:t>
            </a:r>
          </a:p>
          <a:p>
            <a:pPr lvl="1" algn="just">
              <a:lnSpc>
                <a:spcPct val="150000"/>
              </a:lnSpc>
              <a:buFont typeface="Wingdings" panose="05000000000000000000" pitchFamily="2" charset="2"/>
              <a:buChar char="Ø"/>
            </a:pPr>
            <a:r>
              <a:rPr lang="fr-FR" sz="2400" dirty="0"/>
              <a:t>  La JDK 14 introduit le Pattern </a:t>
            </a:r>
            <a:r>
              <a:rPr lang="fr-FR" sz="2400" b="1" dirty="0" err="1"/>
              <a:t>Matching</a:t>
            </a:r>
            <a:r>
              <a:rPr lang="fr-FR" sz="2400" dirty="0"/>
              <a:t> pour </a:t>
            </a:r>
            <a:r>
              <a:rPr lang="fr-FR" sz="2400" b="1" dirty="0" err="1"/>
              <a:t>instanceof</a:t>
            </a:r>
            <a:r>
              <a:rPr lang="fr-FR" sz="2400" dirty="0"/>
              <a:t>. Si la vérification réussit, la variable est automatiquement </a:t>
            </a:r>
            <a:r>
              <a:rPr lang="fr-FR" sz="2400" dirty="0" err="1"/>
              <a:t>castée</a:t>
            </a:r>
            <a:r>
              <a:rPr lang="fr-FR" sz="2400" dirty="0"/>
              <a:t>, éliminant le besoin de conversions explicites.</a:t>
            </a:r>
          </a:p>
        </p:txBody>
      </p:sp>
    </p:spTree>
    <p:extLst>
      <p:ext uri="{BB962C8B-B14F-4D97-AF65-F5344CB8AC3E}">
        <p14:creationId xmlns:p14="http://schemas.microsoft.com/office/powerpoint/2010/main" val="29843674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chor="ctr"/>
          <a:lstStyle/>
          <a:p>
            <a:pPr algn="ctr"/>
            <a:r>
              <a:rPr lang="fr-FR" b="1" dirty="0"/>
              <a:t>Exemple </a:t>
            </a:r>
          </a:p>
        </p:txBody>
      </p:sp>
      <p:sp>
        <p:nvSpPr>
          <p:cNvPr id="8" name="Espace réservé du texte 7"/>
          <p:cNvSpPr>
            <a:spLocks noGrp="1"/>
          </p:cNvSpPr>
          <p:nvPr>
            <p:ph type="body" idx="1"/>
          </p:nvPr>
        </p:nvSpPr>
        <p:spPr/>
        <p:txBody>
          <a:bodyPr/>
          <a:lstStyle/>
          <a:p>
            <a:pPr algn="ctr"/>
            <a:r>
              <a:rPr lang="fr-FR" b="1" dirty="0"/>
              <a:t>Avant JDK 14 :</a:t>
            </a:r>
          </a:p>
        </p:txBody>
      </p:sp>
      <p:pic>
        <p:nvPicPr>
          <p:cNvPr id="13" name="Espace réservé du contenu 12"/>
          <p:cNvPicPr>
            <a:picLocks noGrp="1" noChangeAspect="1"/>
          </p:cNvPicPr>
          <p:nvPr>
            <p:ph sz="half" idx="2"/>
          </p:nvPr>
        </p:nvPicPr>
        <p:blipFill>
          <a:blip r:embed="rId2"/>
          <a:stretch>
            <a:fillRect/>
          </a:stretch>
        </p:blipFill>
        <p:spPr>
          <a:xfrm>
            <a:off x="1557867" y="3149601"/>
            <a:ext cx="3441964" cy="2167466"/>
          </a:xfrm>
          <a:prstGeom prst="rect">
            <a:avLst/>
          </a:prstGeom>
        </p:spPr>
      </p:pic>
      <p:sp>
        <p:nvSpPr>
          <p:cNvPr id="10" name="Espace réservé du texte 9"/>
          <p:cNvSpPr>
            <a:spLocks noGrp="1"/>
          </p:cNvSpPr>
          <p:nvPr>
            <p:ph type="body" sz="quarter" idx="3"/>
          </p:nvPr>
        </p:nvSpPr>
        <p:spPr/>
        <p:txBody>
          <a:bodyPr/>
          <a:lstStyle/>
          <a:p>
            <a:pPr algn="ctr"/>
            <a:r>
              <a:rPr lang="fr-FR" b="1" dirty="0"/>
              <a:t>Avec JDK 14 :</a:t>
            </a:r>
          </a:p>
        </p:txBody>
      </p:sp>
      <p:pic>
        <p:nvPicPr>
          <p:cNvPr id="14" name="Espace réservé du contenu 13"/>
          <p:cNvPicPr>
            <a:picLocks noGrp="1" noChangeAspect="1"/>
          </p:cNvPicPr>
          <p:nvPr>
            <p:ph sz="quarter" idx="4"/>
          </p:nvPr>
        </p:nvPicPr>
        <p:blipFill>
          <a:blip r:embed="rId3"/>
          <a:stretch>
            <a:fillRect/>
          </a:stretch>
        </p:blipFill>
        <p:spPr>
          <a:xfrm>
            <a:off x="7238999" y="3149601"/>
            <a:ext cx="3445933" cy="2167466"/>
          </a:xfrm>
          <a:prstGeom prst="rect">
            <a:avLst/>
          </a:prstGeom>
        </p:spPr>
      </p:pic>
    </p:spTree>
    <p:extLst>
      <p:ext uri="{BB962C8B-B14F-4D97-AF65-F5344CB8AC3E}">
        <p14:creationId xmlns:p14="http://schemas.microsoft.com/office/powerpoint/2010/main" val="345927380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chor="ctr"/>
          <a:lstStyle/>
          <a:p>
            <a:pPr algn="ctr"/>
            <a:r>
              <a:rPr lang="fr-FR" dirty="0"/>
              <a:t>Avantages </a:t>
            </a:r>
          </a:p>
        </p:txBody>
      </p:sp>
      <p:sp>
        <p:nvSpPr>
          <p:cNvPr id="8" name="Espace réservé du contenu 7"/>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Moins de code répétitif</a:t>
            </a:r>
            <a:r>
              <a:rPr lang="fr-FR" sz="3600" dirty="0" smtClean="0"/>
              <a:t>.</a:t>
            </a:r>
          </a:p>
          <a:p>
            <a:pPr algn="just">
              <a:lnSpc>
                <a:spcPct val="200000"/>
              </a:lnSpc>
              <a:buFont typeface="Wingdings" panose="05000000000000000000" pitchFamily="2" charset="2"/>
              <a:buChar char="Ø"/>
            </a:pPr>
            <a:r>
              <a:rPr lang="fr-FR" sz="3600" dirty="0"/>
              <a:t> Meilleure lisibilité et réduction des erreurs de </a:t>
            </a:r>
            <a:r>
              <a:rPr lang="fr-FR" sz="3600" b="1" dirty="0" err="1"/>
              <a:t>cast</a:t>
            </a:r>
            <a:r>
              <a:rPr lang="fr-FR" sz="3600" dirty="0"/>
              <a:t>.</a:t>
            </a:r>
          </a:p>
        </p:txBody>
      </p:sp>
    </p:spTree>
    <p:extLst>
      <p:ext uri="{BB962C8B-B14F-4D97-AF65-F5344CB8AC3E}">
        <p14:creationId xmlns:p14="http://schemas.microsoft.com/office/powerpoint/2010/main" val="185488852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Nouveaux outils associés à la JDK 14</a:t>
            </a:r>
          </a:p>
        </p:txBody>
      </p:sp>
      <p:sp>
        <p:nvSpPr>
          <p:cNvPr id="3" name="Espace réservé du contenu 2"/>
          <p:cNvSpPr>
            <a:spLocks noGrp="1"/>
          </p:cNvSpPr>
          <p:nvPr>
            <p:ph idx="1"/>
          </p:nvPr>
        </p:nvSpPr>
        <p:spPr/>
        <p:txBody>
          <a:bodyPr>
            <a:noAutofit/>
          </a:bodyPr>
          <a:lstStyle/>
          <a:p>
            <a:pPr>
              <a:lnSpc>
                <a:spcPct val="150000"/>
              </a:lnSpc>
              <a:buFont typeface="Wingdings" panose="05000000000000000000" pitchFamily="2" charset="2"/>
              <a:buChar char="Ø"/>
            </a:pPr>
            <a:r>
              <a:rPr lang="fr-FR" sz="3600" dirty="0"/>
              <a:t> Packaging </a:t>
            </a:r>
            <a:r>
              <a:rPr lang="fr-FR" sz="3600" dirty="0" err="1"/>
              <a:t>Tool</a:t>
            </a:r>
            <a:r>
              <a:rPr lang="fr-FR" sz="3600" dirty="0"/>
              <a:t> (JEP 343</a:t>
            </a:r>
            <a:r>
              <a:rPr lang="fr-FR" sz="3600" dirty="0" smtClean="0"/>
              <a:t>)</a:t>
            </a:r>
          </a:p>
          <a:p>
            <a:pPr>
              <a:lnSpc>
                <a:spcPct val="150000"/>
              </a:lnSpc>
              <a:buFont typeface="Wingdings" panose="05000000000000000000" pitchFamily="2" charset="2"/>
              <a:buChar char="Ø"/>
            </a:pPr>
            <a:r>
              <a:rPr lang="fr-FR" sz="3600" dirty="0"/>
              <a:t> </a:t>
            </a:r>
            <a:r>
              <a:rPr lang="en-US" sz="3600" dirty="0"/>
              <a:t>Foreign-Memory Access API (Preview – JEP 370</a:t>
            </a:r>
            <a:r>
              <a:rPr lang="en-US" sz="3600" dirty="0" smtClean="0"/>
              <a:t>)</a:t>
            </a:r>
          </a:p>
          <a:p>
            <a:pPr>
              <a:lnSpc>
                <a:spcPct val="150000"/>
              </a:lnSpc>
              <a:buFont typeface="Wingdings" panose="05000000000000000000" pitchFamily="2" charset="2"/>
              <a:buChar char="Ø"/>
            </a:pPr>
            <a:r>
              <a:rPr lang="en-US" sz="3600" dirty="0"/>
              <a:t> Improved G1 GC Pause Times (JEP 364</a:t>
            </a:r>
            <a:r>
              <a:rPr lang="en-US" sz="3600" dirty="0" smtClean="0"/>
              <a:t>)</a:t>
            </a:r>
          </a:p>
          <a:p>
            <a:pPr>
              <a:lnSpc>
                <a:spcPct val="150000"/>
              </a:lnSpc>
              <a:buFont typeface="Wingdings" panose="05000000000000000000" pitchFamily="2" charset="2"/>
              <a:buChar char="Ø"/>
            </a:pPr>
            <a:r>
              <a:rPr lang="en-US" sz="3600" dirty="0"/>
              <a:t> </a:t>
            </a:r>
            <a:r>
              <a:rPr lang="fr-FR" sz="3600" dirty="0" err="1"/>
              <a:t>Helpful</a:t>
            </a:r>
            <a:r>
              <a:rPr lang="fr-FR" sz="3600" dirty="0"/>
              <a:t> </a:t>
            </a:r>
            <a:r>
              <a:rPr lang="fr-FR" sz="3600" dirty="0" err="1"/>
              <a:t>NullPointerException</a:t>
            </a:r>
            <a:r>
              <a:rPr lang="fr-FR" sz="3600" dirty="0"/>
              <a:t> (JEP 358)</a:t>
            </a:r>
          </a:p>
        </p:txBody>
      </p:sp>
    </p:spTree>
    <p:extLst>
      <p:ext uri="{BB962C8B-B14F-4D97-AF65-F5344CB8AC3E}">
        <p14:creationId xmlns:p14="http://schemas.microsoft.com/office/powerpoint/2010/main" val="289423780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Packaging </a:t>
            </a:r>
            <a:r>
              <a:rPr lang="fr-FR" b="1" dirty="0" err="1"/>
              <a:t>Tool</a:t>
            </a:r>
            <a:r>
              <a:rPr lang="fr-FR" b="1" dirty="0"/>
              <a:t> (JEP 343)</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smtClean="0"/>
              <a:t> </a:t>
            </a:r>
            <a:r>
              <a:rPr lang="fr-FR" sz="3200" dirty="0"/>
              <a:t> Introduit un outil pour empaqueter des applications Java en formats spécifiques à une plateforme (comme .</a:t>
            </a:r>
            <a:r>
              <a:rPr lang="fr-FR" sz="3200" dirty="0" err="1"/>
              <a:t>msi</a:t>
            </a:r>
            <a:r>
              <a:rPr lang="fr-FR" sz="3200" dirty="0"/>
              <a:t> pour Windows, .</a:t>
            </a:r>
            <a:r>
              <a:rPr lang="fr-FR" sz="3200" dirty="0" err="1"/>
              <a:t>pkg</a:t>
            </a:r>
            <a:r>
              <a:rPr lang="fr-FR" sz="3200" dirty="0"/>
              <a:t> pour </a:t>
            </a:r>
            <a:r>
              <a:rPr lang="fr-FR" sz="3200" dirty="0" err="1"/>
              <a:t>macOS</a:t>
            </a:r>
            <a:r>
              <a:rPr lang="fr-FR" sz="3200" dirty="0" smtClean="0"/>
              <a:t>).</a:t>
            </a:r>
          </a:p>
          <a:p>
            <a:pPr algn="just">
              <a:lnSpc>
                <a:spcPct val="150000"/>
              </a:lnSpc>
              <a:buFont typeface="Wingdings" panose="05000000000000000000" pitchFamily="2" charset="2"/>
              <a:buChar char="Ø"/>
            </a:pPr>
            <a:r>
              <a:rPr lang="fr-FR" sz="3200" dirty="0"/>
              <a:t> Idéal pour la distribution d’applications Java autonomes.</a:t>
            </a:r>
          </a:p>
        </p:txBody>
      </p:sp>
    </p:spTree>
    <p:extLst>
      <p:ext uri="{BB962C8B-B14F-4D97-AF65-F5344CB8AC3E}">
        <p14:creationId xmlns:p14="http://schemas.microsoft.com/office/powerpoint/2010/main" val="414554590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en-US" sz="4000" b="1" dirty="0"/>
              <a:t>Foreign-Memory Access API (Preview – JEP 370)</a:t>
            </a:r>
            <a:endParaRPr lang="fr-FR" sz="4000" b="1" dirty="0"/>
          </a:p>
        </p:txBody>
      </p:sp>
      <p:sp>
        <p:nvSpPr>
          <p:cNvPr id="3" name="Espace réservé du contenu 2"/>
          <p:cNvSpPr>
            <a:spLocks noGrp="1"/>
          </p:cNvSpPr>
          <p:nvPr>
            <p:ph idx="1"/>
          </p:nvPr>
        </p:nvSpPr>
        <p:spPr/>
        <p:txBody>
          <a:bodyPr>
            <a:noAutofit/>
          </a:bodyPr>
          <a:lstStyle/>
          <a:p>
            <a:pPr algn="just">
              <a:lnSpc>
                <a:spcPct val="200000"/>
              </a:lnSpc>
              <a:buFont typeface="Wingdings" panose="05000000000000000000" pitchFamily="2" charset="2"/>
              <a:buChar char="Ø"/>
            </a:pPr>
            <a:r>
              <a:rPr lang="fr-FR" sz="3200" dirty="0"/>
              <a:t> Fournit une API pour manipuler des segments de mémoire en dehors de la </a:t>
            </a:r>
            <a:r>
              <a:rPr lang="fr-FR" sz="3200" dirty="0" err="1"/>
              <a:t>heap</a:t>
            </a:r>
            <a:r>
              <a:rPr lang="fr-FR" sz="3200" dirty="0"/>
              <a:t> Java</a:t>
            </a:r>
            <a:r>
              <a:rPr lang="fr-FR" sz="3200" dirty="0" smtClean="0"/>
              <a:t>.</a:t>
            </a:r>
          </a:p>
          <a:p>
            <a:pPr algn="just">
              <a:lnSpc>
                <a:spcPct val="200000"/>
              </a:lnSpc>
              <a:buFont typeface="Wingdings" panose="05000000000000000000" pitchFamily="2" charset="2"/>
              <a:buChar char="Ø"/>
            </a:pPr>
            <a:r>
              <a:rPr lang="fr-FR" sz="3200" dirty="0" smtClean="0"/>
              <a:t> </a:t>
            </a:r>
            <a:r>
              <a:rPr lang="fr-FR" sz="3200" dirty="0"/>
              <a:t>Utile pour les applications nécessitant un accès bas niveau (interopérabilité avec du code natif).</a:t>
            </a:r>
          </a:p>
        </p:txBody>
      </p:sp>
    </p:spTree>
    <p:extLst>
      <p:ext uri="{BB962C8B-B14F-4D97-AF65-F5344CB8AC3E}">
        <p14:creationId xmlns:p14="http://schemas.microsoft.com/office/powerpoint/2010/main" val="195219752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en-US" b="1" dirty="0"/>
              <a:t>Improved G1 GC Pause Times (JEP 364)</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4000" dirty="0"/>
              <a:t> Amélioration des temps de pause pour le </a:t>
            </a:r>
            <a:r>
              <a:rPr lang="fr-FR" sz="4000" dirty="0" err="1"/>
              <a:t>Garbage</a:t>
            </a:r>
            <a:r>
              <a:rPr lang="fr-FR" sz="4000" dirty="0"/>
              <a:t> Collector G1 en réduisant les interruptions.</a:t>
            </a:r>
          </a:p>
        </p:txBody>
      </p:sp>
    </p:spTree>
    <p:extLst>
      <p:ext uri="{BB962C8B-B14F-4D97-AF65-F5344CB8AC3E}">
        <p14:creationId xmlns:p14="http://schemas.microsoft.com/office/powerpoint/2010/main" val="341363989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Helpful</a:t>
            </a:r>
            <a:r>
              <a:rPr lang="fr-FR" b="1" dirty="0"/>
              <a:t> </a:t>
            </a:r>
            <a:r>
              <a:rPr lang="fr-FR" b="1" dirty="0" err="1"/>
              <a:t>NullPointerException</a:t>
            </a:r>
            <a:r>
              <a:rPr lang="fr-FR" b="1" dirty="0"/>
              <a:t> (JEP 358)</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Déjà mentionné, cet outil aide également les développeurs via des diagnostics améliorés.</a:t>
            </a:r>
          </a:p>
        </p:txBody>
      </p:sp>
    </p:spTree>
    <p:extLst>
      <p:ext uri="{BB962C8B-B14F-4D97-AF65-F5344CB8AC3E}">
        <p14:creationId xmlns:p14="http://schemas.microsoft.com/office/powerpoint/2010/main" val="265451704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2400" dirty="0" smtClean="0"/>
              <a:t> </a:t>
            </a:r>
            <a:r>
              <a:rPr lang="fr-FR" sz="2400" b="1" dirty="0"/>
              <a:t>Simplification syntaxique</a:t>
            </a:r>
            <a:r>
              <a:rPr lang="fr-FR" sz="2400" dirty="0"/>
              <a:t> : Switch amélioré et </a:t>
            </a:r>
            <a:r>
              <a:rPr lang="fr-FR" sz="2400" b="1" dirty="0"/>
              <a:t>pattern </a:t>
            </a:r>
            <a:r>
              <a:rPr lang="fr-FR" sz="2400" b="1" dirty="0" err="1"/>
              <a:t>matching</a:t>
            </a:r>
            <a:r>
              <a:rPr lang="fr-FR" sz="2400" dirty="0" smtClean="0"/>
              <a:t>.</a:t>
            </a:r>
          </a:p>
          <a:p>
            <a:pPr>
              <a:lnSpc>
                <a:spcPct val="150000"/>
              </a:lnSpc>
              <a:buFont typeface="Wingdings" panose="05000000000000000000" pitchFamily="2" charset="2"/>
              <a:buChar char="Ø"/>
            </a:pPr>
            <a:r>
              <a:rPr lang="fr-FR" sz="2400" dirty="0"/>
              <a:t> </a:t>
            </a:r>
            <a:r>
              <a:rPr lang="fr-FR" sz="2400" b="1" dirty="0"/>
              <a:t>Diagnostics avancés</a:t>
            </a:r>
            <a:r>
              <a:rPr lang="fr-FR" sz="2400" dirty="0"/>
              <a:t> : Messages plus clairs pour les NPE</a:t>
            </a:r>
            <a:r>
              <a:rPr lang="fr-FR" sz="2400" dirty="0" smtClean="0"/>
              <a:t>.</a:t>
            </a:r>
          </a:p>
          <a:p>
            <a:pPr>
              <a:lnSpc>
                <a:spcPct val="150000"/>
              </a:lnSpc>
              <a:buFont typeface="Wingdings" panose="05000000000000000000" pitchFamily="2" charset="2"/>
              <a:buChar char="Ø"/>
            </a:pPr>
            <a:r>
              <a:rPr lang="fr-FR" sz="2400" dirty="0"/>
              <a:t> </a:t>
            </a:r>
            <a:r>
              <a:rPr lang="fr-FR" sz="2400" b="1" dirty="0"/>
              <a:t>Supervision proactive</a:t>
            </a:r>
            <a:r>
              <a:rPr lang="fr-FR" sz="2400" dirty="0"/>
              <a:t> : Surveillance des performances en temps réel via JFR</a:t>
            </a:r>
            <a:r>
              <a:rPr lang="fr-FR" sz="2400" dirty="0" smtClean="0"/>
              <a:t>.</a:t>
            </a:r>
          </a:p>
          <a:p>
            <a:pPr>
              <a:lnSpc>
                <a:spcPct val="150000"/>
              </a:lnSpc>
              <a:buFont typeface="Wingdings" panose="05000000000000000000" pitchFamily="2" charset="2"/>
              <a:buChar char="Ø"/>
            </a:pPr>
            <a:r>
              <a:rPr lang="fr-FR" sz="2400" dirty="0"/>
              <a:t> </a:t>
            </a:r>
            <a:r>
              <a:rPr lang="fr-FR" sz="2400" b="1" dirty="0"/>
              <a:t>Outils modernes</a:t>
            </a:r>
            <a:r>
              <a:rPr lang="fr-FR" sz="2400" dirty="0"/>
              <a:t> : Empaquetage natif et accès mémoire avancé.</a:t>
            </a:r>
          </a:p>
        </p:txBody>
      </p:sp>
    </p:spTree>
    <p:extLst>
      <p:ext uri="{BB962C8B-B14F-4D97-AF65-F5344CB8AC3E}">
        <p14:creationId xmlns:p14="http://schemas.microsoft.com/office/powerpoint/2010/main" val="112362910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Introduction</a:t>
            </a:r>
            <a:br>
              <a:rPr lang="fr-FR" b="1" dirty="0" smtClean="0"/>
            </a:br>
            <a:r>
              <a:rPr lang="fr-FR" b="1" dirty="0" smtClean="0"/>
              <a:t>JDK 15</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des </a:t>
            </a:r>
            <a:r>
              <a:rPr lang="fr-FR" sz="3600" b="1" dirty="0"/>
              <a:t>apports de la JDK 15</a:t>
            </a:r>
            <a:r>
              <a:rPr lang="fr-FR" sz="3600" dirty="0"/>
              <a:t>, notamment l'introduction des classes </a:t>
            </a:r>
            <a:r>
              <a:rPr lang="fr-FR" sz="3600" b="1" dirty="0"/>
              <a:t>scellées (</a:t>
            </a:r>
            <a:r>
              <a:rPr lang="fr-FR" sz="3600" b="1" dirty="0" err="1"/>
              <a:t>sealed</a:t>
            </a:r>
            <a:r>
              <a:rPr lang="fr-FR" sz="3600" b="1" dirty="0"/>
              <a:t>)</a:t>
            </a:r>
            <a:r>
              <a:rPr lang="fr-FR" sz="3600" dirty="0"/>
              <a:t> et la liste des fonctionnalités dépréciées ou supprimées.</a:t>
            </a:r>
          </a:p>
        </p:txBody>
      </p:sp>
    </p:spTree>
    <p:extLst>
      <p:ext uri="{BB962C8B-B14F-4D97-AF65-F5344CB8AC3E}">
        <p14:creationId xmlns:p14="http://schemas.microsoft.com/office/powerpoint/2010/main" val="392462087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Les classes scellées ("</a:t>
            </a:r>
            <a:r>
              <a:rPr lang="fr-FR" sz="4000" b="1" dirty="0" err="1"/>
              <a:t>Sealed</a:t>
            </a:r>
            <a:r>
              <a:rPr lang="fr-FR" sz="4000" b="1" dirty="0"/>
              <a:t> Classes") – JEP 360</a:t>
            </a:r>
          </a:p>
        </p:txBody>
      </p:sp>
      <p:sp>
        <p:nvSpPr>
          <p:cNvPr id="3" name="Espace réservé du contenu 2"/>
          <p:cNvSpPr>
            <a:spLocks noGrp="1"/>
          </p:cNvSpPr>
          <p:nvPr>
            <p:ph idx="1"/>
          </p:nvPr>
        </p:nvSpPr>
        <p:spPr/>
        <p:txBody>
          <a:bodyPr>
            <a:noAutofit/>
          </a:bodyPr>
          <a:lstStyle/>
          <a:p>
            <a:pPr algn="just">
              <a:buFont typeface="Wingdings" panose="05000000000000000000" pitchFamily="2" charset="2"/>
              <a:buChar char="Ø"/>
            </a:pPr>
            <a:r>
              <a:rPr lang="fr-FR" sz="2400" dirty="0"/>
              <a:t> Contexte </a:t>
            </a:r>
            <a:r>
              <a:rPr lang="fr-FR" sz="2400" dirty="0" smtClean="0"/>
              <a:t>:</a:t>
            </a:r>
          </a:p>
          <a:p>
            <a:pPr lvl="1" algn="just">
              <a:buFont typeface="Wingdings" panose="05000000000000000000" pitchFamily="2" charset="2"/>
              <a:buChar char="Ø"/>
            </a:pPr>
            <a:r>
              <a:rPr lang="fr-FR" sz="2000" dirty="0"/>
              <a:t> Dans Java, il est parfois nécessaire de restreindre les sous-classes autorisées pour une classe ou une interface, afin d'améliorer le contrôle du design et d'assurer une logique métier cohérente. Avant la JDK 15, cette restriction n'était pas facilement réalisable</a:t>
            </a:r>
            <a:r>
              <a:rPr lang="fr-FR" sz="2000" dirty="0" smtClean="0"/>
              <a:t>.</a:t>
            </a:r>
          </a:p>
          <a:p>
            <a:pPr algn="just">
              <a:buFont typeface="Wingdings" panose="05000000000000000000" pitchFamily="2" charset="2"/>
              <a:buChar char="Ø"/>
            </a:pPr>
            <a:r>
              <a:rPr lang="fr-FR" sz="2400" dirty="0"/>
              <a:t> Nouveauté </a:t>
            </a:r>
            <a:r>
              <a:rPr lang="fr-FR" sz="2400" dirty="0" smtClean="0"/>
              <a:t>:</a:t>
            </a:r>
          </a:p>
          <a:p>
            <a:pPr lvl="1" algn="just">
              <a:buFont typeface="Wingdings" panose="05000000000000000000" pitchFamily="2" charset="2"/>
              <a:buChar char="Ø"/>
            </a:pPr>
            <a:r>
              <a:rPr lang="fr-FR" sz="2000" dirty="0"/>
              <a:t> Les </a:t>
            </a:r>
            <a:r>
              <a:rPr lang="fr-FR" sz="2000" b="1" dirty="0"/>
              <a:t>classes scellées</a:t>
            </a:r>
            <a:r>
              <a:rPr lang="fr-FR" sz="2000" dirty="0"/>
              <a:t> permettent de spécifier quelles classes peuvent hériter d'une classe ou implémenter une interface. Cela garantit un contrôle précis de l'héritage tout en rendant le code plus maintenable</a:t>
            </a:r>
            <a:r>
              <a:rPr lang="fr-FR" sz="2000" dirty="0" smtClean="0"/>
              <a:t>.</a:t>
            </a:r>
          </a:p>
          <a:p>
            <a:pPr algn="just">
              <a:buFont typeface="Wingdings" panose="05000000000000000000" pitchFamily="2" charset="2"/>
              <a:buChar char="Ø"/>
            </a:pPr>
            <a:r>
              <a:rPr lang="fr-FR" sz="2400" dirty="0"/>
              <a:t> Syntaxe </a:t>
            </a:r>
            <a:r>
              <a:rPr lang="fr-FR" sz="2400" dirty="0" smtClean="0"/>
              <a:t>:</a:t>
            </a:r>
          </a:p>
          <a:p>
            <a:pPr lvl="1" algn="just">
              <a:buFont typeface="Wingdings" panose="05000000000000000000" pitchFamily="2" charset="2"/>
              <a:buChar char="Ø"/>
            </a:pPr>
            <a:r>
              <a:rPr lang="fr-FR" sz="2000" dirty="0"/>
              <a:t> Une classe ou une interface peut être déclarée comme </a:t>
            </a:r>
            <a:r>
              <a:rPr lang="fr-FR" sz="2000" b="1" dirty="0" err="1"/>
              <a:t>sealed</a:t>
            </a:r>
            <a:r>
              <a:rPr lang="fr-FR" sz="2000" dirty="0"/>
              <a:t>, suivie de la clause </a:t>
            </a:r>
            <a:r>
              <a:rPr lang="fr-FR" sz="2000" b="1" dirty="0" err="1"/>
              <a:t>permits</a:t>
            </a:r>
            <a:r>
              <a:rPr lang="fr-FR" sz="2000" dirty="0"/>
              <a:t> qui liste les sous-classes autorisées.</a:t>
            </a:r>
          </a:p>
        </p:txBody>
      </p:sp>
    </p:spTree>
    <p:extLst>
      <p:ext uri="{BB962C8B-B14F-4D97-AF65-F5344CB8AC3E}">
        <p14:creationId xmlns:p14="http://schemas.microsoft.com/office/powerpoint/2010/main" val="365203292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smtClean="0"/>
              <a:t>Exemple</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929467" y="2116667"/>
            <a:ext cx="6790266" cy="340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8259181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Fonctionnalités importantes</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800" dirty="0"/>
              <a:t> Une sous-classe peut être déclarée comme </a:t>
            </a:r>
            <a:r>
              <a:rPr lang="fr-FR" sz="2800" dirty="0" smtClean="0"/>
              <a:t>:</a:t>
            </a:r>
          </a:p>
          <a:p>
            <a:pPr lvl="1" algn="just">
              <a:buFont typeface="Wingdings" panose="05000000000000000000" pitchFamily="2" charset="2"/>
              <a:buChar char="Ø"/>
            </a:pPr>
            <a:r>
              <a:rPr lang="fr-FR" sz="2400" dirty="0"/>
              <a:t> final : ne peut pas être étendue davantage</a:t>
            </a:r>
            <a:r>
              <a:rPr lang="fr-FR" sz="2400" dirty="0" smtClean="0"/>
              <a:t>.</a:t>
            </a:r>
          </a:p>
          <a:p>
            <a:pPr lvl="1" algn="just">
              <a:buFont typeface="Wingdings" panose="05000000000000000000" pitchFamily="2" charset="2"/>
              <a:buChar char="Ø"/>
            </a:pPr>
            <a:r>
              <a:rPr lang="fr-FR" sz="2400" dirty="0"/>
              <a:t> </a:t>
            </a:r>
            <a:r>
              <a:rPr lang="fr-FR" sz="2400" dirty="0" err="1"/>
              <a:t>sealed</a:t>
            </a:r>
            <a:r>
              <a:rPr lang="fr-FR" sz="2400" dirty="0"/>
              <a:t> : peut restreindre encore plus les sous-classes autorisées</a:t>
            </a:r>
            <a:r>
              <a:rPr lang="fr-FR" sz="2400" dirty="0" smtClean="0"/>
              <a:t>.</a:t>
            </a:r>
          </a:p>
          <a:p>
            <a:pPr lvl="1" algn="just">
              <a:buFont typeface="Wingdings" panose="05000000000000000000" pitchFamily="2" charset="2"/>
              <a:buChar char="Ø"/>
            </a:pPr>
            <a:r>
              <a:rPr lang="fr-FR" sz="2400" dirty="0" smtClean="0"/>
              <a:t> non-</a:t>
            </a:r>
            <a:r>
              <a:rPr lang="fr-FR" sz="2400" dirty="0" err="1" smtClean="0"/>
              <a:t>sealed</a:t>
            </a:r>
            <a:r>
              <a:rPr lang="fr-FR" sz="2400" dirty="0" smtClean="0"/>
              <a:t> : l'héritage est ouvert pour cette sous-classe spécifique.</a:t>
            </a:r>
          </a:p>
          <a:p>
            <a:pPr algn="just">
              <a:buFont typeface="Wingdings" panose="05000000000000000000" pitchFamily="2" charset="2"/>
              <a:buChar char="Ø"/>
            </a:pPr>
            <a:r>
              <a:rPr lang="fr-FR" sz="2800" dirty="0" smtClean="0"/>
              <a:t> </a:t>
            </a:r>
            <a:r>
              <a:rPr lang="fr-FR" sz="2800" dirty="0"/>
              <a:t>Avantages </a:t>
            </a:r>
            <a:r>
              <a:rPr lang="fr-FR" sz="2800" dirty="0" smtClean="0"/>
              <a:t>:</a:t>
            </a:r>
          </a:p>
          <a:p>
            <a:pPr lvl="1" algn="just">
              <a:buFont typeface="Wingdings" panose="05000000000000000000" pitchFamily="2" charset="2"/>
              <a:buChar char="Ø"/>
            </a:pPr>
            <a:r>
              <a:rPr lang="fr-FR" sz="2400" dirty="0"/>
              <a:t> Contrôle strict de l'héritage pour éviter des implémentations non autorisées</a:t>
            </a:r>
            <a:r>
              <a:rPr lang="fr-FR" sz="2400" dirty="0" smtClean="0"/>
              <a:t>.</a:t>
            </a:r>
          </a:p>
          <a:p>
            <a:pPr lvl="1" algn="just">
              <a:buFont typeface="Wingdings" panose="05000000000000000000" pitchFamily="2" charset="2"/>
              <a:buChar char="Ø"/>
            </a:pPr>
            <a:r>
              <a:rPr lang="fr-FR" sz="2400" dirty="0"/>
              <a:t> Amélioration de la lisibilité et de la maintenabilité du code</a:t>
            </a:r>
            <a:r>
              <a:rPr lang="fr-FR" sz="2400" dirty="0" smtClean="0"/>
              <a:t>.</a:t>
            </a:r>
          </a:p>
          <a:p>
            <a:pPr lvl="1" algn="just">
              <a:buFont typeface="Wingdings" panose="05000000000000000000" pitchFamily="2" charset="2"/>
              <a:buChar char="Ø"/>
            </a:pPr>
            <a:r>
              <a:rPr lang="fr-FR" sz="2400" dirty="0"/>
              <a:t> Meilleur support pour le </a:t>
            </a:r>
            <a:r>
              <a:rPr lang="fr-FR" sz="2400" b="1" dirty="0"/>
              <a:t>pattern </a:t>
            </a:r>
            <a:r>
              <a:rPr lang="fr-FR" sz="2400" b="1" dirty="0" err="1"/>
              <a:t>matching</a:t>
            </a:r>
            <a:r>
              <a:rPr lang="fr-FR" sz="2400" dirty="0"/>
              <a:t> (introduit dans JDK 14).</a:t>
            </a:r>
          </a:p>
        </p:txBody>
      </p:sp>
    </p:spTree>
    <p:extLst>
      <p:ext uri="{BB962C8B-B14F-4D97-AF65-F5344CB8AC3E}">
        <p14:creationId xmlns:p14="http://schemas.microsoft.com/office/powerpoint/2010/main" val="416081973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200" b="1" dirty="0"/>
              <a:t>Fonctionnalités dépréciées ou supprimées dans la JDK 15</a:t>
            </a:r>
          </a:p>
        </p:txBody>
      </p:sp>
      <p:sp>
        <p:nvSpPr>
          <p:cNvPr id="3" name="Espace réservé du contenu 2"/>
          <p:cNvSpPr>
            <a:spLocks noGrp="1"/>
          </p:cNvSpPr>
          <p:nvPr>
            <p:ph idx="1"/>
          </p:nvPr>
        </p:nvSpPr>
        <p:spPr/>
        <p:txBody>
          <a:bodyPr>
            <a:noAutofit/>
          </a:bodyPr>
          <a:lstStyle/>
          <a:p>
            <a:pPr algn="just">
              <a:buFont typeface="Wingdings" panose="05000000000000000000" pitchFamily="2" charset="2"/>
              <a:buChar char="Ø"/>
            </a:pPr>
            <a:r>
              <a:rPr lang="fr-FR" sz="2800" dirty="0"/>
              <a:t> Fonctionnalités dépréciées </a:t>
            </a:r>
            <a:r>
              <a:rPr lang="fr-FR" sz="2800" dirty="0" smtClean="0"/>
              <a:t>:</a:t>
            </a:r>
          </a:p>
          <a:p>
            <a:pPr lvl="1" algn="just">
              <a:buFont typeface="Wingdings" panose="05000000000000000000" pitchFamily="2" charset="2"/>
              <a:buChar char="Ø"/>
            </a:pPr>
            <a:r>
              <a:rPr lang="fr-FR" sz="2400" dirty="0"/>
              <a:t> Certaines fonctionnalités sont marquées comme </a:t>
            </a:r>
            <a:r>
              <a:rPr lang="fr-FR" sz="2400" b="1" dirty="0"/>
              <a:t>dépréciées</a:t>
            </a:r>
            <a:r>
              <a:rPr lang="fr-FR" sz="2400" dirty="0"/>
              <a:t> pour inciter les développeurs à migrer vers des alternatives plus modernes. Ces fonctionnalités fonctionnent toujours, mais elles risquent d'être supprimées dans une version future</a:t>
            </a:r>
            <a:r>
              <a:rPr lang="fr-FR" sz="2400" dirty="0" smtClean="0"/>
              <a:t>.</a:t>
            </a:r>
          </a:p>
          <a:p>
            <a:pPr lvl="2" algn="just">
              <a:buFont typeface="Wingdings" panose="05000000000000000000" pitchFamily="2" charset="2"/>
              <a:buChar char="Ø"/>
            </a:pPr>
            <a:r>
              <a:rPr lang="fr-FR" sz="1800" dirty="0"/>
              <a:t> RMI Activation System (JEP 385</a:t>
            </a:r>
            <a:r>
              <a:rPr lang="fr-FR" sz="1800" dirty="0" smtClean="0"/>
              <a:t>)</a:t>
            </a:r>
          </a:p>
          <a:p>
            <a:pPr lvl="3" algn="just">
              <a:buFont typeface="Wingdings" panose="05000000000000000000" pitchFamily="2" charset="2"/>
              <a:buChar char="Ø"/>
            </a:pPr>
            <a:r>
              <a:rPr lang="fr-FR" sz="1800" dirty="0"/>
              <a:t> Déprécié dans JDK 15</a:t>
            </a:r>
            <a:r>
              <a:rPr lang="fr-FR" sz="1800" dirty="0" smtClean="0"/>
              <a:t>.</a:t>
            </a:r>
          </a:p>
          <a:p>
            <a:pPr lvl="3" algn="just">
              <a:buFont typeface="Wingdings" panose="05000000000000000000" pitchFamily="2" charset="2"/>
              <a:buChar char="Ø"/>
            </a:pPr>
            <a:r>
              <a:rPr lang="fr-FR" sz="1800" dirty="0" smtClean="0"/>
              <a:t>L'activation </a:t>
            </a:r>
            <a:r>
              <a:rPr lang="fr-FR" sz="1800" dirty="0"/>
              <a:t>RMI (</a:t>
            </a:r>
            <a:r>
              <a:rPr lang="fr-FR" sz="1800" dirty="0" err="1"/>
              <a:t>Remote</a:t>
            </a:r>
            <a:r>
              <a:rPr lang="fr-FR" sz="1800" dirty="0"/>
              <a:t> Method Invocation) n'est plus largement utilisée et des solutions modernes comme </a:t>
            </a:r>
            <a:r>
              <a:rPr lang="fr-FR" sz="1800" dirty="0" err="1"/>
              <a:t>gRPC</a:t>
            </a:r>
            <a:r>
              <a:rPr lang="fr-FR" sz="1800" dirty="0"/>
              <a:t> ou </a:t>
            </a:r>
            <a:r>
              <a:rPr lang="fr-FR" sz="1800" dirty="0" err="1"/>
              <a:t>RESTful</a:t>
            </a:r>
            <a:r>
              <a:rPr lang="fr-FR" sz="1800" dirty="0"/>
              <a:t> services sont privilégiées.</a:t>
            </a:r>
            <a:endParaRPr lang="fr-FR" sz="1800" dirty="0" smtClean="0"/>
          </a:p>
          <a:p>
            <a:pPr lvl="2" algn="just">
              <a:buFont typeface="Wingdings" panose="05000000000000000000" pitchFamily="2" charset="2"/>
              <a:buChar char="Ø"/>
            </a:pPr>
            <a:r>
              <a:rPr lang="fr-FR" sz="1800" dirty="0"/>
              <a:t> </a:t>
            </a:r>
            <a:r>
              <a:rPr lang="fr-FR" sz="1800" b="1" dirty="0" err="1"/>
              <a:t>Biased</a:t>
            </a:r>
            <a:r>
              <a:rPr lang="fr-FR" sz="1800" b="1" dirty="0"/>
              <a:t> </a:t>
            </a:r>
            <a:r>
              <a:rPr lang="fr-FR" sz="1800" b="1" dirty="0" err="1"/>
              <a:t>Locking</a:t>
            </a:r>
            <a:r>
              <a:rPr lang="fr-FR" sz="1800" dirty="0"/>
              <a:t> </a:t>
            </a:r>
            <a:endParaRPr lang="fr-FR" sz="1800" dirty="0" smtClean="0"/>
          </a:p>
          <a:p>
            <a:pPr lvl="3" algn="just">
              <a:buFont typeface="Wingdings" panose="05000000000000000000" pitchFamily="2" charset="2"/>
              <a:buChar char="Ø"/>
            </a:pPr>
            <a:r>
              <a:rPr lang="fr-FR" sz="1800" dirty="0"/>
              <a:t> Une optimisation du verrouillage introduite dans les anciennes versions de Java</a:t>
            </a:r>
            <a:r>
              <a:rPr lang="fr-FR" sz="1800" dirty="0" smtClean="0"/>
              <a:t>.</a:t>
            </a:r>
          </a:p>
          <a:p>
            <a:pPr lvl="3" algn="just">
              <a:buFont typeface="Wingdings" panose="05000000000000000000" pitchFamily="2" charset="2"/>
              <a:buChar char="Ø"/>
            </a:pPr>
            <a:r>
              <a:rPr lang="fr-FR" sz="1800" dirty="0"/>
              <a:t> Dépréciée car son impact est moins significatif sur les systèmes modernes.</a:t>
            </a:r>
          </a:p>
        </p:txBody>
      </p:sp>
    </p:spTree>
    <p:extLst>
      <p:ext uri="{BB962C8B-B14F-4D97-AF65-F5344CB8AC3E}">
        <p14:creationId xmlns:p14="http://schemas.microsoft.com/office/powerpoint/2010/main" val="413714199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Fonctionnalités supprimées :</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800" dirty="0"/>
              <a:t> Certaines fonctionnalités ou API obsolètes sont supprimées définitivement dans JDK 15</a:t>
            </a:r>
            <a:r>
              <a:rPr lang="fr-FR" sz="2800" dirty="0" smtClean="0"/>
              <a:t>.</a:t>
            </a:r>
          </a:p>
          <a:p>
            <a:pPr lvl="1" algn="just">
              <a:buFont typeface="Wingdings" panose="05000000000000000000" pitchFamily="2" charset="2"/>
              <a:buChar char="Ø"/>
            </a:pPr>
            <a:r>
              <a:rPr lang="fr-FR" sz="2400" dirty="0"/>
              <a:t> </a:t>
            </a:r>
            <a:r>
              <a:rPr lang="fr-FR" sz="2400" b="1" dirty="0" err="1"/>
              <a:t>Nashorn</a:t>
            </a:r>
            <a:r>
              <a:rPr lang="fr-FR" sz="2400" b="1" dirty="0"/>
              <a:t> JavaScript Engine</a:t>
            </a:r>
            <a:r>
              <a:rPr lang="fr-FR" sz="2400" dirty="0"/>
              <a:t> 	</a:t>
            </a:r>
            <a:endParaRPr lang="fr-FR" sz="2400" dirty="0" smtClean="0"/>
          </a:p>
          <a:p>
            <a:pPr lvl="2" algn="just">
              <a:buFont typeface="Wingdings" panose="05000000000000000000" pitchFamily="2" charset="2"/>
              <a:buChar char="Ø"/>
            </a:pPr>
            <a:r>
              <a:rPr lang="fr-FR" sz="1800" dirty="0" smtClean="0"/>
              <a:t> </a:t>
            </a:r>
            <a:r>
              <a:rPr lang="fr-FR" sz="1800" dirty="0"/>
              <a:t>Supprimé (marqué comme déprécié dans JDK 11</a:t>
            </a:r>
            <a:r>
              <a:rPr lang="fr-FR" sz="1800" dirty="0" smtClean="0"/>
              <a:t>).</a:t>
            </a:r>
          </a:p>
          <a:p>
            <a:pPr lvl="2" algn="just">
              <a:buFont typeface="Wingdings" panose="05000000000000000000" pitchFamily="2" charset="2"/>
              <a:buChar char="Ø"/>
            </a:pPr>
            <a:r>
              <a:rPr lang="fr-FR" sz="1800" dirty="0"/>
              <a:t> Les développeurs doivent migrer vers des moteurs JavaScript modernes comme </a:t>
            </a:r>
            <a:r>
              <a:rPr lang="fr-FR" sz="1800" dirty="0" err="1"/>
              <a:t>GraalVM</a:t>
            </a:r>
            <a:r>
              <a:rPr lang="fr-FR" sz="1800" dirty="0" smtClean="0"/>
              <a:t>.</a:t>
            </a:r>
          </a:p>
          <a:p>
            <a:pPr lvl="1" algn="just">
              <a:buFont typeface="Wingdings" panose="05000000000000000000" pitchFamily="2" charset="2"/>
              <a:buChar char="Ø"/>
            </a:pPr>
            <a:r>
              <a:rPr lang="fr-FR" sz="2400" dirty="0"/>
              <a:t> </a:t>
            </a:r>
            <a:r>
              <a:rPr lang="fr-FR" sz="2400" b="1" dirty="0"/>
              <a:t>CMS </a:t>
            </a:r>
            <a:r>
              <a:rPr lang="fr-FR" sz="2400" b="1" dirty="0" err="1"/>
              <a:t>Garbage</a:t>
            </a:r>
            <a:r>
              <a:rPr lang="fr-FR" sz="2400" b="1" dirty="0"/>
              <a:t> Collector</a:t>
            </a:r>
            <a:r>
              <a:rPr lang="fr-FR" sz="2400" dirty="0"/>
              <a:t> </a:t>
            </a:r>
            <a:r>
              <a:rPr lang="fr-FR" sz="2400" dirty="0" smtClean="0"/>
              <a:t>:</a:t>
            </a:r>
          </a:p>
          <a:p>
            <a:pPr lvl="2" algn="just">
              <a:buFont typeface="Wingdings" panose="05000000000000000000" pitchFamily="2" charset="2"/>
              <a:buChar char="Ø"/>
            </a:pPr>
            <a:r>
              <a:rPr lang="fr-FR" sz="1800" dirty="0"/>
              <a:t> Supprimé dans JDK 15 (déprécié depuis JDK 9</a:t>
            </a:r>
            <a:r>
              <a:rPr lang="fr-FR" sz="1800" dirty="0" smtClean="0"/>
              <a:t>).</a:t>
            </a:r>
          </a:p>
          <a:p>
            <a:pPr lvl="2" algn="just">
              <a:buFont typeface="Wingdings" panose="05000000000000000000" pitchFamily="2" charset="2"/>
              <a:buChar char="Ø"/>
            </a:pPr>
            <a:r>
              <a:rPr lang="fr-FR" sz="1800" dirty="0"/>
              <a:t> G1GC ou ZGC sont les alternatives recommandées pour une gestion plus efficace de la mémoire</a:t>
            </a:r>
            <a:r>
              <a:rPr lang="fr-FR" sz="1800" dirty="0" smtClean="0"/>
              <a:t>.</a:t>
            </a:r>
          </a:p>
          <a:p>
            <a:pPr lvl="1" algn="just">
              <a:buFont typeface="Wingdings" panose="05000000000000000000" pitchFamily="2" charset="2"/>
              <a:buChar char="Ø"/>
            </a:pPr>
            <a:r>
              <a:rPr lang="fr-FR" sz="2400" dirty="0"/>
              <a:t> Avantages des suppressions </a:t>
            </a:r>
            <a:r>
              <a:rPr lang="fr-FR" sz="2400" dirty="0" smtClean="0"/>
              <a:t>:</a:t>
            </a:r>
          </a:p>
          <a:p>
            <a:pPr lvl="2" algn="just">
              <a:buFont typeface="Wingdings" panose="05000000000000000000" pitchFamily="2" charset="2"/>
              <a:buChar char="Ø"/>
            </a:pPr>
            <a:r>
              <a:rPr lang="fr-FR" sz="1800" dirty="0"/>
              <a:t> Réduction de la maintenance des composants obsolètes</a:t>
            </a:r>
            <a:r>
              <a:rPr lang="fr-FR" sz="1800" dirty="0" smtClean="0"/>
              <a:t>.</a:t>
            </a:r>
          </a:p>
          <a:p>
            <a:pPr lvl="2" algn="just">
              <a:buFont typeface="Wingdings" panose="05000000000000000000" pitchFamily="2" charset="2"/>
              <a:buChar char="Ø"/>
            </a:pPr>
            <a:r>
              <a:rPr lang="fr-FR" sz="1800" dirty="0"/>
              <a:t> Simplification du JDK, rendant les versions futures plus performantes et légères.</a:t>
            </a:r>
          </a:p>
        </p:txBody>
      </p:sp>
    </p:spTree>
    <p:extLst>
      <p:ext uri="{BB962C8B-B14F-4D97-AF65-F5344CB8AC3E}">
        <p14:creationId xmlns:p14="http://schemas.microsoft.com/office/powerpoint/2010/main" val="366639841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a:xfrm>
            <a:off x="1097280" y="1662853"/>
            <a:ext cx="10058400" cy="4023360"/>
          </a:xfrm>
        </p:spPr>
        <p:txBody>
          <a:bodyPr>
            <a:noAutofit/>
          </a:bodyPr>
          <a:lstStyle/>
          <a:p>
            <a:pPr algn="just">
              <a:lnSpc>
                <a:spcPct val="150000"/>
              </a:lnSpc>
              <a:buFont typeface="Wingdings" panose="05000000000000000000" pitchFamily="2" charset="2"/>
              <a:buChar char="Ø"/>
            </a:pPr>
            <a:r>
              <a:rPr lang="fr-FR" sz="2400" dirty="0" smtClean="0"/>
              <a:t> </a:t>
            </a:r>
            <a:r>
              <a:rPr lang="fr-FR" sz="2400" b="1" dirty="0"/>
              <a:t>Classes scellées (</a:t>
            </a:r>
            <a:r>
              <a:rPr lang="fr-FR" sz="2400" b="1" dirty="0" err="1"/>
              <a:t>Sealed</a:t>
            </a:r>
            <a:r>
              <a:rPr lang="fr-FR" sz="2400" b="1" dirty="0"/>
              <a:t> Classes)</a:t>
            </a:r>
            <a:r>
              <a:rPr lang="fr-FR" sz="2400" dirty="0"/>
              <a:t> </a:t>
            </a:r>
            <a:r>
              <a:rPr lang="fr-FR" sz="2400" dirty="0" smtClean="0"/>
              <a:t>:</a:t>
            </a:r>
          </a:p>
          <a:p>
            <a:pPr lvl="1" algn="just">
              <a:lnSpc>
                <a:spcPct val="150000"/>
              </a:lnSpc>
              <a:buFont typeface="Wingdings" panose="05000000000000000000" pitchFamily="2" charset="2"/>
              <a:buChar char="Ø"/>
            </a:pPr>
            <a:r>
              <a:rPr lang="fr-FR" sz="2000" dirty="0"/>
              <a:t> Apportent un contrôle précis sur l'héritage</a:t>
            </a:r>
            <a:r>
              <a:rPr lang="fr-FR" sz="2000" dirty="0" smtClean="0"/>
              <a:t>.</a:t>
            </a:r>
          </a:p>
          <a:p>
            <a:pPr lvl="1" algn="just">
              <a:lnSpc>
                <a:spcPct val="150000"/>
              </a:lnSpc>
              <a:buFont typeface="Wingdings" panose="05000000000000000000" pitchFamily="2" charset="2"/>
              <a:buChar char="Ø"/>
            </a:pPr>
            <a:r>
              <a:rPr lang="fr-FR" sz="2000" dirty="0"/>
              <a:t> Favorisent un design robuste et maintenable</a:t>
            </a:r>
            <a:r>
              <a:rPr lang="fr-FR" sz="2000" dirty="0" smtClean="0"/>
              <a:t>.</a:t>
            </a:r>
          </a:p>
          <a:p>
            <a:pPr algn="just">
              <a:lnSpc>
                <a:spcPct val="150000"/>
              </a:lnSpc>
              <a:buFont typeface="Wingdings" panose="05000000000000000000" pitchFamily="2" charset="2"/>
              <a:buChar char="Ø"/>
            </a:pPr>
            <a:r>
              <a:rPr lang="fr-FR" sz="2400" dirty="0"/>
              <a:t> </a:t>
            </a:r>
            <a:r>
              <a:rPr lang="fr-FR" sz="2400" b="1" dirty="0"/>
              <a:t>Fonctionnalités dépréciées</a:t>
            </a:r>
            <a:r>
              <a:rPr lang="fr-FR" sz="2400" dirty="0"/>
              <a:t> </a:t>
            </a:r>
            <a:r>
              <a:rPr lang="fr-FR" sz="2400" dirty="0" smtClean="0"/>
              <a:t>:</a:t>
            </a:r>
          </a:p>
          <a:p>
            <a:pPr lvl="1" algn="just">
              <a:lnSpc>
                <a:spcPct val="150000"/>
              </a:lnSpc>
              <a:buFont typeface="Wingdings" panose="05000000000000000000" pitchFamily="2" charset="2"/>
              <a:buChar char="Ø"/>
            </a:pPr>
            <a:r>
              <a:rPr lang="fr-FR" sz="2000" dirty="0"/>
              <a:t> Encouragement à migrer vers des alternatives modernes, comme pour RMI et </a:t>
            </a:r>
            <a:r>
              <a:rPr lang="fr-FR" sz="2000" dirty="0" err="1"/>
              <a:t>Biased</a:t>
            </a:r>
            <a:r>
              <a:rPr lang="fr-FR" sz="2000" dirty="0"/>
              <a:t> </a:t>
            </a:r>
            <a:r>
              <a:rPr lang="fr-FR" sz="2000" dirty="0" err="1"/>
              <a:t>Locking</a:t>
            </a:r>
            <a:r>
              <a:rPr lang="fr-FR" sz="2000" dirty="0" smtClean="0"/>
              <a:t>.</a:t>
            </a:r>
          </a:p>
          <a:p>
            <a:pPr algn="just">
              <a:lnSpc>
                <a:spcPct val="100000"/>
              </a:lnSpc>
              <a:buFont typeface="Wingdings" panose="05000000000000000000" pitchFamily="2" charset="2"/>
              <a:buChar char="Ø"/>
            </a:pPr>
            <a:r>
              <a:rPr lang="fr-FR" sz="2400" dirty="0"/>
              <a:t> </a:t>
            </a:r>
            <a:r>
              <a:rPr lang="fr-FR" sz="2400" b="1" dirty="0"/>
              <a:t>Fonctionnalités supprimées</a:t>
            </a:r>
            <a:r>
              <a:rPr lang="fr-FR" sz="2400" dirty="0"/>
              <a:t> </a:t>
            </a:r>
            <a:r>
              <a:rPr lang="fr-FR" sz="2400" dirty="0" smtClean="0"/>
              <a:t>:</a:t>
            </a:r>
          </a:p>
          <a:p>
            <a:pPr lvl="1" algn="just">
              <a:lnSpc>
                <a:spcPct val="100000"/>
              </a:lnSpc>
              <a:buFont typeface="Wingdings" panose="05000000000000000000" pitchFamily="2" charset="2"/>
              <a:buChar char="Ø"/>
            </a:pPr>
            <a:r>
              <a:rPr lang="fr-FR" sz="2000" dirty="0"/>
              <a:t> Nettoyage du JDK en supprimant des composants comme </a:t>
            </a:r>
            <a:r>
              <a:rPr lang="fr-FR" sz="2000" dirty="0" err="1"/>
              <a:t>Nashorn</a:t>
            </a:r>
            <a:r>
              <a:rPr lang="fr-FR" sz="2000" dirty="0"/>
              <a:t> et CMS </a:t>
            </a:r>
            <a:r>
              <a:rPr lang="fr-FR" sz="2000" dirty="0" err="1"/>
              <a:t>Garbage</a:t>
            </a:r>
            <a:r>
              <a:rPr lang="fr-FR" sz="2000" dirty="0"/>
              <a:t> Collector.</a:t>
            </a:r>
          </a:p>
        </p:txBody>
      </p:sp>
    </p:spTree>
    <p:extLst>
      <p:ext uri="{BB962C8B-B14F-4D97-AF65-F5344CB8AC3E}">
        <p14:creationId xmlns:p14="http://schemas.microsoft.com/office/powerpoint/2010/main" val="77362148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Apports de la JDK 16</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600" dirty="0"/>
              <a:t> La </a:t>
            </a:r>
            <a:r>
              <a:rPr lang="fr-FR" sz="3600" b="1" dirty="0"/>
              <a:t>JDK 16 </a:t>
            </a:r>
            <a:r>
              <a:rPr lang="fr-FR" sz="3600" dirty="0"/>
              <a:t>introduit officiellement l'outil </a:t>
            </a:r>
            <a:r>
              <a:rPr lang="fr-FR" sz="3600" b="1" dirty="0" err="1"/>
              <a:t>jpackage</a:t>
            </a:r>
            <a:r>
              <a:rPr lang="fr-FR" sz="3600" dirty="0"/>
              <a:t> (</a:t>
            </a:r>
            <a:r>
              <a:rPr lang="fr-FR" sz="3600" b="1" dirty="0"/>
              <a:t>JEP 392</a:t>
            </a:r>
            <a:r>
              <a:rPr lang="fr-FR" sz="3600" dirty="0"/>
              <a:t>), qui permet de créer des packages d'application Java prêts à être distribués sous forme de fichiers natifs pour les principales plateformes (</a:t>
            </a:r>
            <a:r>
              <a:rPr lang="fr-FR" sz="3600" b="1" dirty="0"/>
              <a:t>Windows</a:t>
            </a:r>
            <a:r>
              <a:rPr lang="fr-FR" sz="3600" dirty="0"/>
              <a:t>, </a:t>
            </a:r>
            <a:r>
              <a:rPr lang="fr-FR" sz="3600" b="1" dirty="0" err="1"/>
              <a:t>macOS</a:t>
            </a:r>
            <a:r>
              <a:rPr lang="fr-FR" sz="3600" dirty="0"/>
              <a:t>, et </a:t>
            </a:r>
            <a:r>
              <a:rPr lang="fr-FR" sz="3600" b="1" dirty="0"/>
              <a:t>Linux</a:t>
            </a:r>
            <a:r>
              <a:rPr lang="fr-FR" sz="3600" dirty="0"/>
              <a:t>).</a:t>
            </a:r>
          </a:p>
        </p:txBody>
      </p:sp>
    </p:spTree>
    <p:extLst>
      <p:ext uri="{BB962C8B-B14F-4D97-AF65-F5344CB8AC3E}">
        <p14:creationId xmlns:p14="http://schemas.microsoft.com/office/powerpoint/2010/main" val="118804120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Qu'est-ce que </a:t>
            </a:r>
            <a:r>
              <a:rPr lang="fr-FR" b="1" dirty="0" err="1"/>
              <a:t>jpackage</a:t>
            </a:r>
            <a:r>
              <a:rPr lang="fr-FR" b="1" dirty="0"/>
              <a:t> ?</a:t>
            </a:r>
          </a:p>
        </p:txBody>
      </p:sp>
      <p:sp>
        <p:nvSpPr>
          <p:cNvPr id="3" name="Espace réservé du contenu 2"/>
          <p:cNvSpPr>
            <a:spLocks noGrp="1"/>
          </p:cNvSpPr>
          <p:nvPr>
            <p:ph idx="1"/>
          </p:nvPr>
        </p:nvSpPr>
        <p:spPr>
          <a:xfrm>
            <a:off x="1097280" y="1628987"/>
            <a:ext cx="10058400" cy="4023360"/>
          </a:xfrm>
        </p:spPr>
        <p:txBody>
          <a:bodyPr>
            <a:noAutofit/>
          </a:bodyPr>
          <a:lstStyle/>
          <a:p>
            <a:pPr algn="just">
              <a:lnSpc>
                <a:spcPct val="150000"/>
              </a:lnSpc>
              <a:buFont typeface="Wingdings" panose="05000000000000000000" pitchFamily="2" charset="2"/>
              <a:buChar char="Ø"/>
            </a:pPr>
            <a:r>
              <a:rPr lang="fr-FR" sz="2800" dirty="0"/>
              <a:t> </a:t>
            </a:r>
            <a:r>
              <a:rPr lang="fr-FR" sz="2800" b="1" dirty="0" err="1"/>
              <a:t>jpackage</a:t>
            </a:r>
            <a:r>
              <a:rPr lang="fr-FR" sz="2800" dirty="0"/>
              <a:t> est un outil conçu pour faciliter la distribution des applications Java. Il permet de </a:t>
            </a:r>
            <a:r>
              <a:rPr lang="fr-FR" sz="2800" dirty="0" smtClean="0"/>
              <a:t>:</a:t>
            </a:r>
          </a:p>
          <a:p>
            <a:pPr lvl="1" algn="just">
              <a:lnSpc>
                <a:spcPct val="150000"/>
              </a:lnSpc>
              <a:buFont typeface="Wingdings" panose="05000000000000000000" pitchFamily="2" charset="2"/>
              <a:buChar char="Ø"/>
            </a:pPr>
            <a:r>
              <a:rPr lang="fr-FR" sz="2400" dirty="0"/>
              <a:t> Créer un package natif spécifique à une plateforme (fichier .</a:t>
            </a:r>
            <a:r>
              <a:rPr lang="fr-FR" sz="2400" dirty="0" err="1"/>
              <a:t>msi</a:t>
            </a:r>
            <a:r>
              <a:rPr lang="fr-FR" sz="2400" dirty="0"/>
              <a:t>, .</a:t>
            </a:r>
            <a:r>
              <a:rPr lang="fr-FR" sz="2400" dirty="0" err="1"/>
              <a:t>pkg</a:t>
            </a:r>
            <a:r>
              <a:rPr lang="fr-FR" sz="2400" dirty="0"/>
              <a:t>, .deb, etc</a:t>
            </a:r>
            <a:r>
              <a:rPr lang="fr-FR" sz="2400" dirty="0" smtClean="0"/>
              <a:t>.).</a:t>
            </a:r>
          </a:p>
          <a:p>
            <a:pPr lvl="1" algn="just">
              <a:lnSpc>
                <a:spcPct val="150000"/>
              </a:lnSpc>
              <a:buFont typeface="Wingdings" panose="05000000000000000000" pitchFamily="2" charset="2"/>
              <a:buChar char="Ø"/>
            </a:pPr>
            <a:r>
              <a:rPr lang="fr-FR" sz="2400" dirty="0"/>
              <a:t> Inclure toutes les dépendances nécessaires, y compris une version réduite du JDK via </a:t>
            </a:r>
            <a:r>
              <a:rPr lang="fr-FR" sz="2400" b="1" dirty="0" err="1"/>
              <a:t>jlink</a:t>
            </a:r>
            <a:r>
              <a:rPr lang="fr-FR" sz="2400" dirty="0" smtClean="0"/>
              <a:t>.</a:t>
            </a:r>
          </a:p>
          <a:p>
            <a:pPr lvl="1" algn="just">
              <a:lnSpc>
                <a:spcPct val="150000"/>
              </a:lnSpc>
              <a:buFont typeface="Wingdings" panose="05000000000000000000" pitchFamily="2" charset="2"/>
              <a:buChar char="Ø"/>
            </a:pPr>
            <a:r>
              <a:rPr lang="fr-FR" sz="2400" dirty="0"/>
              <a:t> Proposer une installation facile pour les utilisateurs finaux avec des interfaces graphiques standard de leur système d'exploitation.</a:t>
            </a:r>
          </a:p>
        </p:txBody>
      </p:sp>
    </p:spTree>
    <p:extLst>
      <p:ext uri="{BB962C8B-B14F-4D97-AF65-F5344CB8AC3E}">
        <p14:creationId xmlns:p14="http://schemas.microsoft.com/office/powerpoint/2010/main" val="139548677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Fonctionnalités principales de </a:t>
            </a:r>
            <a:r>
              <a:rPr lang="fr-FR" b="1" dirty="0" err="1"/>
              <a:t>jpackage</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4000" dirty="0"/>
              <a:t> Support </a:t>
            </a:r>
            <a:r>
              <a:rPr lang="fr-FR" sz="4000" dirty="0" smtClean="0"/>
              <a:t>multiplateforme</a:t>
            </a:r>
          </a:p>
          <a:p>
            <a:pPr>
              <a:lnSpc>
                <a:spcPct val="150000"/>
              </a:lnSpc>
              <a:buFont typeface="Wingdings" panose="05000000000000000000" pitchFamily="2" charset="2"/>
              <a:buChar char="Ø"/>
            </a:pPr>
            <a:r>
              <a:rPr lang="fr-FR" sz="4000" dirty="0"/>
              <a:t> Intégration </a:t>
            </a:r>
            <a:r>
              <a:rPr lang="fr-FR" sz="4000" dirty="0" smtClean="0"/>
              <a:t>facile</a:t>
            </a:r>
          </a:p>
          <a:p>
            <a:pPr>
              <a:lnSpc>
                <a:spcPct val="150000"/>
              </a:lnSpc>
              <a:buFont typeface="Wingdings" panose="05000000000000000000" pitchFamily="2" charset="2"/>
              <a:buChar char="Ø"/>
            </a:pPr>
            <a:r>
              <a:rPr lang="fr-FR" sz="4000" b="1" dirty="0"/>
              <a:t> </a:t>
            </a:r>
            <a:r>
              <a:rPr lang="fr-FR" sz="4000" dirty="0"/>
              <a:t>Personnalisation des packages</a:t>
            </a:r>
          </a:p>
        </p:txBody>
      </p:sp>
    </p:spTree>
    <p:extLst>
      <p:ext uri="{BB962C8B-B14F-4D97-AF65-F5344CB8AC3E}">
        <p14:creationId xmlns:p14="http://schemas.microsoft.com/office/powerpoint/2010/main" val="115638552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Support </a:t>
            </a:r>
            <a:r>
              <a:rPr lang="fr-FR" b="1" dirty="0" err="1"/>
              <a:t>multi-plateforme</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3600" dirty="0"/>
              <a:t> </a:t>
            </a:r>
            <a:r>
              <a:rPr lang="fr-FR" sz="3600" b="1" dirty="0"/>
              <a:t>Windows</a:t>
            </a:r>
            <a:r>
              <a:rPr lang="fr-FR" sz="3600" dirty="0"/>
              <a:t> : Crée des fichiers </a:t>
            </a:r>
            <a:r>
              <a:rPr lang="fr-FR" sz="3600" b="1" dirty="0"/>
              <a:t>.</a:t>
            </a:r>
            <a:r>
              <a:rPr lang="fr-FR" sz="3600" b="1" dirty="0" err="1"/>
              <a:t>exe</a:t>
            </a:r>
            <a:r>
              <a:rPr lang="fr-FR" sz="3600" dirty="0"/>
              <a:t> ou </a:t>
            </a:r>
            <a:r>
              <a:rPr lang="fr-FR" sz="3600" b="1" dirty="0"/>
              <a:t>.</a:t>
            </a:r>
            <a:r>
              <a:rPr lang="fr-FR" sz="3600" b="1" dirty="0" err="1"/>
              <a:t>msi</a:t>
            </a:r>
            <a:r>
              <a:rPr lang="fr-FR" sz="3600" dirty="0" smtClean="0"/>
              <a:t>.</a:t>
            </a:r>
          </a:p>
          <a:p>
            <a:pPr>
              <a:lnSpc>
                <a:spcPct val="150000"/>
              </a:lnSpc>
              <a:buFont typeface="Wingdings" panose="05000000000000000000" pitchFamily="2" charset="2"/>
              <a:buChar char="Ø"/>
            </a:pPr>
            <a:r>
              <a:rPr lang="fr-FR" sz="3600" dirty="0"/>
              <a:t> </a:t>
            </a:r>
            <a:r>
              <a:rPr lang="fr-FR" sz="3600" b="1" dirty="0" err="1"/>
              <a:t>macOS</a:t>
            </a:r>
            <a:r>
              <a:rPr lang="fr-FR" sz="3600" dirty="0"/>
              <a:t> : Génère des fichiers </a:t>
            </a:r>
            <a:r>
              <a:rPr lang="fr-FR" sz="3600" b="1" dirty="0"/>
              <a:t>.</a:t>
            </a:r>
            <a:r>
              <a:rPr lang="fr-FR" sz="3600" b="1" dirty="0" err="1"/>
              <a:t>pkg</a:t>
            </a:r>
            <a:r>
              <a:rPr lang="fr-FR" sz="3600" b="1" dirty="0"/>
              <a:t> </a:t>
            </a:r>
            <a:r>
              <a:rPr lang="fr-FR" sz="3600" dirty="0"/>
              <a:t>ou </a:t>
            </a:r>
            <a:r>
              <a:rPr lang="fr-FR" sz="3600" b="1" dirty="0"/>
              <a:t>.</a:t>
            </a:r>
            <a:r>
              <a:rPr lang="fr-FR" sz="3600" b="1" dirty="0" err="1"/>
              <a:t>dmg</a:t>
            </a:r>
            <a:r>
              <a:rPr lang="fr-FR" sz="3600" dirty="0" smtClean="0"/>
              <a:t>.</a:t>
            </a:r>
          </a:p>
          <a:p>
            <a:pPr>
              <a:lnSpc>
                <a:spcPct val="150000"/>
              </a:lnSpc>
              <a:buFont typeface="Wingdings" panose="05000000000000000000" pitchFamily="2" charset="2"/>
              <a:buChar char="Ø"/>
            </a:pPr>
            <a:r>
              <a:rPr lang="fr-FR" sz="3600" dirty="0"/>
              <a:t> </a:t>
            </a:r>
            <a:r>
              <a:rPr lang="fr-FR" sz="3600" b="1" dirty="0"/>
              <a:t>Linux</a:t>
            </a:r>
            <a:r>
              <a:rPr lang="fr-FR" sz="3600" dirty="0"/>
              <a:t> : Produit des packages </a:t>
            </a:r>
            <a:r>
              <a:rPr lang="fr-FR" sz="3600" b="1" dirty="0"/>
              <a:t>.deb </a:t>
            </a:r>
            <a:r>
              <a:rPr lang="fr-FR" sz="3600" dirty="0"/>
              <a:t>ou .</a:t>
            </a:r>
            <a:r>
              <a:rPr lang="fr-FR" sz="3600" b="1" dirty="0" err="1"/>
              <a:t>rpm</a:t>
            </a:r>
            <a:r>
              <a:rPr lang="fr-FR" sz="3600" dirty="0"/>
              <a:t>.</a:t>
            </a:r>
          </a:p>
        </p:txBody>
      </p:sp>
    </p:spTree>
    <p:extLst>
      <p:ext uri="{BB962C8B-B14F-4D97-AF65-F5344CB8AC3E}">
        <p14:creationId xmlns:p14="http://schemas.microsoft.com/office/powerpoint/2010/main" val="217284598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Intégration facile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Inclus directement dans la </a:t>
            </a:r>
            <a:r>
              <a:rPr lang="fr-FR" sz="3200" dirty="0" smtClean="0"/>
              <a:t>JDK </a:t>
            </a:r>
            <a:r>
              <a:rPr lang="fr-FR" sz="3200" dirty="0"/>
              <a:t>à partir de la version 16</a:t>
            </a:r>
            <a:r>
              <a:rPr lang="fr-FR" sz="3200" dirty="0" smtClean="0"/>
              <a:t>.</a:t>
            </a:r>
          </a:p>
          <a:p>
            <a:pPr algn="just">
              <a:lnSpc>
                <a:spcPct val="150000"/>
              </a:lnSpc>
              <a:buFont typeface="Wingdings" panose="05000000000000000000" pitchFamily="2" charset="2"/>
              <a:buChar char="Ø"/>
            </a:pPr>
            <a:r>
              <a:rPr lang="fr-FR" sz="3200" dirty="0"/>
              <a:t> Compatible avec les outils de compilation et de construction comme </a:t>
            </a:r>
            <a:r>
              <a:rPr lang="fr-FR" sz="3200" dirty="0" err="1"/>
              <a:t>Maven</a:t>
            </a:r>
            <a:r>
              <a:rPr lang="fr-FR" sz="3200" dirty="0"/>
              <a:t> ou </a:t>
            </a:r>
            <a:r>
              <a:rPr lang="fr-FR" sz="3200" dirty="0" err="1"/>
              <a:t>Gradle</a:t>
            </a:r>
            <a:r>
              <a:rPr lang="fr-FR" sz="3200" dirty="0"/>
              <a:t>.</a:t>
            </a:r>
          </a:p>
        </p:txBody>
      </p:sp>
    </p:spTree>
    <p:extLst>
      <p:ext uri="{BB962C8B-B14F-4D97-AF65-F5344CB8AC3E}">
        <p14:creationId xmlns:p14="http://schemas.microsoft.com/office/powerpoint/2010/main" val="36051645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Personnalisation des packages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Ajout de ressources comme des icônes personnalisées, des fichiers de configuration ou des scripts</a:t>
            </a:r>
            <a:r>
              <a:rPr lang="fr-FR" sz="3200" dirty="0" smtClean="0"/>
              <a:t>.</a:t>
            </a:r>
          </a:p>
          <a:p>
            <a:pPr algn="just">
              <a:lnSpc>
                <a:spcPct val="150000"/>
              </a:lnSpc>
              <a:buFont typeface="Wingdings" panose="05000000000000000000" pitchFamily="2" charset="2"/>
              <a:buChar char="Ø"/>
            </a:pPr>
            <a:r>
              <a:rPr lang="fr-FR" sz="3200" dirty="0"/>
              <a:t> Configuration du lancement de l'application (par exemple, spécifier la classe principale).</a:t>
            </a:r>
          </a:p>
        </p:txBody>
      </p:sp>
    </p:spTree>
    <p:extLst>
      <p:ext uri="{BB962C8B-B14F-4D97-AF65-F5344CB8AC3E}">
        <p14:creationId xmlns:p14="http://schemas.microsoft.com/office/powerpoint/2010/main" val="385266426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Utilisation de base de </a:t>
            </a:r>
            <a:r>
              <a:rPr lang="fr-FR" b="1" dirty="0" err="1"/>
              <a:t>jpackage</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a:t>
            </a:r>
            <a:r>
              <a:rPr lang="fr-FR" sz="3200" dirty="0" smtClean="0"/>
              <a:t>Prérequis :</a:t>
            </a:r>
          </a:p>
          <a:p>
            <a:pPr lvl="1" algn="just">
              <a:lnSpc>
                <a:spcPct val="200000"/>
              </a:lnSpc>
              <a:buFont typeface="Wingdings" panose="05000000000000000000" pitchFamily="2" charset="2"/>
              <a:buChar char="Ø"/>
            </a:pPr>
            <a:r>
              <a:rPr lang="fr-FR" sz="2800" dirty="0"/>
              <a:t> Une application Java avec un fichier .jar exécutable</a:t>
            </a:r>
            <a:r>
              <a:rPr lang="fr-FR" sz="2800" dirty="0" smtClean="0"/>
              <a:t>.</a:t>
            </a:r>
          </a:p>
          <a:p>
            <a:pPr lvl="1" algn="just">
              <a:lnSpc>
                <a:spcPct val="200000"/>
              </a:lnSpc>
              <a:buFont typeface="Wingdings" panose="05000000000000000000" pitchFamily="2" charset="2"/>
              <a:buChar char="Ø"/>
            </a:pPr>
            <a:r>
              <a:rPr lang="fr-FR" sz="2800" dirty="0"/>
              <a:t> Une version de JDK 16 ou supérieure.</a:t>
            </a:r>
          </a:p>
        </p:txBody>
      </p:sp>
    </p:spTree>
    <p:extLst>
      <p:ext uri="{BB962C8B-B14F-4D97-AF65-F5344CB8AC3E}">
        <p14:creationId xmlns:p14="http://schemas.microsoft.com/office/powerpoint/2010/main" val="104749709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Commande de base</a:t>
            </a:r>
          </a:p>
        </p:txBody>
      </p:sp>
      <p:pic>
        <p:nvPicPr>
          <p:cNvPr id="4" name="Espace réservé du contenu 3"/>
          <p:cNvPicPr>
            <a:picLocks noGrp="1" noChangeAspect="1"/>
          </p:cNvPicPr>
          <p:nvPr>
            <p:ph idx="1"/>
          </p:nvPr>
        </p:nvPicPr>
        <p:blipFill>
          <a:blip r:embed="rId2"/>
          <a:stretch>
            <a:fillRect/>
          </a:stretch>
        </p:blipFill>
        <p:spPr>
          <a:xfrm>
            <a:off x="1097280" y="2145504"/>
            <a:ext cx="4538251" cy="31376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stretch>
            <a:fillRect/>
          </a:stretch>
        </p:blipFill>
        <p:spPr>
          <a:xfrm>
            <a:off x="5848879" y="2145505"/>
            <a:ext cx="6048375" cy="31376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9890123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Autofit/>
          </a:bodyPr>
          <a:lstStyle/>
          <a:p>
            <a:pPr algn="ctr"/>
            <a:r>
              <a:rPr lang="fr-FR" sz="3200" b="1" dirty="0"/>
              <a:t>Exemple avancé :</a:t>
            </a:r>
            <a:br>
              <a:rPr lang="fr-FR" sz="3200" b="1" dirty="0"/>
            </a:br>
            <a:r>
              <a:rPr lang="fr-FR" sz="3200" b="1" dirty="0"/>
              <a:t>Création d'un installateur natif avec une icône personnalisée </a:t>
            </a:r>
            <a:r>
              <a:rPr lang="fr-FR" sz="3200" b="1" dirty="0" smtClean="0"/>
              <a:t>:</a:t>
            </a:r>
            <a:endParaRPr lang="fr-FR" sz="3200" b="1" dirty="0"/>
          </a:p>
        </p:txBody>
      </p:sp>
      <p:pic>
        <p:nvPicPr>
          <p:cNvPr id="4" name="Espace réservé du contenu 3"/>
          <p:cNvPicPr>
            <a:picLocks noGrp="1" noChangeAspect="1"/>
          </p:cNvPicPr>
          <p:nvPr>
            <p:ph idx="1"/>
          </p:nvPr>
        </p:nvPicPr>
        <p:blipFill>
          <a:blip r:embed="rId2"/>
          <a:stretch>
            <a:fillRect/>
          </a:stretch>
        </p:blipFill>
        <p:spPr>
          <a:xfrm>
            <a:off x="1097280" y="2192338"/>
            <a:ext cx="4575387" cy="2788805"/>
          </a:xfrm>
          <a:prstGeom prst="rect">
            <a:avLst/>
          </a:prstGeom>
        </p:spPr>
      </p:pic>
      <p:pic>
        <p:nvPicPr>
          <p:cNvPr id="5" name="Image 4"/>
          <p:cNvPicPr>
            <a:picLocks noChangeAspect="1"/>
          </p:cNvPicPr>
          <p:nvPr/>
        </p:nvPicPr>
        <p:blipFill>
          <a:blip r:embed="rId3"/>
          <a:stretch>
            <a:fillRect/>
          </a:stretch>
        </p:blipFill>
        <p:spPr>
          <a:xfrm>
            <a:off x="6088380" y="2192337"/>
            <a:ext cx="5494020" cy="2193395"/>
          </a:xfrm>
          <a:prstGeom prst="rect">
            <a:avLst/>
          </a:prstGeom>
        </p:spPr>
      </p:pic>
    </p:spTree>
    <p:extLst>
      <p:ext uri="{BB962C8B-B14F-4D97-AF65-F5344CB8AC3E}">
        <p14:creationId xmlns:p14="http://schemas.microsoft.com/office/powerpoint/2010/main" val="300236866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de </a:t>
            </a:r>
            <a:r>
              <a:rPr lang="fr-FR" b="1" dirty="0" err="1" smtClean="0"/>
              <a:t>jpackage</a:t>
            </a:r>
            <a:endParaRPr lang="fr-FR" b="1" dirty="0"/>
          </a:p>
        </p:txBody>
      </p:sp>
      <p:sp>
        <p:nvSpPr>
          <p:cNvPr id="3" name="Espace réservé du contenu 2"/>
          <p:cNvSpPr>
            <a:spLocks noGrp="1"/>
          </p:cNvSpPr>
          <p:nvPr>
            <p:ph idx="1"/>
          </p:nvPr>
        </p:nvSpPr>
        <p:spPr/>
        <p:txBody>
          <a:bodyPr>
            <a:noAutofit/>
          </a:bodyPr>
          <a:lstStyle/>
          <a:p>
            <a:pPr algn="just">
              <a:buFont typeface="Wingdings" panose="05000000000000000000" pitchFamily="2" charset="2"/>
              <a:buChar char="Ø"/>
            </a:pPr>
            <a:r>
              <a:rPr lang="fr-FR" sz="2400" dirty="0"/>
              <a:t> Facilitation de la distribution </a:t>
            </a:r>
            <a:r>
              <a:rPr lang="fr-FR" sz="2400" dirty="0" smtClean="0"/>
              <a:t>:</a:t>
            </a:r>
          </a:p>
          <a:p>
            <a:pPr lvl="1" algn="just">
              <a:buFont typeface="Wingdings" panose="05000000000000000000" pitchFamily="2" charset="2"/>
              <a:buChar char="Ø"/>
            </a:pPr>
            <a:r>
              <a:rPr lang="fr-FR" sz="2000" dirty="0"/>
              <a:t> Permet de distribuer des applications Java comme des logiciels natifs, sans que l'utilisateur ait besoin d'installer Java manuellement</a:t>
            </a:r>
            <a:r>
              <a:rPr lang="fr-FR" sz="2000" dirty="0" smtClean="0"/>
              <a:t>.</a:t>
            </a:r>
          </a:p>
          <a:p>
            <a:pPr algn="just">
              <a:buFont typeface="Wingdings" panose="05000000000000000000" pitchFamily="2" charset="2"/>
              <a:buChar char="Ø"/>
            </a:pPr>
            <a:r>
              <a:rPr lang="fr-FR" sz="2400" dirty="0"/>
              <a:t> Encapsulation complète </a:t>
            </a:r>
            <a:r>
              <a:rPr lang="fr-FR" sz="2400" dirty="0" smtClean="0"/>
              <a:t>:</a:t>
            </a:r>
          </a:p>
          <a:p>
            <a:pPr lvl="1" algn="just">
              <a:buFont typeface="Wingdings" panose="05000000000000000000" pitchFamily="2" charset="2"/>
              <a:buChar char="Ø"/>
            </a:pPr>
            <a:r>
              <a:rPr lang="fr-FR" sz="2000" dirty="0"/>
              <a:t> Emballe l'application avec une version réduite de Java (via </a:t>
            </a:r>
            <a:r>
              <a:rPr lang="fr-FR" sz="2000" b="1" dirty="0" err="1"/>
              <a:t>jlink</a:t>
            </a:r>
            <a:r>
              <a:rPr lang="fr-FR" sz="2000" dirty="0"/>
              <a:t>), garantissant la compatibilité et réduisant la taille du package</a:t>
            </a:r>
            <a:r>
              <a:rPr lang="fr-FR" sz="2000" dirty="0" smtClean="0"/>
              <a:t>.</a:t>
            </a:r>
          </a:p>
          <a:p>
            <a:pPr algn="just">
              <a:buFont typeface="Wingdings" panose="05000000000000000000" pitchFamily="2" charset="2"/>
              <a:buChar char="Ø"/>
            </a:pPr>
            <a:r>
              <a:rPr lang="fr-FR" sz="2400" dirty="0"/>
              <a:t> </a:t>
            </a:r>
            <a:r>
              <a:rPr lang="fr-FR" sz="2400" b="1" dirty="0"/>
              <a:t>Expérience utilisateur améliorée </a:t>
            </a:r>
            <a:r>
              <a:rPr lang="fr-FR" sz="2400" b="1" dirty="0" smtClean="0"/>
              <a:t>:</a:t>
            </a:r>
          </a:p>
          <a:p>
            <a:pPr lvl="1" algn="just">
              <a:buFont typeface="Wingdings" panose="05000000000000000000" pitchFamily="2" charset="2"/>
              <a:buChar char="Ø"/>
            </a:pPr>
            <a:r>
              <a:rPr lang="fr-FR" sz="2000" b="1" dirty="0"/>
              <a:t> </a:t>
            </a:r>
            <a:r>
              <a:rPr lang="fr-FR" sz="2000" dirty="0"/>
              <a:t>Crée des installateurs natifs avec des icônes et des raccourcis, offrant une expérience homogène et professionnelle</a:t>
            </a:r>
            <a:r>
              <a:rPr lang="fr-FR" sz="2000" dirty="0" smtClean="0"/>
              <a:t>.</a:t>
            </a:r>
          </a:p>
          <a:p>
            <a:pPr algn="just">
              <a:buFont typeface="Wingdings" panose="05000000000000000000" pitchFamily="2" charset="2"/>
              <a:buChar char="Ø"/>
            </a:pPr>
            <a:r>
              <a:rPr lang="fr-FR" sz="2400" dirty="0"/>
              <a:t> Flexibilité </a:t>
            </a:r>
            <a:r>
              <a:rPr lang="fr-FR" sz="2400" dirty="0" smtClean="0"/>
              <a:t>:</a:t>
            </a:r>
          </a:p>
          <a:p>
            <a:pPr lvl="1" algn="just">
              <a:buFont typeface="Wingdings" panose="05000000000000000000" pitchFamily="2" charset="2"/>
              <a:buChar char="Ø"/>
            </a:pPr>
            <a:r>
              <a:rPr lang="fr-FR" sz="2000" dirty="0"/>
              <a:t> Personnalisation poussée (scripts d'installation, ressources supplémentaires, etc</a:t>
            </a:r>
            <a:r>
              <a:rPr lang="fr-FR" sz="2000" dirty="0" smtClean="0"/>
              <a:t>.).</a:t>
            </a:r>
          </a:p>
          <a:p>
            <a:pPr lvl="1" algn="just">
              <a:buFont typeface="Wingdings" panose="05000000000000000000" pitchFamily="2" charset="2"/>
              <a:buChar char="Ø"/>
            </a:pPr>
            <a:r>
              <a:rPr lang="fr-FR" sz="2000" dirty="0"/>
              <a:t> Compatible avec divers environnements et workflows de développement.</a:t>
            </a:r>
          </a:p>
        </p:txBody>
      </p:sp>
    </p:spTree>
    <p:extLst>
      <p:ext uri="{BB962C8B-B14F-4D97-AF65-F5344CB8AC3E}">
        <p14:creationId xmlns:p14="http://schemas.microsoft.com/office/powerpoint/2010/main" val="14950020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d'usage typiques de </a:t>
            </a:r>
            <a:r>
              <a:rPr lang="fr-FR" b="1" dirty="0" err="1"/>
              <a:t>jpackage</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Distribution d'applications GUI </a:t>
            </a:r>
            <a:r>
              <a:rPr lang="fr-FR" sz="2400" dirty="0" smtClean="0"/>
              <a:t>:</a:t>
            </a:r>
          </a:p>
          <a:p>
            <a:pPr lvl="1" algn="just">
              <a:lnSpc>
                <a:spcPct val="150000"/>
              </a:lnSpc>
              <a:buFont typeface="Wingdings" panose="05000000000000000000" pitchFamily="2" charset="2"/>
              <a:buChar char="Ø"/>
            </a:pPr>
            <a:r>
              <a:rPr lang="fr-FR" sz="2000" dirty="0"/>
              <a:t> Idéal pour les applications </a:t>
            </a:r>
            <a:r>
              <a:rPr lang="fr-FR" sz="2000" dirty="0" err="1"/>
              <a:t>JavaFX</a:t>
            </a:r>
            <a:r>
              <a:rPr lang="fr-FR" sz="2000" dirty="0"/>
              <a:t> ou Swing destinées au grand public</a:t>
            </a:r>
            <a:r>
              <a:rPr lang="fr-FR" sz="2000" dirty="0" smtClean="0"/>
              <a:t>.</a:t>
            </a:r>
          </a:p>
          <a:p>
            <a:pPr algn="just">
              <a:lnSpc>
                <a:spcPct val="150000"/>
              </a:lnSpc>
              <a:buFont typeface="Wingdings" panose="05000000000000000000" pitchFamily="2" charset="2"/>
              <a:buChar char="Ø"/>
            </a:pPr>
            <a:r>
              <a:rPr lang="fr-FR" sz="2400" dirty="0"/>
              <a:t> Applications métiers </a:t>
            </a:r>
            <a:r>
              <a:rPr lang="fr-FR" sz="2400" dirty="0" smtClean="0"/>
              <a:t>:</a:t>
            </a:r>
          </a:p>
          <a:p>
            <a:pPr lvl="1" algn="just">
              <a:lnSpc>
                <a:spcPct val="150000"/>
              </a:lnSpc>
              <a:buFont typeface="Wingdings" panose="05000000000000000000" pitchFamily="2" charset="2"/>
              <a:buChar char="Ø"/>
            </a:pPr>
            <a:r>
              <a:rPr lang="fr-FR" sz="2000" dirty="0"/>
              <a:t> Facilite le déploiement d'outils internes dans des entreprises où la configuration système peut varier</a:t>
            </a:r>
            <a:r>
              <a:rPr lang="fr-FR" sz="2000" dirty="0" smtClean="0"/>
              <a:t>.</a:t>
            </a:r>
          </a:p>
          <a:p>
            <a:pPr algn="just">
              <a:lnSpc>
                <a:spcPct val="150000"/>
              </a:lnSpc>
              <a:buFont typeface="Wingdings" panose="05000000000000000000" pitchFamily="2" charset="2"/>
              <a:buChar char="Ø"/>
            </a:pPr>
            <a:r>
              <a:rPr lang="fr-FR" sz="2400" dirty="0"/>
              <a:t> Projets open source </a:t>
            </a:r>
            <a:r>
              <a:rPr lang="fr-FR" sz="2400" dirty="0" smtClean="0"/>
              <a:t>:</a:t>
            </a:r>
          </a:p>
          <a:p>
            <a:pPr lvl="1" algn="just">
              <a:lnSpc>
                <a:spcPct val="150000"/>
              </a:lnSpc>
              <a:buFont typeface="Wingdings" panose="05000000000000000000" pitchFamily="2" charset="2"/>
              <a:buChar char="Ø"/>
            </a:pPr>
            <a:r>
              <a:rPr lang="fr-FR" sz="2000" dirty="0"/>
              <a:t> Simplifie la publication d'applications prêtes à être utilisées sur GitHub ou d'autres plateformes.</a:t>
            </a:r>
          </a:p>
        </p:txBody>
      </p:sp>
    </p:spTree>
    <p:extLst>
      <p:ext uri="{BB962C8B-B14F-4D97-AF65-F5344CB8AC3E}">
        <p14:creationId xmlns:p14="http://schemas.microsoft.com/office/powerpoint/2010/main" val="27923123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Limitations de </a:t>
            </a:r>
            <a:r>
              <a:rPr lang="fr-FR" b="1" dirty="0" err="1"/>
              <a:t>jpackage</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Non adapté pour les applications Web </a:t>
            </a:r>
            <a:r>
              <a:rPr lang="fr-FR" sz="2800" dirty="0" smtClean="0"/>
              <a:t>:</a:t>
            </a:r>
          </a:p>
          <a:p>
            <a:pPr lvl="1" algn="just">
              <a:lnSpc>
                <a:spcPct val="150000"/>
              </a:lnSpc>
              <a:buFont typeface="Wingdings" panose="05000000000000000000" pitchFamily="2" charset="2"/>
              <a:buChar char="Ø"/>
            </a:pPr>
            <a:r>
              <a:rPr lang="fr-FR" sz="2400" dirty="0"/>
              <a:t> Destiné uniquement aux applications de bureau, pas pour les applications serveur</a:t>
            </a:r>
            <a:r>
              <a:rPr lang="fr-FR" sz="2400" dirty="0" smtClean="0"/>
              <a:t>.</a:t>
            </a:r>
          </a:p>
          <a:p>
            <a:pPr algn="just">
              <a:lnSpc>
                <a:spcPct val="150000"/>
              </a:lnSpc>
              <a:buFont typeface="Wingdings" panose="05000000000000000000" pitchFamily="2" charset="2"/>
              <a:buChar char="Ø"/>
            </a:pPr>
            <a:r>
              <a:rPr lang="fr-FR" sz="2800" dirty="0"/>
              <a:t> Dépendances système </a:t>
            </a:r>
            <a:r>
              <a:rPr lang="fr-FR" sz="2800" dirty="0" smtClean="0"/>
              <a:t>:</a:t>
            </a:r>
          </a:p>
          <a:p>
            <a:pPr lvl="1" algn="just">
              <a:lnSpc>
                <a:spcPct val="150000"/>
              </a:lnSpc>
              <a:buFont typeface="Wingdings" panose="05000000000000000000" pitchFamily="2" charset="2"/>
              <a:buChar char="Ø"/>
            </a:pPr>
            <a:r>
              <a:rPr lang="fr-FR" sz="2400" dirty="0"/>
              <a:t> Nécessite des outils natifs (comme </a:t>
            </a:r>
            <a:r>
              <a:rPr lang="fr-FR" sz="2400" dirty="0" err="1"/>
              <a:t>WiX</a:t>
            </a:r>
            <a:r>
              <a:rPr lang="fr-FR" sz="2400" dirty="0"/>
              <a:t> pour Windows ou </a:t>
            </a:r>
            <a:r>
              <a:rPr lang="fr-FR" sz="2400" dirty="0" err="1"/>
              <a:t>dpkg</a:t>
            </a:r>
            <a:r>
              <a:rPr lang="fr-FR" sz="2400" dirty="0"/>
              <a:t> pour Linux) pour créer certains formats.</a:t>
            </a:r>
          </a:p>
        </p:txBody>
      </p:sp>
    </p:spTree>
    <p:extLst>
      <p:ext uri="{BB962C8B-B14F-4D97-AF65-F5344CB8AC3E}">
        <p14:creationId xmlns:p14="http://schemas.microsoft.com/office/powerpoint/2010/main" val="58971715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L'outil </a:t>
            </a:r>
            <a:r>
              <a:rPr lang="fr-FR" sz="2800" b="1" dirty="0" err="1"/>
              <a:t>jpackage</a:t>
            </a:r>
            <a:r>
              <a:rPr lang="fr-FR" sz="2800" dirty="0"/>
              <a:t> de la JDK 16 est une avancée majeure pour les développeurs Java qui souhaitent distribuer leurs applications de bureau facilement et de manière professionnelle. Avec son support natif des plateformes modernes et ses options de personnalisation, il offre une solution complète pour transformer les projets Java en logiciels prêts à l'emploi.</a:t>
            </a:r>
          </a:p>
        </p:txBody>
      </p:sp>
    </p:spTree>
    <p:extLst>
      <p:ext uri="{BB962C8B-B14F-4D97-AF65-F5344CB8AC3E}">
        <p14:creationId xmlns:p14="http://schemas.microsoft.com/office/powerpoint/2010/main" val="316620065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Apports de la JDK 17</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Les </a:t>
            </a:r>
            <a:r>
              <a:rPr lang="fr-FR" sz="2800" b="1" dirty="0"/>
              <a:t>interfaces scellées</a:t>
            </a:r>
            <a:r>
              <a:rPr lang="fr-FR" sz="2800" dirty="0"/>
              <a:t> (</a:t>
            </a:r>
            <a:r>
              <a:rPr lang="fr-FR" sz="2800" b="1" dirty="0" err="1"/>
              <a:t>Sealed</a:t>
            </a:r>
            <a:r>
              <a:rPr lang="fr-FR" sz="2800" b="1" dirty="0"/>
              <a:t> Interfaces</a:t>
            </a:r>
            <a:r>
              <a:rPr lang="fr-FR" sz="2800" dirty="0"/>
              <a:t>) sont une fonctionnalité introduite dans </a:t>
            </a:r>
            <a:r>
              <a:rPr lang="fr-FR" sz="2800" b="1" dirty="0"/>
              <a:t>Java 17</a:t>
            </a:r>
            <a:r>
              <a:rPr lang="fr-FR" sz="2800" dirty="0"/>
              <a:t>. Elles permettent de restreindre quelles classes ou interfaces peuvent implémenter une interface ou étendre une classe. Cela fournit un contrôle précis sur la hiérarchie de classes et aide à concevoir des modèles plus sécurisés et compréhensibles.</a:t>
            </a:r>
          </a:p>
        </p:txBody>
      </p:sp>
    </p:spTree>
    <p:extLst>
      <p:ext uri="{BB962C8B-B14F-4D97-AF65-F5344CB8AC3E}">
        <p14:creationId xmlns:p14="http://schemas.microsoft.com/office/powerpoint/2010/main" val="137276563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Principe des interfaces scellées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Une interface scellée permet de </a:t>
            </a:r>
            <a:r>
              <a:rPr lang="fr-FR" sz="2800" dirty="0" smtClean="0"/>
              <a:t>:</a:t>
            </a:r>
          </a:p>
          <a:p>
            <a:pPr lvl="1" algn="just">
              <a:lnSpc>
                <a:spcPct val="150000"/>
              </a:lnSpc>
              <a:buFont typeface="Wingdings" panose="05000000000000000000" pitchFamily="2" charset="2"/>
              <a:buChar char="Ø"/>
            </a:pPr>
            <a:r>
              <a:rPr lang="fr-FR" sz="2400" dirty="0"/>
              <a:t> </a:t>
            </a:r>
            <a:r>
              <a:rPr lang="fr-FR" sz="2400" b="1" dirty="0"/>
              <a:t>Limiter explicitement les sous-types</a:t>
            </a:r>
            <a:r>
              <a:rPr lang="fr-FR" sz="2400" dirty="0"/>
              <a:t> : Seules certaines classes ou interfaces spécifiées peuvent implémenter une interface scellée</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a:t>Améliorer la lisibilité et la maintenance</a:t>
            </a:r>
            <a:r>
              <a:rPr lang="fr-FR" sz="2400" dirty="0"/>
              <a:t> du code en définissant des hiérarchies de classe bien structurées et contrôlées</a:t>
            </a:r>
            <a:r>
              <a:rPr lang="fr-FR" sz="2400" dirty="0" smtClean="0"/>
              <a:t>.</a:t>
            </a:r>
          </a:p>
          <a:p>
            <a:pPr lvl="1" algn="just">
              <a:lnSpc>
                <a:spcPct val="150000"/>
              </a:lnSpc>
              <a:buFont typeface="Wingdings" panose="05000000000000000000" pitchFamily="2" charset="2"/>
              <a:buChar char="Ø"/>
            </a:pPr>
            <a:r>
              <a:rPr lang="fr-FR" sz="2400" dirty="0"/>
              <a:t> Faciliter le raisonnement pour le compilateur et les développeurs dans les cas d'utilisation comme les instructions switch.</a:t>
            </a:r>
          </a:p>
        </p:txBody>
      </p:sp>
    </p:spTree>
    <p:extLst>
      <p:ext uri="{BB962C8B-B14F-4D97-AF65-F5344CB8AC3E}">
        <p14:creationId xmlns:p14="http://schemas.microsoft.com/office/powerpoint/2010/main" val="73050798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Mots-clés associés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400" b="1" dirty="0" err="1" smtClean="0"/>
              <a:t>sealed</a:t>
            </a:r>
            <a:r>
              <a:rPr lang="fr-FR" sz="2400" dirty="0" smtClean="0"/>
              <a:t> </a:t>
            </a:r>
            <a:r>
              <a:rPr lang="fr-FR" sz="2400" dirty="0"/>
              <a:t>: Définit une interface ou une classe comme scellée</a:t>
            </a:r>
            <a:r>
              <a:rPr lang="fr-FR" sz="2400" dirty="0" smtClean="0"/>
              <a:t>.</a:t>
            </a:r>
          </a:p>
          <a:p>
            <a:pPr marL="457200" indent="-457200" algn="just">
              <a:lnSpc>
                <a:spcPct val="150000"/>
              </a:lnSpc>
              <a:buFont typeface="+mj-lt"/>
              <a:buAutoNum type="arabicPeriod"/>
            </a:pPr>
            <a:r>
              <a:rPr lang="fr-FR" sz="2400" b="1" dirty="0" err="1"/>
              <a:t>permits</a:t>
            </a:r>
            <a:r>
              <a:rPr lang="fr-FR" sz="2400" dirty="0"/>
              <a:t> : Spécifie les sous-types autorisés à implémenter une interface ou à étendre une classe scellée</a:t>
            </a:r>
            <a:r>
              <a:rPr lang="fr-FR" sz="2400" dirty="0" smtClean="0"/>
              <a:t>.</a:t>
            </a:r>
          </a:p>
          <a:p>
            <a:pPr marL="457200" indent="-457200" algn="just">
              <a:lnSpc>
                <a:spcPct val="150000"/>
              </a:lnSpc>
              <a:buFont typeface="+mj-lt"/>
              <a:buAutoNum type="arabicPeriod"/>
            </a:pPr>
            <a:r>
              <a:rPr lang="fr-FR" sz="2400" b="1" dirty="0"/>
              <a:t>Sous-types</a:t>
            </a:r>
            <a:r>
              <a:rPr lang="fr-FR" sz="2400" dirty="0"/>
              <a:t> : Les sous-types d'une interface ou classe scellée doivent être </a:t>
            </a:r>
            <a:r>
              <a:rPr lang="fr-FR" sz="2400" dirty="0" smtClean="0"/>
              <a:t>:</a:t>
            </a:r>
          </a:p>
          <a:p>
            <a:pPr marL="749808" lvl="1" indent="-457200" algn="just">
              <a:lnSpc>
                <a:spcPct val="150000"/>
              </a:lnSpc>
              <a:buFont typeface="Wingdings" panose="05000000000000000000" pitchFamily="2" charset="2"/>
              <a:buChar char="Ø"/>
            </a:pPr>
            <a:r>
              <a:rPr lang="fr-FR" sz="2000" dirty="0"/>
              <a:t>final : La classe ne peut pas être héritée</a:t>
            </a:r>
            <a:r>
              <a:rPr lang="fr-FR" sz="2000" dirty="0" smtClean="0"/>
              <a:t>.</a:t>
            </a:r>
          </a:p>
          <a:p>
            <a:pPr marL="749808" lvl="1" indent="-457200" algn="just">
              <a:lnSpc>
                <a:spcPct val="150000"/>
              </a:lnSpc>
              <a:buFont typeface="Wingdings" panose="05000000000000000000" pitchFamily="2" charset="2"/>
              <a:buChar char="Ø"/>
            </a:pPr>
            <a:r>
              <a:rPr lang="fr-FR" sz="2000" dirty="0" smtClean="0"/>
              <a:t>non-</a:t>
            </a:r>
            <a:r>
              <a:rPr lang="fr-FR" sz="2000" dirty="0" err="1" smtClean="0"/>
              <a:t>sealed</a:t>
            </a:r>
            <a:r>
              <a:rPr lang="fr-FR" sz="2000" dirty="0" smtClean="0"/>
              <a:t> </a:t>
            </a:r>
            <a:r>
              <a:rPr lang="fr-FR" sz="2000" dirty="0"/>
              <a:t>: La classe est ouverte pour l'héritage</a:t>
            </a:r>
            <a:r>
              <a:rPr lang="fr-FR" sz="2000" dirty="0" smtClean="0"/>
              <a:t>.</a:t>
            </a:r>
          </a:p>
          <a:p>
            <a:pPr marL="749808" lvl="1" indent="-457200" algn="just">
              <a:lnSpc>
                <a:spcPct val="150000"/>
              </a:lnSpc>
              <a:buFont typeface="Wingdings" panose="05000000000000000000" pitchFamily="2" charset="2"/>
              <a:buChar char="Ø"/>
            </a:pPr>
            <a:r>
              <a:rPr lang="fr-FR" sz="2000" dirty="0" err="1"/>
              <a:t>sealed</a:t>
            </a:r>
            <a:r>
              <a:rPr lang="fr-FR" sz="2000" dirty="0"/>
              <a:t> : La sous-classe est elle-même scellée.</a:t>
            </a:r>
          </a:p>
        </p:txBody>
      </p:sp>
    </p:spTree>
    <p:extLst>
      <p:ext uri="{BB962C8B-B14F-4D97-AF65-F5344CB8AC3E}">
        <p14:creationId xmlns:p14="http://schemas.microsoft.com/office/powerpoint/2010/main" val="10697318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286604"/>
            <a:ext cx="10058400" cy="539662"/>
          </a:xfrm>
        </p:spPr>
        <p:txBody>
          <a:bodyPr>
            <a:normAutofit fontScale="90000"/>
          </a:bodyPr>
          <a:lstStyle/>
          <a:p>
            <a:pPr algn="ctr"/>
            <a:r>
              <a:rPr lang="fr-FR" b="1" dirty="0"/>
              <a:t>Exemple d'utilisation</a:t>
            </a:r>
          </a:p>
        </p:txBody>
      </p:sp>
      <p:pic>
        <p:nvPicPr>
          <p:cNvPr id="4" name="Espace réservé du contenu 3"/>
          <p:cNvPicPr>
            <a:picLocks noGrp="1" noChangeAspect="1"/>
          </p:cNvPicPr>
          <p:nvPr>
            <p:ph idx="1"/>
          </p:nvPr>
        </p:nvPicPr>
        <p:blipFill>
          <a:blip r:embed="rId2">
            <a:duotone>
              <a:prstClr val="black"/>
              <a:schemeClr val="tx2">
                <a:tint val="45000"/>
                <a:satMod val="400000"/>
              </a:schemeClr>
            </a:duotone>
          </a:blip>
          <a:stretch>
            <a:fillRect/>
          </a:stretch>
        </p:blipFill>
        <p:spPr>
          <a:xfrm>
            <a:off x="483318" y="826266"/>
            <a:ext cx="5048250" cy="17364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duotone>
              <a:prstClr val="black"/>
              <a:schemeClr val="tx2">
                <a:tint val="45000"/>
                <a:satMod val="400000"/>
              </a:schemeClr>
            </a:duotone>
          </a:blip>
          <a:stretch>
            <a:fillRect/>
          </a:stretch>
        </p:blipFill>
        <p:spPr>
          <a:xfrm>
            <a:off x="494072" y="2791717"/>
            <a:ext cx="3416916" cy="30912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4">
            <a:duotone>
              <a:prstClr val="black"/>
              <a:schemeClr val="tx2">
                <a:tint val="45000"/>
                <a:satMod val="400000"/>
              </a:schemeClr>
            </a:duotone>
          </a:blip>
          <a:stretch>
            <a:fillRect/>
          </a:stretch>
        </p:blipFill>
        <p:spPr>
          <a:xfrm>
            <a:off x="4115385" y="2791717"/>
            <a:ext cx="3519304" cy="30912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 6"/>
          <p:cNvPicPr>
            <a:picLocks noChangeAspect="1"/>
          </p:cNvPicPr>
          <p:nvPr/>
        </p:nvPicPr>
        <p:blipFill>
          <a:blip r:embed="rId5"/>
          <a:stretch>
            <a:fillRect/>
          </a:stretch>
        </p:blipFill>
        <p:spPr>
          <a:xfrm>
            <a:off x="7814309" y="711771"/>
            <a:ext cx="4246134" cy="1965451"/>
          </a:xfrm>
          <a:prstGeom prst="rect">
            <a:avLst/>
          </a:prstGeom>
        </p:spPr>
      </p:pic>
      <p:pic>
        <p:nvPicPr>
          <p:cNvPr id="8" name="Image 7"/>
          <p:cNvPicPr>
            <a:picLocks noChangeAspect="1"/>
          </p:cNvPicPr>
          <p:nvPr/>
        </p:nvPicPr>
        <p:blipFill>
          <a:blip r:embed="rId6">
            <a:duotone>
              <a:prstClr val="black"/>
              <a:schemeClr val="tx2">
                <a:tint val="45000"/>
                <a:satMod val="400000"/>
              </a:schemeClr>
            </a:duotone>
          </a:blip>
          <a:stretch>
            <a:fillRect/>
          </a:stretch>
        </p:blipFill>
        <p:spPr>
          <a:xfrm>
            <a:off x="7839085" y="2998189"/>
            <a:ext cx="4114215" cy="28848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7745634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des interfaces scellées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smtClean="0"/>
              <a:t> </a:t>
            </a:r>
            <a:r>
              <a:rPr lang="fr-FR" sz="2400" b="1" dirty="0"/>
              <a:t>Modélisation explicite des domaines</a:t>
            </a:r>
            <a:r>
              <a:rPr lang="fr-FR" sz="2400" dirty="0"/>
              <a:t> : Les interfaces scellées permettent de mieux modéliser des systèmes complexes où seules certaines relations entre classes sont valides</a:t>
            </a:r>
            <a:r>
              <a:rPr lang="fr-FR" sz="2400" dirty="0" smtClean="0"/>
              <a:t>.</a:t>
            </a:r>
          </a:p>
          <a:p>
            <a:pPr algn="just">
              <a:lnSpc>
                <a:spcPct val="150000"/>
              </a:lnSpc>
              <a:buFont typeface="Wingdings" panose="05000000000000000000" pitchFamily="2" charset="2"/>
              <a:buChar char="Ø"/>
            </a:pPr>
            <a:r>
              <a:rPr lang="fr-FR" sz="2400" dirty="0"/>
              <a:t> </a:t>
            </a:r>
            <a:r>
              <a:rPr lang="fr-FR" sz="2400" b="1" dirty="0"/>
              <a:t>Sécurité et contrôle</a:t>
            </a:r>
            <a:r>
              <a:rPr lang="fr-FR" sz="2400" dirty="0"/>
              <a:t> : Empêche des implémentations non prévues ou inappropriées</a:t>
            </a:r>
            <a:r>
              <a:rPr lang="fr-FR" sz="2400" dirty="0" smtClean="0"/>
              <a:t>.</a:t>
            </a:r>
          </a:p>
          <a:p>
            <a:pPr algn="just">
              <a:lnSpc>
                <a:spcPct val="150000"/>
              </a:lnSpc>
              <a:buFont typeface="Wingdings" panose="05000000000000000000" pitchFamily="2" charset="2"/>
              <a:buChar char="Ø"/>
            </a:pPr>
            <a:r>
              <a:rPr lang="fr-FR" sz="2400" dirty="0"/>
              <a:t> Optimisation des instructions switch : Le compilateur peut vérifier que toutes les sous-classes sont couvertes.</a:t>
            </a:r>
          </a:p>
        </p:txBody>
      </p:sp>
    </p:spTree>
    <p:extLst>
      <p:ext uri="{BB962C8B-B14F-4D97-AF65-F5344CB8AC3E}">
        <p14:creationId xmlns:p14="http://schemas.microsoft.com/office/powerpoint/2010/main" val="372745104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d'utilisation typiques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smtClean="0"/>
              <a:t> </a:t>
            </a:r>
            <a:r>
              <a:rPr lang="fr-FR" sz="2800" b="1" dirty="0"/>
              <a:t>Modélisation des hiérarchies fermées</a:t>
            </a:r>
            <a:r>
              <a:rPr lang="fr-FR" sz="2800" dirty="0"/>
              <a:t> : Par exemple, des types géométriques ou des états de machines</a:t>
            </a:r>
            <a:r>
              <a:rPr lang="fr-FR" sz="2800" dirty="0" smtClean="0"/>
              <a:t>.</a:t>
            </a:r>
          </a:p>
          <a:p>
            <a:pPr algn="just">
              <a:lnSpc>
                <a:spcPct val="150000"/>
              </a:lnSpc>
              <a:buFont typeface="Wingdings" panose="05000000000000000000" pitchFamily="2" charset="2"/>
              <a:buChar char="Ø"/>
            </a:pPr>
            <a:r>
              <a:rPr lang="fr-FR" sz="2800" dirty="0"/>
              <a:t> </a:t>
            </a:r>
            <a:r>
              <a:rPr lang="fr-FR" sz="2800" b="1" dirty="0"/>
              <a:t>API publiques</a:t>
            </a:r>
            <a:r>
              <a:rPr lang="fr-FR" sz="2800" dirty="0"/>
              <a:t> : Lorsque vous voulez limiter les implémentations possibles d'une interface exposée publiquement</a:t>
            </a:r>
            <a:r>
              <a:rPr lang="fr-FR" sz="2800" dirty="0" smtClean="0"/>
              <a:t>.</a:t>
            </a:r>
          </a:p>
          <a:p>
            <a:pPr algn="just">
              <a:lnSpc>
                <a:spcPct val="150000"/>
              </a:lnSpc>
              <a:buFont typeface="Wingdings" panose="05000000000000000000" pitchFamily="2" charset="2"/>
              <a:buChar char="Ø"/>
            </a:pPr>
            <a:r>
              <a:rPr lang="fr-FR" sz="2800" dirty="0"/>
              <a:t> </a:t>
            </a:r>
            <a:r>
              <a:rPr lang="fr-FR" sz="2800" b="1" dirty="0"/>
              <a:t>Meilleure gestion de code métier</a:t>
            </a:r>
            <a:r>
              <a:rPr lang="fr-FR" sz="2800" dirty="0"/>
              <a:t> : Aide à concevoir des hiérarchies claires pour éviter des implémentations incorrectes.</a:t>
            </a:r>
          </a:p>
        </p:txBody>
      </p:sp>
    </p:spTree>
    <p:extLst>
      <p:ext uri="{BB962C8B-B14F-4D97-AF65-F5344CB8AC3E}">
        <p14:creationId xmlns:p14="http://schemas.microsoft.com/office/powerpoint/2010/main" val="257689004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Avec les </a:t>
            </a:r>
            <a:r>
              <a:rPr lang="fr-FR" sz="3600" b="1" dirty="0" err="1"/>
              <a:t>sealed</a:t>
            </a:r>
            <a:r>
              <a:rPr lang="fr-FR" sz="3600" b="1" dirty="0"/>
              <a:t> interfaces</a:t>
            </a:r>
            <a:r>
              <a:rPr lang="fr-FR" sz="3600" dirty="0"/>
              <a:t>, Java offre un outil puissant pour écrire un code plus robuste, lisible et facile à maintenir.</a:t>
            </a:r>
          </a:p>
        </p:txBody>
      </p:sp>
    </p:spTree>
    <p:extLst>
      <p:ext uri="{BB962C8B-B14F-4D97-AF65-F5344CB8AC3E}">
        <p14:creationId xmlns:p14="http://schemas.microsoft.com/office/powerpoint/2010/main" val="327366507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Les "Type Records"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Les </a:t>
            </a:r>
            <a:r>
              <a:rPr lang="fr-FR" sz="2800" b="1" dirty="0"/>
              <a:t>Type Records</a:t>
            </a:r>
            <a:r>
              <a:rPr lang="fr-FR" sz="2800" dirty="0"/>
              <a:t> ou simplement </a:t>
            </a:r>
            <a:r>
              <a:rPr lang="fr-FR" sz="2800" b="1" dirty="0"/>
              <a:t>records</a:t>
            </a:r>
            <a:r>
              <a:rPr lang="fr-FR" sz="2800" dirty="0"/>
              <a:t> ont été officiellement introduits dans </a:t>
            </a:r>
            <a:r>
              <a:rPr lang="fr-FR" sz="2800" b="1" dirty="0"/>
              <a:t>Java 16</a:t>
            </a:r>
            <a:r>
              <a:rPr lang="fr-FR" sz="2800" dirty="0"/>
              <a:t> en version stable, mais ils continuent de constituer un point central des fonctionnalités modernes, notamment dans la JDK 17 (LTS). Les records offrent une manière concise et expressive de déclarer des classes immuables principalement utilisées pour contenir des données.</a:t>
            </a:r>
          </a:p>
        </p:txBody>
      </p:sp>
    </p:spTree>
    <p:extLst>
      <p:ext uri="{BB962C8B-B14F-4D97-AF65-F5344CB8AC3E}">
        <p14:creationId xmlns:p14="http://schemas.microsoft.com/office/powerpoint/2010/main" val="3373656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Qu'est-ce qu'un record ?</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Un </a:t>
            </a:r>
            <a:r>
              <a:rPr lang="fr-FR" sz="2400" b="1" dirty="0"/>
              <a:t>record</a:t>
            </a:r>
            <a:r>
              <a:rPr lang="fr-FR" sz="2400" dirty="0"/>
              <a:t> est une classe spéciale en Java destinée à représenter une structure de données immuable. Lorsqu'un record est défini, le compilateur génère automatiquement </a:t>
            </a:r>
            <a:r>
              <a:rPr lang="fr-FR" sz="2400" dirty="0" smtClean="0"/>
              <a:t>:</a:t>
            </a:r>
          </a:p>
          <a:p>
            <a:pPr marL="544068" lvl="1" indent="-342900" algn="just">
              <a:lnSpc>
                <a:spcPct val="150000"/>
              </a:lnSpc>
              <a:buFont typeface="+mj-lt"/>
              <a:buAutoNum type="arabicPeriod"/>
            </a:pPr>
            <a:r>
              <a:rPr lang="fr-FR" sz="2000" dirty="0"/>
              <a:t> Les champs privés pour les composants définis dans le constructeur canonique</a:t>
            </a:r>
            <a:r>
              <a:rPr lang="fr-FR" sz="2000" dirty="0" smtClean="0"/>
              <a:t>.</a:t>
            </a:r>
          </a:p>
          <a:p>
            <a:pPr marL="544068" lvl="1" indent="-342900" algn="just">
              <a:lnSpc>
                <a:spcPct val="150000"/>
              </a:lnSpc>
              <a:buFont typeface="+mj-lt"/>
              <a:buAutoNum type="arabicPeriod"/>
            </a:pPr>
            <a:r>
              <a:rPr lang="fr-FR" sz="2000" dirty="0" smtClean="0"/>
              <a:t> Un </a:t>
            </a:r>
            <a:r>
              <a:rPr lang="fr-FR" sz="2000" dirty="0"/>
              <a:t>constructeur canonique correspondant</a:t>
            </a:r>
            <a:r>
              <a:rPr lang="fr-FR" sz="2000" dirty="0" smtClean="0"/>
              <a:t>.</a:t>
            </a:r>
          </a:p>
          <a:p>
            <a:pPr marL="544068" lvl="1" indent="-342900" algn="just">
              <a:lnSpc>
                <a:spcPct val="150000"/>
              </a:lnSpc>
              <a:buFont typeface="+mj-lt"/>
              <a:buAutoNum type="arabicPeriod"/>
            </a:pPr>
            <a:r>
              <a:rPr lang="fr-FR" sz="2000" dirty="0"/>
              <a:t> Les accesseurs pour chaque champ sous forme de méthodes avec le même nom que le champ</a:t>
            </a:r>
            <a:r>
              <a:rPr lang="fr-FR" sz="2000" dirty="0" smtClean="0"/>
              <a:t>.</a:t>
            </a:r>
          </a:p>
          <a:p>
            <a:pPr marL="544068" lvl="1" indent="-342900" algn="just">
              <a:lnSpc>
                <a:spcPct val="150000"/>
              </a:lnSpc>
              <a:buFont typeface="+mj-lt"/>
              <a:buAutoNum type="arabicPeriod"/>
            </a:pPr>
            <a:r>
              <a:rPr lang="fr-FR" sz="2000" dirty="0"/>
              <a:t> Les méthodes </a:t>
            </a:r>
            <a:r>
              <a:rPr lang="fr-FR" sz="2000" dirty="0" err="1"/>
              <a:t>equals</a:t>
            </a:r>
            <a:r>
              <a:rPr lang="fr-FR" sz="2000" dirty="0"/>
              <a:t>(), </a:t>
            </a:r>
            <a:r>
              <a:rPr lang="fr-FR" sz="2000" dirty="0" err="1"/>
              <a:t>hashCode</a:t>
            </a:r>
            <a:r>
              <a:rPr lang="fr-FR" sz="2000" dirty="0"/>
              <a:t>() et </a:t>
            </a:r>
            <a:r>
              <a:rPr lang="fr-FR" sz="2000" dirty="0" err="1"/>
              <a:t>toString</a:t>
            </a:r>
            <a:r>
              <a:rPr lang="fr-FR" sz="2000" dirty="0"/>
              <a:t>().</a:t>
            </a:r>
          </a:p>
        </p:txBody>
      </p:sp>
    </p:spTree>
    <p:extLst>
      <p:ext uri="{BB962C8B-B14F-4D97-AF65-F5344CB8AC3E}">
        <p14:creationId xmlns:p14="http://schemas.microsoft.com/office/powerpoint/2010/main" val="71012073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Déclaration d'un record</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Un record se déclare avec le mot-clé record. Voici un exemple de définition simple </a:t>
            </a:r>
            <a:r>
              <a:rPr lang="fr-FR" dirty="0" smtClean="0"/>
              <a:t>:</a:t>
            </a:r>
          </a:p>
          <a:p>
            <a:pPr>
              <a:buFont typeface="Wingdings" panose="05000000000000000000" pitchFamily="2" charset="2"/>
              <a:buChar char="Ø"/>
            </a:pPr>
            <a:endParaRPr lang="fr-FR" dirty="0"/>
          </a:p>
          <a:p>
            <a:pPr>
              <a:buFont typeface="Wingdings" panose="05000000000000000000" pitchFamily="2" charset="2"/>
              <a:buChar char="Ø"/>
            </a:pPr>
            <a:r>
              <a:rPr lang="fr-FR" dirty="0"/>
              <a:t> Cela équivaut à écrire manuellement la classe suivante :</a:t>
            </a:r>
          </a:p>
        </p:txBody>
      </p:sp>
      <p:pic>
        <p:nvPicPr>
          <p:cNvPr id="5" name="Image 4"/>
          <p:cNvPicPr>
            <a:picLocks noChangeAspect="1"/>
          </p:cNvPicPr>
          <p:nvPr/>
        </p:nvPicPr>
        <p:blipFill>
          <a:blip r:embed="rId2"/>
          <a:stretch>
            <a:fillRect/>
          </a:stretch>
        </p:blipFill>
        <p:spPr>
          <a:xfrm>
            <a:off x="4688945" y="2238375"/>
            <a:ext cx="3252788" cy="454025"/>
          </a:xfrm>
          <a:prstGeom prst="rect">
            <a:avLst/>
          </a:prstGeom>
        </p:spPr>
      </p:pic>
      <p:pic>
        <p:nvPicPr>
          <p:cNvPr id="6" name="Image 5"/>
          <p:cNvPicPr>
            <a:picLocks noChangeAspect="1"/>
          </p:cNvPicPr>
          <p:nvPr/>
        </p:nvPicPr>
        <p:blipFill>
          <a:blip r:embed="rId3"/>
          <a:stretch>
            <a:fillRect/>
          </a:stretch>
        </p:blipFill>
        <p:spPr>
          <a:xfrm>
            <a:off x="3421380" y="3085040"/>
            <a:ext cx="5410200" cy="2991909"/>
          </a:xfrm>
          <a:prstGeom prst="rect">
            <a:avLst/>
          </a:prstGeom>
        </p:spPr>
      </p:pic>
    </p:spTree>
    <p:extLst>
      <p:ext uri="{BB962C8B-B14F-4D97-AF65-F5344CB8AC3E}">
        <p14:creationId xmlns:p14="http://schemas.microsoft.com/office/powerpoint/2010/main" val="370795731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Caractéristiques principales des records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400" b="1" dirty="0"/>
              <a:t>Immutabilité par défaut</a:t>
            </a:r>
            <a:r>
              <a:rPr lang="fr-FR" sz="2400" dirty="0"/>
              <a:t> :</a:t>
            </a:r>
          </a:p>
          <a:p>
            <a:pPr marL="749808" lvl="1" indent="-457200" algn="just">
              <a:lnSpc>
                <a:spcPct val="150000"/>
              </a:lnSpc>
              <a:buFont typeface="Wingdings" panose="05000000000000000000" pitchFamily="2" charset="2"/>
              <a:buChar char="Ø"/>
            </a:pPr>
            <a:r>
              <a:rPr lang="fr-FR" sz="2000" dirty="0"/>
              <a:t>Les champs d’un record sont final et immuables après leur initialisation</a:t>
            </a:r>
            <a:r>
              <a:rPr lang="fr-FR" sz="2000" dirty="0" smtClean="0"/>
              <a:t>.</a:t>
            </a:r>
          </a:p>
          <a:p>
            <a:pPr marL="457200" indent="-457200" algn="just">
              <a:lnSpc>
                <a:spcPct val="150000"/>
              </a:lnSpc>
              <a:buFont typeface="+mj-lt"/>
              <a:buAutoNum type="arabicPeriod"/>
            </a:pPr>
            <a:r>
              <a:rPr lang="fr-FR" sz="2400" b="1" dirty="0"/>
              <a:t>Constructeur canonique</a:t>
            </a:r>
            <a:r>
              <a:rPr lang="fr-FR" sz="2400" dirty="0"/>
              <a:t> :</a:t>
            </a:r>
          </a:p>
          <a:p>
            <a:pPr marL="749808" lvl="1" indent="-457200" algn="just">
              <a:lnSpc>
                <a:spcPct val="150000"/>
              </a:lnSpc>
              <a:buFont typeface="Wingdings" panose="05000000000000000000" pitchFamily="2" charset="2"/>
              <a:buChar char="Ø"/>
            </a:pPr>
            <a:r>
              <a:rPr lang="fr-FR" sz="2000" dirty="0"/>
              <a:t>Le constructeur par défaut est généré avec les paramètres correspondant aux champs définis</a:t>
            </a:r>
            <a:r>
              <a:rPr lang="fr-FR" sz="2000" dirty="0" smtClean="0"/>
              <a:t>.</a:t>
            </a:r>
          </a:p>
          <a:p>
            <a:pPr marL="457200" indent="-457200" algn="just">
              <a:lnSpc>
                <a:spcPct val="150000"/>
              </a:lnSpc>
              <a:buFont typeface="+mj-lt"/>
              <a:buAutoNum type="arabicPeriod"/>
            </a:pPr>
            <a:r>
              <a:rPr lang="fr-FR" sz="2400" dirty="0" err="1"/>
              <a:t>toString</a:t>
            </a:r>
            <a:r>
              <a:rPr lang="fr-FR" sz="2400" dirty="0"/>
              <a:t>() et autres méthodes utilitaires </a:t>
            </a:r>
            <a:r>
              <a:rPr lang="fr-FR" sz="2400" dirty="0" smtClean="0"/>
              <a:t>:</a:t>
            </a:r>
          </a:p>
          <a:p>
            <a:pPr marL="749808" lvl="1" indent="-457200" algn="just">
              <a:lnSpc>
                <a:spcPct val="150000"/>
              </a:lnSpc>
              <a:buFont typeface="Wingdings" panose="05000000000000000000" pitchFamily="2" charset="2"/>
              <a:buChar char="Ø"/>
            </a:pPr>
            <a:r>
              <a:rPr lang="fr-FR" sz="2000" dirty="0"/>
              <a:t>Les méthodes comme </a:t>
            </a:r>
            <a:r>
              <a:rPr lang="fr-FR" sz="2000" dirty="0" err="1"/>
              <a:t>toString</a:t>
            </a:r>
            <a:r>
              <a:rPr lang="fr-FR" sz="2000" dirty="0"/>
              <a:t>(), </a:t>
            </a:r>
            <a:r>
              <a:rPr lang="fr-FR" sz="2000" dirty="0" err="1"/>
              <a:t>hashCode</a:t>
            </a:r>
            <a:r>
              <a:rPr lang="fr-FR" sz="2000" dirty="0"/>
              <a:t>() et </a:t>
            </a:r>
            <a:r>
              <a:rPr lang="fr-FR" sz="2000" dirty="0" err="1"/>
              <a:t>equals</a:t>
            </a:r>
            <a:r>
              <a:rPr lang="fr-FR" sz="2000" dirty="0"/>
              <a:t>() sont automatiquement générées pour refléter la nature des données.</a:t>
            </a:r>
          </a:p>
        </p:txBody>
      </p:sp>
    </p:spTree>
    <p:extLst>
      <p:ext uri="{BB962C8B-B14F-4D97-AF65-F5344CB8AC3E}">
        <p14:creationId xmlns:p14="http://schemas.microsoft.com/office/powerpoint/2010/main" val="42018928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Exemple d'utilisation</a:t>
            </a:r>
          </a:p>
        </p:txBody>
      </p:sp>
      <p:pic>
        <p:nvPicPr>
          <p:cNvPr id="4" name="Espace réservé du contenu 3"/>
          <p:cNvPicPr>
            <a:picLocks noGrp="1" noChangeAspect="1"/>
          </p:cNvPicPr>
          <p:nvPr>
            <p:ph idx="1"/>
          </p:nvPr>
        </p:nvPicPr>
        <p:blipFill>
          <a:blip r:embed="rId2"/>
          <a:stretch>
            <a:fillRect/>
          </a:stretch>
        </p:blipFill>
        <p:spPr>
          <a:xfrm>
            <a:off x="2133600" y="2167467"/>
            <a:ext cx="8043333" cy="3352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4187134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Constructeurs personnalisés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Il est possible de définir un constructeur pour un record pour valider ou transformer des </a:t>
            </a:r>
            <a:r>
              <a:rPr lang="fr-FR" sz="2800" dirty="0" smtClean="0"/>
              <a:t>données.</a:t>
            </a:r>
            <a:endParaRPr lang="fr-FR" sz="2800" dirty="0"/>
          </a:p>
        </p:txBody>
      </p:sp>
      <p:pic>
        <p:nvPicPr>
          <p:cNvPr id="5" name="Image 4"/>
          <p:cNvPicPr>
            <a:picLocks noChangeAspect="1"/>
          </p:cNvPicPr>
          <p:nvPr/>
        </p:nvPicPr>
        <p:blipFill>
          <a:blip r:embed="rId2"/>
          <a:stretch>
            <a:fillRect/>
          </a:stretch>
        </p:blipFill>
        <p:spPr>
          <a:xfrm>
            <a:off x="3505201" y="3570287"/>
            <a:ext cx="4957550" cy="20854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08823082"/>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Méthodes personnalisées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Vous pouvez ajouter des méthodes supplémentaires aux records pour fournir des fonctionnalités métier.</a:t>
            </a:r>
          </a:p>
        </p:txBody>
      </p:sp>
      <p:pic>
        <p:nvPicPr>
          <p:cNvPr id="4" name="Image 3"/>
          <p:cNvPicPr>
            <a:picLocks noChangeAspect="1"/>
          </p:cNvPicPr>
          <p:nvPr/>
        </p:nvPicPr>
        <p:blipFill>
          <a:blip r:embed="rId2"/>
          <a:stretch>
            <a:fillRect/>
          </a:stretch>
        </p:blipFill>
        <p:spPr>
          <a:xfrm>
            <a:off x="5489574" y="3598862"/>
            <a:ext cx="5666105" cy="22702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58588230"/>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d'utilisation typiques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400" b="1" dirty="0"/>
              <a:t>Transfert de données</a:t>
            </a:r>
            <a:r>
              <a:rPr lang="fr-FR" sz="2400" dirty="0"/>
              <a:t> : En remplacement des DTO (Data Transfer </a:t>
            </a:r>
            <a:r>
              <a:rPr lang="fr-FR" sz="2400" dirty="0" err="1"/>
              <a:t>Objects</a:t>
            </a:r>
            <a:r>
              <a:rPr lang="fr-FR" sz="2400" dirty="0" smtClean="0"/>
              <a:t>).</a:t>
            </a:r>
          </a:p>
          <a:p>
            <a:pPr marL="457200" indent="-457200" algn="just">
              <a:lnSpc>
                <a:spcPct val="150000"/>
              </a:lnSpc>
              <a:buFont typeface="+mj-lt"/>
              <a:buAutoNum type="arabicPeriod"/>
            </a:pPr>
            <a:r>
              <a:rPr lang="fr-FR" sz="2400" b="1" dirty="0"/>
              <a:t>Réponse des services REST</a:t>
            </a:r>
            <a:r>
              <a:rPr lang="fr-FR" sz="2400" dirty="0"/>
              <a:t> : Représenter des données immuables envoyées ou reçues</a:t>
            </a:r>
            <a:r>
              <a:rPr lang="fr-FR" sz="2400" dirty="0" smtClean="0"/>
              <a:t>.</a:t>
            </a:r>
          </a:p>
          <a:p>
            <a:pPr marL="457200" indent="-457200" algn="just">
              <a:lnSpc>
                <a:spcPct val="150000"/>
              </a:lnSpc>
              <a:buFont typeface="+mj-lt"/>
              <a:buAutoNum type="arabicPeriod"/>
            </a:pPr>
            <a:r>
              <a:rPr lang="fr-FR" sz="2400" dirty="0"/>
              <a:t>Clés dans des collections : Utilisation dans des structures de données comme </a:t>
            </a:r>
            <a:r>
              <a:rPr lang="fr-FR" sz="2400" dirty="0" err="1"/>
              <a:t>Map</a:t>
            </a:r>
            <a:r>
              <a:rPr lang="fr-FR" sz="2400" dirty="0"/>
              <a:t> ou Set grâce à leur implémentation robuste de </a:t>
            </a:r>
            <a:r>
              <a:rPr lang="fr-FR" sz="2400" dirty="0" err="1"/>
              <a:t>hashCode</a:t>
            </a:r>
            <a:r>
              <a:rPr lang="fr-FR" sz="2400" dirty="0"/>
              <a:t> et </a:t>
            </a:r>
            <a:r>
              <a:rPr lang="fr-FR" sz="2400" dirty="0" err="1"/>
              <a:t>equals</a:t>
            </a:r>
            <a:r>
              <a:rPr lang="fr-FR" sz="2400" dirty="0"/>
              <a:t>.</a:t>
            </a:r>
          </a:p>
        </p:txBody>
      </p:sp>
    </p:spTree>
    <p:extLst>
      <p:ext uri="{BB962C8B-B14F-4D97-AF65-F5344CB8AC3E}">
        <p14:creationId xmlns:p14="http://schemas.microsoft.com/office/powerpoint/2010/main" val="3932525809"/>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des records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smtClean="0"/>
              <a:t> </a:t>
            </a:r>
            <a:r>
              <a:rPr lang="fr-FR" sz="2800" b="1" dirty="0"/>
              <a:t>Concision</a:t>
            </a:r>
            <a:r>
              <a:rPr lang="fr-FR" sz="2800" dirty="0"/>
              <a:t> : Réduit significativement le code </a:t>
            </a:r>
            <a:r>
              <a:rPr lang="fr-FR" sz="2800" dirty="0" err="1"/>
              <a:t>boilerplate</a:t>
            </a:r>
            <a:r>
              <a:rPr lang="fr-FR" sz="2800" dirty="0" smtClean="0"/>
              <a:t>.</a:t>
            </a:r>
          </a:p>
          <a:p>
            <a:pPr algn="just">
              <a:lnSpc>
                <a:spcPct val="150000"/>
              </a:lnSpc>
              <a:buFont typeface="Wingdings" panose="05000000000000000000" pitchFamily="2" charset="2"/>
              <a:buChar char="Ø"/>
            </a:pPr>
            <a:r>
              <a:rPr lang="fr-FR" sz="2800" dirty="0"/>
              <a:t> </a:t>
            </a:r>
            <a:r>
              <a:rPr lang="fr-FR" sz="2800" b="1" dirty="0"/>
              <a:t>Immutabilité</a:t>
            </a:r>
            <a:r>
              <a:rPr lang="fr-FR" sz="2800" dirty="0"/>
              <a:t> : Favorise la programmation fonctionnelle et réduit les bugs liés à des modifications involontaires d'état</a:t>
            </a:r>
            <a:r>
              <a:rPr lang="fr-FR" sz="2800" dirty="0" smtClean="0"/>
              <a:t>.</a:t>
            </a:r>
          </a:p>
          <a:p>
            <a:pPr algn="just">
              <a:lnSpc>
                <a:spcPct val="150000"/>
              </a:lnSpc>
              <a:buFont typeface="Wingdings" panose="05000000000000000000" pitchFamily="2" charset="2"/>
              <a:buChar char="Ø"/>
            </a:pPr>
            <a:r>
              <a:rPr lang="fr-FR" sz="2800" dirty="0"/>
              <a:t> </a:t>
            </a:r>
            <a:r>
              <a:rPr lang="fr-FR" sz="2800" b="1" dirty="0"/>
              <a:t>Lisibilité</a:t>
            </a:r>
            <a:r>
              <a:rPr lang="fr-FR" sz="2800" dirty="0"/>
              <a:t> : Les intentions sont claires grâce à une syntaxe simplifiée</a:t>
            </a:r>
            <a:r>
              <a:rPr lang="fr-FR" sz="2800" dirty="0" smtClean="0"/>
              <a:t>.</a:t>
            </a:r>
          </a:p>
          <a:p>
            <a:pPr algn="just">
              <a:lnSpc>
                <a:spcPct val="150000"/>
              </a:lnSpc>
              <a:buFont typeface="Wingdings" panose="05000000000000000000" pitchFamily="2" charset="2"/>
              <a:buChar char="Ø"/>
            </a:pPr>
            <a:r>
              <a:rPr lang="fr-FR" sz="2800" dirty="0"/>
              <a:t> </a:t>
            </a:r>
            <a:r>
              <a:rPr lang="fr-FR" sz="2800" b="1" dirty="0"/>
              <a:t>Performance</a:t>
            </a:r>
            <a:r>
              <a:rPr lang="fr-FR" sz="2800" dirty="0"/>
              <a:t> : Les records sont final par défaut, permettant certaines optimisations par le compilateur.</a:t>
            </a:r>
          </a:p>
        </p:txBody>
      </p:sp>
    </p:spTree>
    <p:extLst>
      <p:ext uri="{BB962C8B-B14F-4D97-AF65-F5344CB8AC3E}">
        <p14:creationId xmlns:p14="http://schemas.microsoft.com/office/powerpoint/2010/main" val="97025689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Limites des records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smtClean="0"/>
              <a:t> </a:t>
            </a:r>
            <a:r>
              <a:rPr lang="fr-FR" sz="2800" b="1" dirty="0"/>
              <a:t>Pas de logique complexe</a:t>
            </a:r>
            <a:r>
              <a:rPr lang="fr-FR" sz="2800" dirty="0"/>
              <a:t> : Les records ne sont pas destinés à remplacer toutes les classes. Si une classe nécessite des états ou des comportements complexes, utilisez une classe ordinaire</a:t>
            </a:r>
            <a:r>
              <a:rPr lang="fr-FR" sz="2800" dirty="0" smtClean="0"/>
              <a:t>.</a:t>
            </a:r>
          </a:p>
          <a:p>
            <a:pPr algn="just">
              <a:lnSpc>
                <a:spcPct val="150000"/>
              </a:lnSpc>
              <a:buFont typeface="Wingdings" panose="05000000000000000000" pitchFamily="2" charset="2"/>
              <a:buChar char="Ø"/>
            </a:pPr>
            <a:r>
              <a:rPr lang="fr-FR" sz="2800" dirty="0"/>
              <a:t> </a:t>
            </a:r>
            <a:r>
              <a:rPr lang="fr-FR" sz="2800" b="1" dirty="0"/>
              <a:t>Immutabilité stricte</a:t>
            </a:r>
            <a:r>
              <a:rPr lang="fr-FR" sz="2800" dirty="0"/>
              <a:t> : Les champs doivent être immuables, ce qui peut nécessiter des ajustements si vous travaillez avec des objets mutables.</a:t>
            </a:r>
          </a:p>
        </p:txBody>
      </p:sp>
    </p:spTree>
    <p:extLst>
      <p:ext uri="{BB962C8B-B14F-4D97-AF65-F5344CB8AC3E}">
        <p14:creationId xmlns:p14="http://schemas.microsoft.com/office/powerpoint/2010/main" val="3645851549"/>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Avec les </a:t>
            </a:r>
            <a:r>
              <a:rPr lang="fr-FR" sz="3600" b="1" dirty="0"/>
              <a:t>Type Records</a:t>
            </a:r>
            <a:r>
              <a:rPr lang="fr-FR" sz="3600" dirty="0"/>
              <a:t>, Java propose un outil moderne et pratique pour gérer les données de manière propre et efficace.</a:t>
            </a:r>
          </a:p>
        </p:txBody>
      </p:sp>
    </p:spTree>
    <p:extLst>
      <p:ext uri="{BB962C8B-B14F-4D97-AF65-F5344CB8AC3E}">
        <p14:creationId xmlns:p14="http://schemas.microsoft.com/office/powerpoint/2010/main" val="3104856942"/>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Ateliers</a:t>
            </a:r>
            <a:endParaRPr lang="fr-FR"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2800" dirty="0"/>
              <a:t> Test des fonctionnalités apportées par les JDK 14 à </a:t>
            </a:r>
            <a:r>
              <a:rPr lang="fr-FR" sz="2800" dirty="0" smtClean="0"/>
              <a:t>17</a:t>
            </a:r>
          </a:p>
          <a:p>
            <a:pPr lvl="1">
              <a:lnSpc>
                <a:spcPct val="150000"/>
              </a:lnSpc>
              <a:buFont typeface="Wingdings" panose="05000000000000000000" pitchFamily="2" charset="2"/>
              <a:buChar char="Ø"/>
            </a:pPr>
            <a:r>
              <a:rPr lang="fr-FR" sz="2400" dirty="0" smtClean="0"/>
              <a:t> Les </a:t>
            </a:r>
            <a:r>
              <a:rPr lang="fr-FR" sz="2400" dirty="0"/>
              <a:t>classes </a:t>
            </a:r>
            <a:r>
              <a:rPr lang="fr-FR" sz="2400" dirty="0" smtClean="0"/>
              <a:t>scellées</a:t>
            </a:r>
          </a:p>
          <a:p>
            <a:pPr lvl="1">
              <a:lnSpc>
                <a:spcPct val="150000"/>
              </a:lnSpc>
              <a:buFont typeface="Wingdings" panose="05000000000000000000" pitchFamily="2" charset="2"/>
              <a:buChar char="Ø"/>
            </a:pPr>
            <a:r>
              <a:rPr lang="fr-FR" sz="2400" dirty="0" smtClean="0"/>
              <a:t>Records</a:t>
            </a:r>
            <a:endParaRPr lang="fr-FR" sz="2400" dirty="0"/>
          </a:p>
        </p:txBody>
      </p:sp>
    </p:spTree>
    <p:extLst>
      <p:ext uri="{BB962C8B-B14F-4D97-AF65-F5344CB8AC3E}">
        <p14:creationId xmlns:p14="http://schemas.microsoft.com/office/powerpoint/2010/main" val="1652058199"/>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lvl="1" algn="ctr" rtl="0">
              <a:lnSpc>
                <a:spcPct val="85000"/>
              </a:lnSpc>
              <a:spcBef>
                <a:spcPct val="0"/>
              </a:spcBef>
            </a:pPr>
            <a:r>
              <a:rPr lang="fr-FR" sz="3600" b="1" dirty="0" smtClean="0"/>
              <a:t> Les classes scellées</a:t>
            </a:r>
            <a:endParaRPr lang="fr-FR" sz="2800" b="1"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320800" y="2082800"/>
            <a:ext cx="9834880" cy="38777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3903913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Records</a:t>
            </a:r>
          </a:p>
        </p:txBody>
      </p:sp>
      <p:pic>
        <p:nvPicPr>
          <p:cNvPr id="4" name="Espace réservé du contenu 3"/>
          <p:cNvPicPr>
            <a:picLocks noGrp="1" noChangeAspect="1"/>
          </p:cNvPicPr>
          <p:nvPr>
            <p:ph idx="1"/>
          </p:nvPr>
        </p:nvPicPr>
        <p:blipFill>
          <a:blip r:embed="rId2"/>
          <a:stretch>
            <a:fillRect/>
          </a:stretch>
        </p:blipFill>
        <p:spPr>
          <a:xfrm>
            <a:off x="1097280" y="1964267"/>
            <a:ext cx="10058400" cy="4064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7973855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 Simple Web Server dans la JDK 18</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L’un des ajouts notables de la JDK 18 est le </a:t>
            </a:r>
            <a:r>
              <a:rPr lang="fr-FR" sz="3200" b="1" dirty="0"/>
              <a:t>Simple Web Server</a:t>
            </a:r>
            <a:r>
              <a:rPr lang="fr-FR" sz="3200" dirty="0"/>
              <a:t>. Il fournit un moyen facile de démarrer un serveur HTTP minimaliste pour servir des fichiers statiques. Cette fonctionnalité est particulièrement utile pour des tests locaux, des environnements de développement légers ou des démonstrations rapides.</a:t>
            </a:r>
          </a:p>
        </p:txBody>
      </p:sp>
    </p:spTree>
    <p:extLst>
      <p:ext uri="{BB962C8B-B14F-4D97-AF65-F5344CB8AC3E}">
        <p14:creationId xmlns:p14="http://schemas.microsoft.com/office/powerpoint/2010/main" val="2238898900"/>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Caractéristiques principales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b="1" dirty="0"/>
              <a:t>Simple à utiliser</a:t>
            </a:r>
            <a:r>
              <a:rPr lang="fr-FR" dirty="0"/>
              <a:t> : Pas besoin de configurer un serveur complexe comme </a:t>
            </a:r>
            <a:r>
              <a:rPr lang="fr-FR" dirty="0" err="1"/>
              <a:t>Tomcat</a:t>
            </a:r>
            <a:r>
              <a:rPr lang="fr-FR" dirty="0"/>
              <a:t> ou </a:t>
            </a:r>
            <a:r>
              <a:rPr lang="fr-FR" dirty="0" err="1"/>
              <a:t>Jetty</a:t>
            </a:r>
            <a:r>
              <a:rPr lang="fr-FR" dirty="0" smtClean="0"/>
              <a:t>.</a:t>
            </a:r>
          </a:p>
          <a:p>
            <a:pPr marL="457200" indent="-457200" algn="just">
              <a:lnSpc>
                <a:spcPct val="150000"/>
              </a:lnSpc>
              <a:buFont typeface="+mj-lt"/>
              <a:buAutoNum type="arabicPeriod"/>
            </a:pPr>
            <a:r>
              <a:rPr lang="fr-FR" b="1" dirty="0"/>
              <a:t>Servir uniquement des fichiers statiques</a:t>
            </a:r>
            <a:r>
              <a:rPr lang="fr-FR" dirty="0"/>
              <a:t> : Il n'est pas conçu pour exécuter des applications dynamiques (comme des servlets</a:t>
            </a:r>
            <a:r>
              <a:rPr lang="fr-FR" dirty="0" smtClean="0"/>
              <a:t>).</a:t>
            </a:r>
          </a:p>
          <a:p>
            <a:pPr marL="457200" indent="-457200" algn="just">
              <a:lnSpc>
                <a:spcPct val="150000"/>
              </a:lnSpc>
              <a:buFont typeface="+mj-lt"/>
              <a:buAutoNum type="arabicPeriod"/>
            </a:pPr>
            <a:r>
              <a:rPr lang="fr-FR" dirty="0"/>
              <a:t>Inclus dans l'outil </a:t>
            </a:r>
            <a:r>
              <a:rPr lang="fr-FR" dirty="0" err="1"/>
              <a:t>jwebserver</a:t>
            </a:r>
            <a:r>
              <a:rPr lang="fr-FR" dirty="0"/>
              <a:t> </a:t>
            </a:r>
            <a:r>
              <a:rPr lang="fr-FR" dirty="0" smtClean="0"/>
              <a:t>:</a:t>
            </a:r>
          </a:p>
          <a:p>
            <a:pPr marL="749808" lvl="1" indent="-457200" algn="just">
              <a:lnSpc>
                <a:spcPct val="150000"/>
              </a:lnSpc>
              <a:buFont typeface="Wingdings" panose="05000000000000000000" pitchFamily="2" charset="2"/>
              <a:buChar char="Ø"/>
            </a:pPr>
            <a:r>
              <a:rPr lang="fr-FR" dirty="0"/>
              <a:t>Un outil en ligne de commande basé sur cette fonctionnalité</a:t>
            </a:r>
            <a:r>
              <a:rPr lang="fr-FR" dirty="0" smtClean="0"/>
              <a:t>.</a:t>
            </a:r>
          </a:p>
          <a:p>
            <a:pPr marL="457200" indent="-457200" algn="just">
              <a:lnSpc>
                <a:spcPct val="150000"/>
              </a:lnSpc>
              <a:buFont typeface="+mj-lt"/>
              <a:buAutoNum type="arabicPeriod"/>
            </a:pPr>
            <a:r>
              <a:rPr lang="fr-FR" b="1" dirty="0"/>
              <a:t>API Java intégrée</a:t>
            </a:r>
            <a:r>
              <a:rPr lang="fr-FR" dirty="0"/>
              <a:t> :</a:t>
            </a:r>
          </a:p>
          <a:p>
            <a:pPr marL="749808" lvl="1" indent="-457200" algn="just">
              <a:lnSpc>
                <a:spcPct val="150000"/>
              </a:lnSpc>
              <a:buFont typeface="Wingdings" panose="05000000000000000000" pitchFamily="2" charset="2"/>
              <a:buChar char="Ø"/>
            </a:pPr>
            <a:r>
              <a:rPr lang="fr-FR" dirty="0"/>
              <a:t>Peut être utilisée directement via l’API </a:t>
            </a:r>
            <a:r>
              <a:rPr lang="fr-FR" dirty="0" err="1"/>
              <a:t>com.sun.net.httpserver</a:t>
            </a:r>
            <a:r>
              <a:rPr lang="fr-FR" dirty="0"/>
              <a:t>.</a:t>
            </a:r>
          </a:p>
        </p:txBody>
      </p:sp>
    </p:spTree>
    <p:extLst>
      <p:ext uri="{BB962C8B-B14F-4D97-AF65-F5344CB8AC3E}">
        <p14:creationId xmlns:p14="http://schemas.microsoft.com/office/powerpoint/2010/main" val="3246803850"/>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Utilisation de base avec l’outil </a:t>
            </a:r>
            <a:r>
              <a:rPr lang="fr-FR" b="1" dirty="0" err="1"/>
              <a:t>jwebserver</a:t>
            </a:r>
            <a:endParaRPr lang="fr-FR" b="1" dirty="0"/>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400" dirty="0"/>
              <a:t> Le Simple Web Server peut être démarré directement à partir de la ligne de commande avec l’outil </a:t>
            </a:r>
            <a:r>
              <a:rPr lang="fr-FR" sz="2400" dirty="0" err="1"/>
              <a:t>jwebserver</a:t>
            </a:r>
            <a:r>
              <a:rPr lang="fr-FR" sz="2400" dirty="0"/>
              <a:t>, inclus dans la JDK 18</a:t>
            </a:r>
            <a:r>
              <a:rPr lang="fr-FR" sz="2400" dirty="0" smtClean="0"/>
              <a:t>.</a:t>
            </a:r>
          </a:p>
          <a:p>
            <a:pPr algn="just">
              <a:buFont typeface="Wingdings" panose="05000000000000000000" pitchFamily="2" charset="2"/>
              <a:buChar char="Ø"/>
            </a:pPr>
            <a:r>
              <a:rPr lang="fr-FR" sz="2400" dirty="0"/>
              <a:t> Commande de base : </a:t>
            </a:r>
            <a:r>
              <a:rPr lang="fr-FR" sz="2400" dirty="0" err="1" smtClean="0"/>
              <a:t>jwebserver</a:t>
            </a:r>
            <a:endParaRPr lang="fr-FR" sz="2400" dirty="0" smtClean="0"/>
          </a:p>
          <a:p>
            <a:pPr algn="just">
              <a:buFont typeface="Wingdings" panose="05000000000000000000" pitchFamily="2" charset="2"/>
              <a:buChar char="Ø"/>
            </a:pPr>
            <a:r>
              <a:rPr lang="fr-FR" sz="2400" dirty="0"/>
              <a:t> </a:t>
            </a:r>
            <a:r>
              <a:rPr lang="fr-FR" sz="2400" b="1" dirty="0"/>
              <a:t>Par défaut</a:t>
            </a:r>
            <a:r>
              <a:rPr lang="fr-FR" sz="2400" dirty="0"/>
              <a:t> :</a:t>
            </a:r>
          </a:p>
          <a:p>
            <a:pPr lvl="1" algn="just">
              <a:buFont typeface="Wingdings" panose="05000000000000000000" pitchFamily="2" charset="2"/>
              <a:buChar char="Ø"/>
            </a:pPr>
            <a:r>
              <a:rPr lang="fr-FR" sz="2000" dirty="0"/>
              <a:t> Sert les fichiers du répertoire courant</a:t>
            </a:r>
            <a:r>
              <a:rPr lang="fr-FR" sz="2000" dirty="0" smtClean="0"/>
              <a:t>.</a:t>
            </a:r>
          </a:p>
          <a:p>
            <a:pPr lvl="1" algn="just">
              <a:buFont typeface="Wingdings" panose="05000000000000000000" pitchFamily="2" charset="2"/>
              <a:buChar char="Ø"/>
            </a:pPr>
            <a:r>
              <a:rPr lang="fr-FR" sz="2000" dirty="0"/>
              <a:t> Écoute sur le port 8000</a:t>
            </a:r>
            <a:r>
              <a:rPr lang="fr-FR" sz="2000" dirty="0" smtClean="0"/>
              <a:t>.</a:t>
            </a:r>
          </a:p>
          <a:p>
            <a:pPr algn="just">
              <a:buFont typeface="Wingdings" panose="05000000000000000000" pitchFamily="2" charset="2"/>
              <a:buChar char="Ø"/>
            </a:pPr>
            <a:r>
              <a:rPr lang="fr-FR" sz="2400" dirty="0"/>
              <a:t> </a:t>
            </a:r>
            <a:r>
              <a:rPr lang="fr-FR" sz="2400" b="1" dirty="0"/>
              <a:t>Options disponibles :</a:t>
            </a:r>
          </a:p>
          <a:p>
            <a:pPr lvl="1" algn="just">
              <a:buFont typeface="Wingdings" panose="05000000000000000000" pitchFamily="2" charset="2"/>
              <a:buChar char="Ø"/>
            </a:pPr>
            <a:r>
              <a:rPr lang="fr-FR" sz="2000" dirty="0" smtClean="0"/>
              <a:t> Changer </a:t>
            </a:r>
            <a:r>
              <a:rPr lang="fr-FR" sz="2000" dirty="0"/>
              <a:t>le </a:t>
            </a:r>
            <a:r>
              <a:rPr lang="fr-FR" sz="2000" dirty="0" smtClean="0"/>
              <a:t>port </a:t>
            </a:r>
            <a:r>
              <a:rPr lang="fr-FR" sz="2000" dirty="0"/>
              <a:t>: </a:t>
            </a:r>
            <a:r>
              <a:rPr lang="fr-FR" sz="2000" dirty="0" err="1"/>
              <a:t>jwebserver</a:t>
            </a:r>
            <a:r>
              <a:rPr lang="fr-FR" sz="2000" dirty="0"/>
              <a:t> --port </a:t>
            </a:r>
            <a:r>
              <a:rPr lang="fr-FR" sz="2000" dirty="0" smtClean="0"/>
              <a:t>8080</a:t>
            </a:r>
          </a:p>
          <a:p>
            <a:pPr lvl="1" algn="just">
              <a:buFont typeface="Wingdings" panose="05000000000000000000" pitchFamily="2" charset="2"/>
              <a:buChar char="Ø"/>
            </a:pPr>
            <a:r>
              <a:rPr lang="fr-FR" sz="2000" dirty="0"/>
              <a:t> Spécifier un répertoire </a:t>
            </a:r>
            <a:r>
              <a:rPr lang="fr-FR" sz="2000" dirty="0" smtClean="0"/>
              <a:t>:</a:t>
            </a:r>
            <a:r>
              <a:rPr lang="fr-FR" sz="2000" dirty="0"/>
              <a:t> </a:t>
            </a:r>
            <a:r>
              <a:rPr lang="fr-FR" sz="2000" dirty="0" err="1"/>
              <a:t>jwebserver</a:t>
            </a:r>
            <a:r>
              <a:rPr lang="fr-FR" sz="2000" dirty="0"/>
              <a:t> --directory /</a:t>
            </a:r>
            <a:r>
              <a:rPr lang="fr-FR" sz="2000" dirty="0" smtClean="0"/>
              <a:t>chemin/vers/mon/</a:t>
            </a:r>
            <a:r>
              <a:rPr lang="fr-FR" sz="2000" dirty="0" err="1" smtClean="0"/>
              <a:t>repertoire</a:t>
            </a:r>
            <a:endParaRPr lang="fr-FR" sz="2000" dirty="0" smtClean="0"/>
          </a:p>
          <a:p>
            <a:pPr lvl="1" algn="just">
              <a:buFont typeface="Wingdings" panose="05000000000000000000" pitchFamily="2" charset="2"/>
              <a:buChar char="Ø"/>
            </a:pPr>
            <a:r>
              <a:rPr lang="fr-FR" sz="2000" dirty="0"/>
              <a:t> Afficher l’aide : </a:t>
            </a:r>
            <a:r>
              <a:rPr lang="fr-FR" sz="2000" dirty="0" err="1"/>
              <a:t>jwebserver</a:t>
            </a:r>
            <a:r>
              <a:rPr lang="fr-FR" sz="2000" dirty="0"/>
              <a:t> --help</a:t>
            </a:r>
          </a:p>
        </p:txBody>
      </p:sp>
    </p:spTree>
    <p:extLst>
      <p:ext uri="{BB962C8B-B14F-4D97-AF65-F5344CB8AC3E}">
        <p14:creationId xmlns:p14="http://schemas.microsoft.com/office/powerpoint/2010/main" val="3073882305"/>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Exemple pratique avec </a:t>
            </a:r>
            <a:r>
              <a:rPr lang="fr-FR" b="1" dirty="0" err="1"/>
              <a:t>jwebserver</a:t>
            </a:r>
            <a:endParaRPr lang="fr-FR" b="1" dirty="0"/>
          </a:p>
        </p:txBody>
      </p:sp>
      <p:sp>
        <p:nvSpPr>
          <p:cNvPr id="3" name="Espace réservé du contenu 2"/>
          <p:cNvSpPr>
            <a:spLocks noGrp="1"/>
          </p:cNvSpPr>
          <p:nvPr>
            <p:ph idx="1"/>
          </p:nvPr>
        </p:nvSpPr>
        <p:spPr/>
        <p:txBody>
          <a:bodyPr/>
          <a:lstStyle/>
          <a:p>
            <a:pPr marL="457200" indent="-457200">
              <a:buFont typeface="+mj-lt"/>
              <a:buAutoNum type="arabicPeriod"/>
            </a:pPr>
            <a:r>
              <a:rPr lang="fr-FR" dirty="0"/>
              <a:t> Placez un fichier HTML (par exemple index.html) dans un répertoire </a:t>
            </a:r>
            <a:r>
              <a:rPr lang="fr-FR" dirty="0" smtClean="0"/>
              <a:t>:</a:t>
            </a:r>
          </a:p>
          <a:p>
            <a:pPr marL="457200" indent="-457200">
              <a:buFont typeface="+mj-lt"/>
              <a:buAutoNum type="arabicPeriod"/>
            </a:pPr>
            <a:endParaRPr lang="fr-FR" dirty="0"/>
          </a:p>
          <a:p>
            <a:pPr marL="457200" indent="-457200">
              <a:buFont typeface="+mj-lt"/>
              <a:buAutoNum type="arabicPeriod"/>
            </a:pPr>
            <a:endParaRPr lang="fr-FR" dirty="0" smtClean="0"/>
          </a:p>
          <a:p>
            <a:pPr marL="457200" indent="-457200">
              <a:buFont typeface="+mj-lt"/>
              <a:buAutoNum type="arabicPeriod"/>
            </a:pPr>
            <a:endParaRPr lang="fr-FR" dirty="0"/>
          </a:p>
          <a:p>
            <a:pPr marL="457200" indent="-457200">
              <a:buFont typeface="+mj-lt"/>
              <a:buAutoNum type="arabicPeriod"/>
            </a:pPr>
            <a:endParaRPr lang="fr-FR" dirty="0" smtClean="0"/>
          </a:p>
          <a:p>
            <a:pPr marL="457200" indent="-457200">
              <a:buFont typeface="+mj-lt"/>
              <a:buAutoNum type="arabicPeriod"/>
            </a:pPr>
            <a:endParaRPr lang="fr-FR" dirty="0"/>
          </a:p>
          <a:p>
            <a:pPr marL="457200" indent="-457200">
              <a:buFont typeface="+mj-lt"/>
              <a:buAutoNum type="arabicPeriod"/>
            </a:pPr>
            <a:endParaRPr lang="fr-FR" dirty="0" smtClean="0"/>
          </a:p>
          <a:p>
            <a:pPr marL="457200" indent="-457200">
              <a:buFont typeface="+mj-lt"/>
              <a:buAutoNum type="arabicPeriod"/>
            </a:pPr>
            <a:r>
              <a:rPr lang="fr-FR" dirty="0"/>
              <a:t>Lancez le serveur dans ce répertoire : </a:t>
            </a:r>
            <a:r>
              <a:rPr lang="fr-FR" dirty="0" err="1"/>
              <a:t>jwebserver</a:t>
            </a:r>
            <a:r>
              <a:rPr lang="fr-FR" dirty="0"/>
              <a:t> --directory . --port </a:t>
            </a:r>
            <a:r>
              <a:rPr lang="fr-FR" dirty="0" smtClean="0"/>
              <a:t>8080</a:t>
            </a:r>
          </a:p>
          <a:p>
            <a:pPr marL="457200" indent="-457200">
              <a:buFont typeface="+mj-lt"/>
              <a:buAutoNum type="arabicPeriod"/>
            </a:pPr>
            <a:r>
              <a:rPr lang="fr-FR" dirty="0"/>
              <a:t>Ouvrez un navigateur et accédez à : http://localhost:8080</a:t>
            </a:r>
          </a:p>
        </p:txBody>
      </p:sp>
      <p:pic>
        <p:nvPicPr>
          <p:cNvPr id="6" name="Image 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172858" y="2262187"/>
            <a:ext cx="5816905" cy="25632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73769922"/>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Utilisation avec l’API Java</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Le Simple Web Server repose sur l’API </a:t>
            </a:r>
            <a:r>
              <a:rPr lang="fr-FR" sz="3200" b="1" dirty="0" err="1"/>
              <a:t>com.sun.net.httpserver</a:t>
            </a:r>
            <a:r>
              <a:rPr lang="fr-FR" sz="3200" dirty="0"/>
              <a:t> pour sa mise en œuvre. Vous pouvez utiliser cette API pour configurer un serveur HTTP dans vos applications.</a:t>
            </a:r>
          </a:p>
        </p:txBody>
      </p:sp>
    </p:spTree>
    <p:extLst>
      <p:ext uri="{BB962C8B-B14F-4D97-AF65-F5344CB8AC3E}">
        <p14:creationId xmlns:p14="http://schemas.microsoft.com/office/powerpoint/2010/main" val="223366001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Exemple de serveur HTTP minimaliste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233890" y="1896532"/>
            <a:ext cx="9793994" cy="43279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7258878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du Simple Web </a:t>
            </a:r>
            <a:r>
              <a:rPr lang="fr-FR" b="1" dirty="0" smtClean="0"/>
              <a:t>Server</a:t>
            </a:r>
            <a:endParaRPr lang="fr-FR" dirty="0"/>
          </a:p>
        </p:txBody>
      </p:sp>
      <p:sp>
        <p:nvSpPr>
          <p:cNvPr id="3" name="Espace réservé du contenu 2"/>
          <p:cNvSpPr>
            <a:spLocks noGrp="1"/>
          </p:cNvSpPr>
          <p:nvPr>
            <p:ph idx="1"/>
          </p:nvPr>
        </p:nvSpPr>
        <p:spPr/>
        <p:txBody>
          <a:bodyPr>
            <a:normAutofit/>
          </a:bodyPr>
          <a:lstStyle/>
          <a:p>
            <a:pPr marL="457200" indent="-457200" algn="just">
              <a:lnSpc>
                <a:spcPct val="150000"/>
              </a:lnSpc>
              <a:buFont typeface="+mj-lt"/>
              <a:buAutoNum type="arabicPeriod"/>
            </a:pPr>
            <a:r>
              <a:rPr lang="fr-FR" sz="2400" dirty="0"/>
              <a:t>Rapidité : Idéal pour tester rapidement une interface ou afficher des fichiers</a:t>
            </a:r>
            <a:r>
              <a:rPr lang="fr-FR" sz="2400" dirty="0" smtClean="0"/>
              <a:t>.</a:t>
            </a:r>
          </a:p>
          <a:p>
            <a:pPr marL="457200" indent="-457200" algn="just">
              <a:lnSpc>
                <a:spcPct val="150000"/>
              </a:lnSpc>
              <a:buFont typeface="+mj-lt"/>
              <a:buAutoNum type="arabicPeriod"/>
            </a:pPr>
            <a:r>
              <a:rPr lang="fr-FR" sz="2400" dirty="0"/>
              <a:t>Configuration minimale : Pas besoin de dépendances externes</a:t>
            </a:r>
            <a:r>
              <a:rPr lang="fr-FR" sz="2400" dirty="0" smtClean="0"/>
              <a:t>.</a:t>
            </a:r>
          </a:p>
          <a:p>
            <a:pPr marL="457200" indent="-457200" algn="just">
              <a:lnSpc>
                <a:spcPct val="150000"/>
              </a:lnSpc>
              <a:buFont typeface="+mj-lt"/>
              <a:buAutoNum type="arabicPeriod"/>
            </a:pPr>
            <a:r>
              <a:rPr lang="fr-FR" sz="2400" b="1" dirty="0"/>
              <a:t>Intégré dans la JDK</a:t>
            </a:r>
            <a:r>
              <a:rPr lang="fr-FR" sz="2400" dirty="0"/>
              <a:t> : Pas besoin d’installation supplémentaire.</a:t>
            </a:r>
          </a:p>
          <a:p>
            <a:pPr marL="457200" indent="-457200" algn="just">
              <a:lnSpc>
                <a:spcPct val="150000"/>
              </a:lnSpc>
              <a:buFont typeface="+mj-lt"/>
              <a:buAutoNum type="arabicPeriod"/>
            </a:pPr>
            <a:endParaRPr lang="fr-FR" sz="2400" dirty="0"/>
          </a:p>
        </p:txBody>
      </p:sp>
    </p:spTree>
    <p:extLst>
      <p:ext uri="{BB962C8B-B14F-4D97-AF65-F5344CB8AC3E}">
        <p14:creationId xmlns:p14="http://schemas.microsoft.com/office/powerpoint/2010/main" val="2176928614"/>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d'utilisation</a:t>
            </a:r>
          </a:p>
        </p:txBody>
      </p:sp>
      <p:sp>
        <p:nvSpPr>
          <p:cNvPr id="3" name="Espace réservé du contenu 2"/>
          <p:cNvSpPr>
            <a:spLocks noGrp="1"/>
          </p:cNvSpPr>
          <p:nvPr>
            <p:ph idx="1"/>
          </p:nvPr>
        </p:nvSpPr>
        <p:spPr/>
        <p:txBody>
          <a:bodyPr>
            <a:normAutofit/>
          </a:bodyPr>
          <a:lstStyle/>
          <a:p>
            <a:pPr>
              <a:lnSpc>
                <a:spcPct val="200000"/>
              </a:lnSpc>
              <a:buFont typeface="Wingdings" panose="05000000000000000000" pitchFamily="2" charset="2"/>
              <a:buChar char="Ø"/>
            </a:pPr>
            <a:r>
              <a:rPr lang="fr-FR" sz="2400" dirty="0"/>
              <a:t> Tester localement des fichiers HTML, CSS ou JavaScript</a:t>
            </a:r>
            <a:r>
              <a:rPr lang="fr-FR" sz="2400" dirty="0" smtClean="0"/>
              <a:t>.</a:t>
            </a:r>
          </a:p>
          <a:p>
            <a:pPr>
              <a:lnSpc>
                <a:spcPct val="200000"/>
              </a:lnSpc>
              <a:buFont typeface="Wingdings" panose="05000000000000000000" pitchFamily="2" charset="2"/>
              <a:buChar char="Ø"/>
            </a:pPr>
            <a:r>
              <a:rPr lang="fr-FR" sz="2400" dirty="0"/>
              <a:t> Prototyper des projets légers ou des démonstrations</a:t>
            </a:r>
            <a:r>
              <a:rPr lang="fr-FR" sz="2400" dirty="0" smtClean="0"/>
              <a:t>.</a:t>
            </a:r>
          </a:p>
          <a:p>
            <a:pPr>
              <a:lnSpc>
                <a:spcPct val="200000"/>
              </a:lnSpc>
              <a:buFont typeface="Wingdings" panose="05000000000000000000" pitchFamily="2" charset="2"/>
              <a:buChar char="Ø"/>
            </a:pPr>
            <a:r>
              <a:rPr lang="fr-FR" sz="2400" dirty="0"/>
              <a:t> Partager rapidement des fichiers dans un environnement de développement.</a:t>
            </a:r>
          </a:p>
        </p:txBody>
      </p:sp>
    </p:spTree>
    <p:extLst>
      <p:ext uri="{BB962C8B-B14F-4D97-AF65-F5344CB8AC3E}">
        <p14:creationId xmlns:p14="http://schemas.microsoft.com/office/powerpoint/2010/main" val="3373046387"/>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Limites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smtClean="0"/>
              <a:t> </a:t>
            </a:r>
            <a:r>
              <a:rPr lang="fr-FR" sz="3200" b="1" dirty="0"/>
              <a:t>Pas conçu pour la production</a:t>
            </a:r>
            <a:r>
              <a:rPr lang="fr-FR" sz="3200" dirty="0"/>
              <a:t> : C’est un outil de développement, pas un serveur web robuste</a:t>
            </a:r>
            <a:r>
              <a:rPr lang="fr-FR" sz="3200" dirty="0" smtClean="0"/>
              <a:t>.</a:t>
            </a:r>
          </a:p>
          <a:p>
            <a:pPr algn="just">
              <a:lnSpc>
                <a:spcPct val="150000"/>
              </a:lnSpc>
              <a:buFont typeface="Wingdings" panose="05000000000000000000" pitchFamily="2" charset="2"/>
              <a:buChar char="Ø"/>
            </a:pPr>
            <a:r>
              <a:rPr lang="fr-FR" sz="3200" dirty="0"/>
              <a:t> </a:t>
            </a:r>
            <a:r>
              <a:rPr lang="fr-FR" sz="3200" b="1" dirty="0"/>
              <a:t>Fichiers statiques uniquement</a:t>
            </a:r>
            <a:r>
              <a:rPr lang="fr-FR" sz="3200" dirty="0"/>
              <a:t> : Pas de prise en charge pour des pages dynamiques ou des interactions complexes côté serveur.</a:t>
            </a:r>
          </a:p>
        </p:txBody>
      </p:sp>
    </p:spTree>
    <p:extLst>
      <p:ext uri="{BB962C8B-B14F-4D97-AF65-F5344CB8AC3E}">
        <p14:creationId xmlns:p14="http://schemas.microsoft.com/office/powerpoint/2010/main" val="324475529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Le Simple Web Server est un ajout pratique à la JDK 18 qui simplifie le travail des développeurs lorsqu’ils ont besoin d’un serveur minimaliste pour des tâches rapides.</a:t>
            </a:r>
          </a:p>
        </p:txBody>
      </p:sp>
    </p:spTree>
    <p:extLst>
      <p:ext uri="{BB962C8B-B14F-4D97-AF65-F5344CB8AC3E}">
        <p14:creationId xmlns:p14="http://schemas.microsoft.com/office/powerpoint/2010/main" val="1377868601"/>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Apports de la JDK 19, 20 et 21</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a:t>
            </a:r>
            <a:r>
              <a:rPr lang="fr-FR" sz="3600" dirty="0" smtClean="0"/>
              <a:t>Les </a:t>
            </a:r>
            <a:r>
              <a:rPr lang="fr-FR" sz="3600" dirty="0"/>
              <a:t>apports des JDK 19, 20, et 21, ainsi que les innovations issues des projets Amber, Panama, et </a:t>
            </a:r>
            <a:r>
              <a:rPr lang="fr-FR" sz="3600" dirty="0" err="1"/>
              <a:t>Loom</a:t>
            </a:r>
            <a:r>
              <a:rPr lang="fr-FR" sz="3600" dirty="0"/>
              <a:t> :</a:t>
            </a:r>
          </a:p>
        </p:txBody>
      </p:sp>
    </p:spTree>
    <p:extLst>
      <p:ext uri="{BB962C8B-B14F-4D97-AF65-F5344CB8AC3E}">
        <p14:creationId xmlns:p14="http://schemas.microsoft.com/office/powerpoint/2010/main" val="2466659630"/>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Projet Amber</a:t>
            </a:r>
          </a:p>
        </p:txBody>
      </p:sp>
      <p:sp>
        <p:nvSpPr>
          <p:cNvPr id="3" name="Espace réservé du contenu 2"/>
          <p:cNvSpPr>
            <a:spLocks noGrp="1"/>
          </p:cNvSpPr>
          <p:nvPr>
            <p:ph idx="1"/>
          </p:nvPr>
        </p:nvSpPr>
        <p:spPr>
          <a:xfrm>
            <a:off x="1097279" y="1845734"/>
            <a:ext cx="10264987" cy="4023360"/>
          </a:xfrm>
        </p:spPr>
        <p:txBody>
          <a:bodyPr>
            <a:normAutofit/>
          </a:bodyPr>
          <a:lstStyle/>
          <a:p>
            <a:pPr algn="just">
              <a:lnSpc>
                <a:spcPct val="150000"/>
              </a:lnSpc>
              <a:buFont typeface="Wingdings" panose="05000000000000000000" pitchFamily="2" charset="2"/>
              <a:buChar char="Ø"/>
            </a:pPr>
            <a:r>
              <a:rPr lang="fr-FR" sz="2800" dirty="0"/>
              <a:t> Ce projet vise à améliorer la productivité des développeurs Java en introduisant des fonctionnalités linguistiques modernes et concises, notamment </a:t>
            </a:r>
            <a:r>
              <a:rPr lang="fr-FR" sz="2800" dirty="0" smtClean="0"/>
              <a:t>:</a:t>
            </a:r>
          </a:p>
          <a:p>
            <a:pPr lvl="1" algn="just">
              <a:lnSpc>
                <a:spcPct val="150000"/>
              </a:lnSpc>
              <a:buFont typeface="Wingdings" panose="05000000000000000000" pitchFamily="2" charset="2"/>
              <a:buChar char="Ø"/>
            </a:pPr>
            <a:r>
              <a:rPr lang="fr-FR" sz="2400" dirty="0" smtClean="0"/>
              <a:t> </a:t>
            </a:r>
            <a:r>
              <a:rPr lang="fr-FR" sz="2400" b="1" dirty="0"/>
              <a:t>Record Patterns</a:t>
            </a:r>
            <a:r>
              <a:rPr lang="fr-FR" sz="2400" dirty="0"/>
              <a:t> (déconstruction simplifiée des objets</a:t>
            </a:r>
            <a:r>
              <a:rPr lang="fr-FR" sz="2400" dirty="0" smtClean="0"/>
              <a:t>).</a:t>
            </a:r>
          </a:p>
          <a:p>
            <a:pPr lvl="1" algn="just">
              <a:lnSpc>
                <a:spcPct val="150000"/>
              </a:lnSpc>
              <a:buFont typeface="Wingdings" panose="05000000000000000000" pitchFamily="2" charset="2"/>
              <a:buChar char="Ø"/>
            </a:pPr>
            <a:r>
              <a:rPr lang="fr-FR" sz="2400" dirty="0"/>
              <a:t> Améliorations du switch (expressions et patterns</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a:t>String </a:t>
            </a:r>
            <a:r>
              <a:rPr lang="fr-FR" sz="2400" b="1" dirty="0" err="1"/>
              <a:t>Templates</a:t>
            </a:r>
            <a:r>
              <a:rPr lang="fr-FR" sz="2400" dirty="0"/>
              <a:t> (facilitation de la manipulation des chaînes).</a:t>
            </a:r>
          </a:p>
        </p:txBody>
      </p:sp>
    </p:spTree>
    <p:extLst>
      <p:ext uri="{BB962C8B-B14F-4D97-AF65-F5344CB8AC3E}">
        <p14:creationId xmlns:p14="http://schemas.microsoft.com/office/powerpoint/2010/main" val="2253949739"/>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Projet Panama</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Objectif : permettre à Java d’interagir plus efficacement avec du code natif (non-Java). Les principales contributions incluent </a:t>
            </a:r>
            <a:r>
              <a:rPr lang="fr-FR" sz="3200" dirty="0" smtClean="0"/>
              <a:t>:</a:t>
            </a:r>
          </a:p>
          <a:p>
            <a:pPr lvl="1" algn="just">
              <a:lnSpc>
                <a:spcPct val="150000"/>
              </a:lnSpc>
              <a:buFont typeface="Wingdings" panose="05000000000000000000" pitchFamily="2" charset="2"/>
              <a:buChar char="Ø"/>
            </a:pPr>
            <a:r>
              <a:rPr lang="fr-FR" sz="2800" dirty="0"/>
              <a:t> </a:t>
            </a:r>
            <a:r>
              <a:rPr lang="fr-FR" sz="2800" b="1" dirty="0" err="1"/>
              <a:t>Foreign</a:t>
            </a:r>
            <a:r>
              <a:rPr lang="fr-FR" sz="2800" b="1" dirty="0"/>
              <a:t> </a:t>
            </a:r>
            <a:r>
              <a:rPr lang="fr-FR" sz="2800" b="1" dirty="0" err="1"/>
              <a:t>Function</a:t>
            </a:r>
            <a:r>
              <a:rPr lang="fr-FR" sz="2800" b="1" dirty="0"/>
              <a:t> and Memory API</a:t>
            </a:r>
            <a:r>
              <a:rPr lang="fr-FR" sz="2800" dirty="0"/>
              <a:t> pour appeler des bibliothèques natives</a:t>
            </a:r>
            <a:r>
              <a:rPr lang="fr-FR" sz="2800" dirty="0" smtClean="0"/>
              <a:t>.</a:t>
            </a:r>
          </a:p>
          <a:p>
            <a:pPr lvl="1" algn="just">
              <a:lnSpc>
                <a:spcPct val="150000"/>
              </a:lnSpc>
              <a:buFont typeface="Wingdings" panose="05000000000000000000" pitchFamily="2" charset="2"/>
              <a:buChar char="Ø"/>
            </a:pPr>
            <a:r>
              <a:rPr lang="fr-FR" sz="2800" dirty="0"/>
              <a:t> Gestion simplifiée de la mémoire Off-</a:t>
            </a:r>
            <a:r>
              <a:rPr lang="fr-FR" sz="2800" dirty="0" err="1"/>
              <a:t>Heap</a:t>
            </a:r>
            <a:r>
              <a:rPr lang="fr-FR" sz="2800" dirty="0"/>
              <a:t>.</a:t>
            </a:r>
          </a:p>
        </p:txBody>
      </p:sp>
    </p:spTree>
    <p:extLst>
      <p:ext uri="{BB962C8B-B14F-4D97-AF65-F5344CB8AC3E}">
        <p14:creationId xmlns:p14="http://schemas.microsoft.com/office/powerpoint/2010/main" val="1053986397"/>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Projet </a:t>
            </a:r>
            <a:r>
              <a:rPr lang="fr-FR" b="1" dirty="0" err="1"/>
              <a:t>Loom</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ar-SA" sz="3200" dirty="0" smtClean="0"/>
              <a:t>  </a:t>
            </a:r>
            <a:r>
              <a:rPr lang="fr-FR" sz="3200" dirty="0"/>
              <a:t>Ce projet révolutionne la gestion des threads dans Java avec les </a:t>
            </a:r>
            <a:r>
              <a:rPr lang="fr-FR" sz="3200" b="1" dirty="0"/>
              <a:t>threads virtuels</a:t>
            </a:r>
            <a:r>
              <a:rPr lang="fr-FR" sz="3200" dirty="0"/>
              <a:t>, permettant une meilleure optimisation des ressources pour les applications fortement concurrentes.</a:t>
            </a:r>
          </a:p>
        </p:txBody>
      </p:sp>
    </p:spTree>
    <p:extLst>
      <p:ext uri="{BB962C8B-B14F-4D97-AF65-F5344CB8AC3E}">
        <p14:creationId xmlns:p14="http://schemas.microsoft.com/office/powerpoint/2010/main" val="86431508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600" b="1" dirty="0"/>
              <a:t>Les threads virtuels pour l’optimisation des ressources</a:t>
            </a:r>
          </a:p>
        </p:txBody>
      </p:sp>
      <p:sp>
        <p:nvSpPr>
          <p:cNvPr id="3" name="Espace réservé du contenu 2"/>
          <p:cNvSpPr>
            <a:spLocks noGrp="1"/>
          </p:cNvSpPr>
          <p:nvPr>
            <p:ph idx="1"/>
          </p:nvPr>
        </p:nvSpPr>
        <p:spPr>
          <a:xfrm>
            <a:off x="1097280" y="1628987"/>
            <a:ext cx="10058400" cy="4023360"/>
          </a:xfrm>
        </p:spPr>
        <p:txBody>
          <a:bodyPr>
            <a:noAutofit/>
          </a:bodyPr>
          <a:lstStyle/>
          <a:p>
            <a:pPr algn="just">
              <a:lnSpc>
                <a:spcPct val="150000"/>
              </a:lnSpc>
              <a:buFont typeface="Wingdings" panose="05000000000000000000" pitchFamily="2" charset="2"/>
              <a:buChar char="Ø"/>
            </a:pPr>
            <a:r>
              <a:rPr lang="ar-SA" sz="2800" dirty="0" smtClean="0"/>
              <a:t>  </a:t>
            </a:r>
            <a:r>
              <a:rPr lang="fr-FR" sz="2800" dirty="0"/>
              <a:t>Les </a:t>
            </a:r>
            <a:r>
              <a:rPr lang="fr-FR" sz="2800" b="1" dirty="0"/>
              <a:t>threads virtuels</a:t>
            </a:r>
            <a:r>
              <a:rPr lang="fr-FR" sz="2800" dirty="0"/>
              <a:t> (introduits comme fonctionnalité </a:t>
            </a:r>
            <a:r>
              <a:rPr lang="fr-FR" sz="2800" dirty="0" err="1"/>
              <a:t>preview</a:t>
            </a:r>
            <a:r>
              <a:rPr lang="fr-FR" sz="2800" dirty="0"/>
              <a:t> dans la JDK 19) sont légers et permettent d’exécuter des tâches simultanées à grande échelle sans le coût associé aux threads système classiques</a:t>
            </a:r>
            <a:r>
              <a:rPr lang="fr-FR" sz="2800" dirty="0" smtClean="0"/>
              <a:t>.</a:t>
            </a:r>
            <a:endParaRPr lang="ar-SA" sz="2800" dirty="0" smtClean="0"/>
          </a:p>
          <a:p>
            <a:pPr lvl="1" algn="just">
              <a:lnSpc>
                <a:spcPct val="150000"/>
              </a:lnSpc>
              <a:buFont typeface="Wingdings" panose="05000000000000000000" pitchFamily="2" charset="2"/>
              <a:buChar char="Ø"/>
            </a:pPr>
            <a:r>
              <a:rPr lang="ar-SA" sz="2400" dirty="0"/>
              <a:t> </a:t>
            </a:r>
            <a:r>
              <a:rPr lang="ar-SA" sz="2400" dirty="0" smtClean="0"/>
              <a:t>  </a:t>
            </a:r>
            <a:r>
              <a:rPr lang="fr-FR" sz="2400" dirty="0"/>
              <a:t>Avantages </a:t>
            </a:r>
            <a:r>
              <a:rPr lang="fr-FR" sz="2400" dirty="0" smtClean="0"/>
              <a:t>:</a:t>
            </a:r>
            <a:endParaRPr lang="ar-SA" sz="2400" dirty="0" smtClean="0"/>
          </a:p>
          <a:p>
            <a:pPr lvl="2" algn="just">
              <a:lnSpc>
                <a:spcPct val="150000"/>
              </a:lnSpc>
              <a:buFont typeface="Wingdings" panose="05000000000000000000" pitchFamily="2" charset="2"/>
              <a:buChar char="Ø"/>
            </a:pPr>
            <a:r>
              <a:rPr lang="ar-SA" sz="1800" dirty="0"/>
              <a:t> </a:t>
            </a:r>
            <a:r>
              <a:rPr lang="ar-SA" sz="1800" dirty="0" smtClean="0"/>
              <a:t> </a:t>
            </a:r>
            <a:r>
              <a:rPr lang="fr-FR" sz="1800" dirty="0"/>
              <a:t>Une gestion mémoire optimisée</a:t>
            </a:r>
            <a:r>
              <a:rPr lang="fr-FR" sz="1800" dirty="0" smtClean="0"/>
              <a:t>.</a:t>
            </a:r>
            <a:endParaRPr lang="ar-SA" sz="1800" dirty="0" smtClean="0"/>
          </a:p>
          <a:p>
            <a:pPr lvl="2" algn="just">
              <a:lnSpc>
                <a:spcPct val="150000"/>
              </a:lnSpc>
              <a:buFont typeface="Wingdings" panose="05000000000000000000" pitchFamily="2" charset="2"/>
              <a:buChar char="Ø"/>
            </a:pPr>
            <a:r>
              <a:rPr lang="ar-SA" sz="1800" dirty="0"/>
              <a:t> </a:t>
            </a:r>
            <a:r>
              <a:rPr lang="fr-FR" sz="1800" dirty="0"/>
              <a:t>Réduction de la complexité pour gérer des millions de threads</a:t>
            </a:r>
            <a:r>
              <a:rPr lang="fr-FR" sz="1800" dirty="0" smtClean="0"/>
              <a:t>.</a:t>
            </a:r>
            <a:endParaRPr lang="ar-SA" sz="1800" dirty="0" smtClean="0"/>
          </a:p>
          <a:p>
            <a:pPr lvl="2" algn="just">
              <a:lnSpc>
                <a:spcPct val="150000"/>
              </a:lnSpc>
              <a:buFont typeface="Wingdings" panose="05000000000000000000" pitchFamily="2" charset="2"/>
              <a:buChar char="Ø"/>
            </a:pPr>
            <a:r>
              <a:rPr lang="ar-SA" sz="1800" dirty="0"/>
              <a:t> </a:t>
            </a:r>
            <a:r>
              <a:rPr lang="fr-FR" sz="1800" dirty="0"/>
              <a:t>Approprié pour des serveurs web et des services hautement concurrentiels.</a:t>
            </a:r>
          </a:p>
        </p:txBody>
      </p:sp>
    </p:spTree>
    <p:extLst>
      <p:ext uri="{BB962C8B-B14F-4D97-AF65-F5344CB8AC3E}">
        <p14:creationId xmlns:p14="http://schemas.microsoft.com/office/powerpoint/2010/main" val="1379306347"/>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Les Record Patterns et la déconstruction</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ar-SA" dirty="0" smtClean="0"/>
              <a:t> </a:t>
            </a:r>
            <a:r>
              <a:rPr lang="fr-FR" dirty="0"/>
              <a:t>Permet de déconstruire des objets de type record directement dans des switch ou des if :</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4095750" y="2571750"/>
            <a:ext cx="4000500" cy="1714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4379735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Les String </a:t>
            </a:r>
            <a:r>
              <a:rPr lang="fr-FR" b="1" dirty="0" err="1"/>
              <a:t>Templates</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ar-SA" sz="2400" dirty="0" smtClean="0"/>
              <a:t> </a:t>
            </a:r>
            <a:r>
              <a:rPr lang="fr-FR" sz="2400" dirty="0"/>
              <a:t>Introduits comme fonctionnalité </a:t>
            </a:r>
            <a:r>
              <a:rPr lang="fr-FR" sz="2400" dirty="0" err="1"/>
              <a:t>preview</a:t>
            </a:r>
            <a:r>
              <a:rPr lang="fr-FR" sz="2400" dirty="0"/>
              <a:t> dans la JDK 21, ils simplifient la manipulation des chaînes en intégrant directement des expressions Java dans une syntaxe sécurisée </a:t>
            </a:r>
            <a:r>
              <a:rPr lang="fr-FR" sz="2400" dirty="0" smtClean="0"/>
              <a:t>:</a:t>
            </a:r>
            <a:endParaRPr lang="ar-SA" sz="2400" dirty="0" smtClean="0"/>
          </a:p>
          <a:p>
            <a:pPr algn="just">
              <a:lnSpc>
                <a:spcPct val="150000"/>
              </a:lnSpc>
              <a:buFont typeface="Wingdings" panose="05000000000000000000" pitchFamily="2" charset="2"/>
              <a:buChar char="Ø"/>
            </a:pPr>
            <a:r>
              <a:rPr lang="ar-SA" sz="2400" dirty="0" smtClean="0"/>
              <a:t> </a:t>
            </a:r>
            <a:r>
              <a:rPr lang="fr-FR" sz="2400" dirty="0"/>
              <a:t>Avantages :</a:t>
            </a:r>
          </a:p>
          <a:p>
            <a:pPr lvl="1" algn="just">
              <a:lnSpc>
                <a:spcPct val="150000"/>
              </a:lnSpc>
              <a:buFont typeface="Wingdings" panose="05000000000000000000" pitchFamily="2" charset="2"/>
              <a:buChar char="Ø"/>
            </a:pPr>
            <a:r>
              <a:rPr lang="ar-SA" sz="2000" dirty="0" smtClean="0"/>
              <a:t> </a:t>
            </a:r>
            <a:r>
              <a:rPr lang="fr-FR" sz="2000" dirty="0"/>
              <a:t>Syntaxe concise et sécurisée</a:t>
            </a:r>
            <a:r>
              <a:rPr lang="fr-FR" sz="2000" dirty="0" smtClean="0"/>
              <a:t>.</a:t>
            </a:r>
            <a:endParaRPr lang="ar-SA" sz="2000" dirty="0" smtClean="0"/>
          </a:p>
          <a:p>
            <a:pPr lvl="1" algn="just">
              <a:lnSpc>
                <a:spcPct val="150000"/>
              </a:lnSpc>
              <a:buFont typeface="Wingdings" panose="05000000000000000000" pitchFamily="2" charset="2"/>
              <a:buChar char="Ø"/>
            </a:pPr>
            <a:r>
              <a:rPr lang="ar-SA" sz="2000" dirty="0"/>
              <a:t> </a:t>
            </a:r>
            <a:r>
              <a:rPr lang="fr-FR" sz="2000" dirty="0"/>
              <a:t>Moins de risques d’erreurs comparé à la concaténation ou à </a:t>
            </a:r>
            <a:r>
              <a:rPr lang="fr-FR" sz="2000" b="1" dirty="0" err="1"/>
              <a:t>String.format</a:t>
            </a:r>
            <a:r>
              <a:rPr lang="fr-FR" sz="2000" dirty="0"/>
              <a:t>.</a:t>
            </a:r>
          </a:p>
        </p:txBody>
      </p:sp>
      <p:pic>
        <p:nvPicPr>
          <p:cNvPr id="4" name="Image 3"/>
          <p:cNvPicPr>
            <a:picLocks noChangeAspect="1"/>
          </p:cNvPicPr>
          <p:nvPr/>
        </p:nvPicPr>
        <p:blipFill>
          <a:blip r:embed="rId2"/>
          <a:stretch>
            <a:fillRect/>
          </a:stretch>
        </p:blipFill>
        <p:spPr>
          <a:xfrm>
            <a:off x="4480455" y="3090122"/>
            <a:ext cx="5267303" cy="9400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0905248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Foreign Function and Memory API</a:t>
            </a:r>
            <a:endParaRPr lang="fr-FR" dirty="0"/>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ar-SA" dirty="0" smtClean="0"/>
              <a:t> </a:t>
            </a:r>
            <a:r>
              <a:rPr lang="fr-FR" dirty="0"/>
              <a:t>Simplifie l’appel des fonctions natives en remplaçant JNI (Java Native Interface) </a:t>
            </a:r>
            <a:r>
              <a:rPr lang="fr-FR" dirty="0" smtClean="0"/>
              <a:t>:</a:t>
            </a:r>
            <a:endParaRPr lang="ar-SA" dirty="0" smtClean="0"/>
          </a:p>
          <a:p>
            <a:pPr lvl="1">
              <a:buFont typeface="Wingdings" panose="05000000000000000000" pitchFamily="2" charset="2"/>
              <a:buChar char="Ø"/>
            </a:pPr>
            <a:r>
              <a:rPr lang="ar-SA" dirty="0"/>
              <a:t> </a:t>
            </a:r>
            <a:r>
              <a:rPr lang="fr-FR" dirty="0"/>
              <a:t>Exemple d’appel d’une fonction native </a:t>
            </a:r>
            <a:r>
              <a:rPr lang="fr-FR" dirty="0" smtClean="0"/>
              <a:t>:</a:t>
            </a:r>
            <a:endParaRPr lang="ar-SA" dirty="0" smtClean="0"/>
          </a:p>
          <a:p>
            <a:pPr lvl="1">
              <a:buFont typeface="Wingdings" panose="05000000000000000000" pitchFamily="2" charset="2"/>
              <a:buChar char="Ø"/>
            </a:pPr>
            <a:endParaRPr lang="ar-SA" dirty="0"/>
          </a:p>
          <a:p>
            <a:pPr lvl="1">
              <a:buFont typeface="Wingdings" panose="05000000000000000000" pitchFamily="2" charset="2"/>
              <a:buChar char="Ø"/>
            </a:pPr>
            <a:endParaRPr lang="ar-SA" dirty="0" smtClean="0"/>
          </a:p>
          <a:p>
            <a:pPr lvl="1">
              <a:buFont typeface="Wingdings" panose="05000000000000000000" pitchFamily="2" charset="2"/>
              <a:buChar char="Ø"/>
            </a:pPr>
            <a:endParaRPr lang="ar-SA" dirty="0"/>
          </a:p>
          <a:p>
            <a:pPr lvl="1">
              <a:buFont typeface="Wingdings" panose="05000000000000000000" pitchFamily="2" charset="2"/>
              <a:buChar char="Ø"/>
            </a:pPr>
            <a:endParaRPr lang="ar-SA" dirty="0" smtClean="0"/>
          </a:p>
          <a:p>
            <a:pPr lvl="1">
              <a:buFont typeface="Wingdings" panose="05000000000000000000" pitchFamily="2" charset="2"/>
              <a:buChar char="Ø"/>
            </a:pPr>
            <a:endParaRPr lang="ar-SA" dirty="0"/>
          </a:p>
          <a:p>
            <a:pPr lvl="1">
              <a:buFont typeface="Wingdings" panose="05000000000000000000" pitchFamily="2" charset="2"/>
              <a:buChar char="Ø"/>
            </a:pPr>
            <a:endParaRPr lang="ar-SA" dirty="0" smtClean="0"/>
          </a:p>
          <a:p>
            <a:pPr lvl="1">
              <a:buFont typeface="Wingdings" panose="05000000000000000000" pitchFamily="2" charset="2"/>
              <a:buChar char="Ø"/>
            </a:pPr>
            <a:r>
              <a:rPr lang="ar-SA" dirty="0"/>
              <a:t> </a:t>
            </a:r>
            <a:r>
              <a:rPr lang="fr-FR" dirty="0"/>
              <a:t>Gère également l’accès aux données en </a:t>
            </a:r>
            <a:r>
              <a:rPr lang="fr-FR" b="1" dirty="0"/>
              <a:t>Off-</a:t>
            </a:r>
            <a:r>
              <a:rPr lang="fr-FR" b="1" dirty="0" err="1"/>
              <a:t>Heap</a:t>
            </a:r>
            <a:r>
              <a:rPr lang="fr-FR" dirty="0"/>
              <a:t> (hors de la mémoire managée par la JVM).</a:t>
            </a:r>
          </a:p>
          <a:p>
            <a:pPr lvl="1">
              <a:buFont typeface="Wingdings" panose="05000000000000000000" pitchFamily="2" charset="2"/>
              <a:buChar char="Ø"/>
            </a:pPr>
            <a:endParaRPr lang="fr-FR" dirty="0"/>
          </a:p>
        </p:txBody>
      </p:sp>
      <p:pic>
        <p:nvPicPr>
          <p:cNvPr id="5" name="Image 4"/>
          <p:cNvPicPr>
            <a:picLocks noChangeAspect="1"/>
          </p:cNvPicPr>
          <p:nvPr/>
        </p:nvPicPr>
        <p:blipFill>
          <a:blip r:embed="rId2"/>
          <a:stretch>
            <a:fillRect/>
          </a:stretch>
        </p:blipFill>
        <p:spPr>
          <a:xfrm>
            <a:off x="3592830" y="2601701"/>
            <a:ext cx="5067300" cy="1255713"/>
          </a:xfrm>
          <a:prstGeom prst="rect">
            <a:avLst/>
          </a:prstGeom>
        </p:spPr>
      </p:pic>
    </p:spTree>
    <p:extLst>
      <p:ext uri="{BB962C8B-B14F-4D97-AF65-F5344CB8AC3E}">
        <p14:creationId xmlns:p14="http://schemas.microsoft.com/office/powerpoint/2010/main" val="938311403"/>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Accès aux données Off-</a:t>
            </a:r>
            <a:r>
              <a:rPr lang="fr-FR" dirty="0" err="1"/>
              <a:t>Heap</a:t>
            </a:r>
            <a:r>
              <a:rPr lang="fr-FR" dirty="0"/>
              <a:t> </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L'accès aux données </a:t>
            </a:r>
            <a:r>
              <a:rPr lang="fr-FR" sz="2800" b="1" dirty="0"/>
              <a:t>Off-</a:t>
            </a:r>
            <a:r>
              <a:rPr lang="fr-FR" sz="2800" b="1" dirty="0" err="1"/>
              <a:t>Heap</a:t>
            </a:r>
            <a:r>
              <a:rPr lang="fr-FR" sz="2800" dirty="0"/>
              <a:t> est un sujet central dans les améliorations introduites par les JDK récentes, notamment grâce au </a:t>
            </a:r>
            <a:r>
              <a:rPr lang="fr-FR" sz="2800" b="1" dirty="0"/>
              <a:t>Projet Panama</a:t>
            </a:r>
            <a:r>
              <a:rPr lang="fr-FR" sz="2800" dirty="0"/>
              <a:t> et aux nouvelles APIs comme la </a:t>
            </a:r>
            <a:r>
              <a:rPr lang="fr-FR" sz="2800" b="1" dirty="0" err="1"/>
              <a:t>Foreign</a:t>
            </a:r>
            <a:r>
              <a:rPr lang="fr-FR" sz="2800" b="1" dirty="0"/>
              <a:t> </a:t>
            </a:r>
            <a:r>
              <a:rPr lang="fr-FR" sz="2800" b="1" dirty="0" err="1"/>
              <a:t>Function</a:t>
            </a:r>
            <a:r>
              <a:rPr lang="fr-FR" sz="2800" b="1" dirty="0"/>
              <a:t> and Memory API</a:t>
            </a:r>
            <a:r>
              <a:rPr lang="fr-FR" sz="2800" dirty="0"/>
              <a:t>. Ces fonctionnalités visent à faciliter et à sécuriser l'accès aux ressources mémoire situées en dehors de la gestion par la JVM (mémoire dite "Off-</a:t>
            </a:r>
            <a:r>
              <a:rPr lang="fr-FR" sz="2800" dirty="0" err="1"/>
              <a:t>Heap</a:t>
            </a:r>
            <a:r>
              <a:rPr lang="fr-FR" sz="2800" dirty="0"/>
              <a:t>").</a:t>
            </a:r>
          </a:p>
        </p:txBody>
      </p:sp>
    </p:spTree>
    <p:extLst>
      <p:ext uri="{BB962C8B-B14F-4D97-AF65-F5344CB8AC3E}">
        <p14:creationId xmlns:p14="http://schemas.microsoft.com/office/powerpoint/2010/main" val="2732832250"/>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Avantages de la gestion Off-</a:t>
            </a:r>
            <a:r>
              <a:rPr lang="fr-FR" sz="4400" b="1" dirty="0" err="1"/>
              <a:t>Heap</a:t>
            </a:r>
            <a:r>
              <a:rPr lang="fr-FR" sz="4400" b="1" dirty="0"/>
              <a:t> moderne</a:t>
            </a:r>
          </a:p>
        </p:txBody>
      </p:sp>
      <p:sp>
        <p:nvSpPr>
          <p:cNvPr id="3" name="Espace réservé du contenu 2"/>
          <p:cNvSpPr>
            <a:spLocks noGrp="1"/>
          </p:cNvSpPr>
          <p:nvPr>
            <p:ph idx="1"/>
          </p:nvPr>
        </p:nvSpPr>
        <p:spPr/>
        <p:txBody>
          <a:bodyPr/>
          <a:lstStyle/>
          <a:p>
            <a:pPr algn="just">
              <a:buFont typeface="Wingdings" panose="05000000000000000000" pitchFamily="2" charset="2"/>
              <a:buChar char="Ø"/>
            </a:pPr>
            <a:r>
              <a:rPr lang="fr-FR" dirty="0" smtClean="0"/>
              <a:t> </a:t>
            </a:r>
            <a:r>
              <a:rPr lang="fr-FR" b="1" dirty="0"/>
              <a:t>Performance</a:t>
            </a:r>
            <a:r>
              <a:rPr lang="fr-FR" dirty="0"/>
              <a:t> :</a:t>
            </a:r>
          </a:p>
          <a:p>
            <a:pPr lvl="1" algn="just">
              <a:buFont typeface="Wingdings" panose="05000000000000000000" pitchFamily="2" charset="2"/>
              <a:buChar char="Ø"/>
            </a:pPr>
            <a:r>
              <a:rPr lang="fr-FR" dirty="0"/>
              <a:t> Accès direct à la mémoire native, réduisant la surcharge liée au </a:t>
            </a:r>
            <a:r>
              <a:rPr lang="fr-FR" dirty="0" err="1"/>
              <a:t>garbage</a:t>
            </a:r>
            <a:r>
              <a:rPr lang="fr-FR" dirty="0"/>
              <a:t> collector</a:t>
            </a:r>
            <a:r>
              <a:rPr lang="fr-FR" dirty="0" smtClean="0"/>
              <a:t>.</a:t>
            </a:r>
          </a:p>
          <a:p>
            <a:pPr lvl="1" algn="just">
              <a:buFont typeface="Wingdings" panose="05000000000000000000" pitchFamily="2" charset="2"/>
              <a:buChar char="Ø"/>
            </a:pPr>
            <a:r>
              <a:rPr lang="fr-FR" dirty="0"/>
              <a:t> Idéal pour des scénarios nécessitant de grandes quantités de mémoire ou un faible temps de latence</a:t>
            </a:r>
            <a:r>
              <a:rPr lang="fr-FR" dirty="0" smtClean="0"/>
              <a:t>.</a:t>
            </a:r>
          </a:p>
          <a:p>
            <a:pPr algn="just">
              <a:buFont typeface="Wingdings" panose="05000000000000000000" pitchFamily="2" charset="2"/>
              <a:buChar char="Ø"/>
            </a:pPr>
            <a:r>
              <a:rPr lang="fr-FR" dirty="0"/>
              <a:t> </a:t>
            </a:r>
            <a:r>
              <a:rPr lang="fr-FR" b="1" dirty="0"/>
              <a:t>Simplicité</a:t>
            </a:r>
            <a:r>
              <a:rPr lang="fr-FR" dirty="0"/>
              <a:t> :</a:t>
            </a:r>
          </a:p>
          <a:p>
            <a:pPr lvl="1" algn="just">
              <a:buFont typeface="Wingdings" panose="05000000000000000000" pitchFamily="2" charset="2"/>
              <a:buChar char="Ø"/>
            </a:pPr>
            <a:r>
              <a:rPr lang="fr-FR" dirty="0"/>
              <a:t> API intuitive pour manipuler la mémoire native, sans dépendre de JNI ou de </a:t>
            </a:r>
            <a:r>
              <a:rPr lang="fr-FR" dirty="0" err="1"/>
              <a:t>DirectByteBuffer</a:t>
            </a:r>
            <a:r>
              <a:rPr lang="fr-FR" dirty="0" smtClean="0"/>
              <a:t>.</a:t>
            </a:r>
          </a:p>
          <a:p>
            <a:pPr algn="just">
              <a:buFont typeface="Wingdings" panose="05000000000000000000" pitchFamily="2" charset="2"/>
              <a:buChar char="Ø"/>
            </a:pPr>
            <a:r>
              <a:rPr lang="fr-FR" dirty="0" smtClean="0"/>
              <a:t> </a:t>
            </a:r>
            <a:r>
              <a:rPr lang="fr-FR" b="1" dirty="0"/>
              <a:t>Interopérabilité</a:t>
            </a:r>
            <a:r>
              <a:rPr lang="fr-FR" dirty="0"/>
              <a:t> :</a:t>
            </a:r>
          </a:p>
          <a:p>
            <a:pPr lvl="1" algn="just">
              <a:buFont typeface="Wingdings" panose="05000000000000000000" pitchFamily="2" charset="2"/>
              <a:buChar char="Ø"/>
            </a:pPr>
            <a:r>
              <a:rPr lang="fr-FR" dirty="0"/>
              <a:t> Intégration facile avec des bibliothèques natives ou des fonctions externes</a:t>
            </a:r>
            <a:r>
              <a:rPr lang="fr-FR" dirty="0" smtClean="0"/>
              <a:t>.</a:t>
            </a:r>
          </a:p>
          <a:p>
            <a:pPr algn="just">
              <a:buFont typeface="Wingdings" panose="05000000000000000000" pitchFamily="2" charset="2"/>
              <a:buChar char="Ø"/>
            </a:pPr>
            <a:r>
              <a:rPr lang="fr-FR" dirty="0"/>
              <a:t> </a:t>
            </a:r>
            <a:r>
              <a:rPr lang="fr-FR" b="1" dirty="0"/>
              <a:t>Sécurité</a:t>
            </a:r>
            <a:r>
              <a:rPr lang="fr-FR" dirty="0"/>
              <a:t> :</a:t>
            </a:r>
          </a:p>
          <a:p>
            <a:pPr lvl="1" algn="just">
              <a:buFont typeface="Wingdings" panose="05000000000000000000" pitchFamily="2" charset="2"/>
              <a:buChar char="Ø"/>
            </a:pPr>
            <a:r>
              <a:rPr lang="fr-FR" dirty="0"/>
              <a:t> Gestion explicite des ressources réduit les risques de fuites mémoire</a:t>
            </a:r>
            <a:r>
              <a:rPr lang="fr-FR" dirty="0" smtClean="0"/>
              <a:t>.</a:t>
            </a:r>
          </a:p>
          <a:p>
            <a:pPr lvl="1" algn="just">
              <a:buFont typeface="Wingdings" panose="05000000000000000000" pitchFamily="2" charset="2"/>
              <a:buChar char="Ø"/>
            </a:pPr>
            <a:r>
              <a:rPr lang="fr-FR" dirty="0"/>
              <a:t> Contrôle stricte des accès pour éviter des erreurs comme les dépassements de tampon (buffer </a:t>
            </a:r>
            <a:r>
              <a:rPr lang="fr-FR" dirty="0" err="1"/>
              <a:t>overflows</a:t>
            </a:r>
            <a:r>
              <a:rPr lang="fr-FR" dirty="0"/>
              <a:t>).</a:t>
            </a:r>
          </a:p>
        </p:txBody>
      </p:sp>
    </p:spTree>
    <p:extLst>
      <p:ext uri="{BB962C8B-B14F-4D97-AF65-F5344CB8AC3E}">
        <p14:creationId xmlns:p14="http://schemas.microsoft.com/office/powerpoint/2010/main" val="88954729"/>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Autofit/>
          </a:bodyPr>
          <a:lstStyle/>
          <a:p>
            <a:pPr algn="ctr"/>
            <a:r>
              <a:rPr lang="fr-FR" sz="2400" dirty="0"/>
              <a:t>Exemple d’interaction avec une fonction native (C</a:t>
            </a:r>
            <a:r>
              <a:rPr lang="fr-FR" sz="2400" dirty="0" smtClean="0"/>
              <a:t>)</a:t>
            </a:r>
            <a:br>
              <a:rPr lang="fr-FR" sz="2400" dirty="0" smtClean="0"/>
            </a:br>
            <a:r>
              <a:rPr lang="fr-FR" sz="2400" b="1" dirty="0"/>
              <a:t>Fonctionnalité : Appeler une fonction native pour calculer la somme de deux entiers</a:t>
            </a:r>
            <a:r>
              <a:rPr lang="fr-FR" sz="2400" dirty="0"/>
              <a:t>.</a:t>
            </a:r>
          </a:p>
        </p:txBody>
      </p:sp>
      <p:sp>
        <p:nvSpPr>
          <p:cNvPr id="4" name="Espace réservé du texte 3"/>
          <p:cNvSpPr>
            <a:spLocks noGrp="1"/>
          </p:cNvSpPr>
          <p:nvPr>
            <p:ph type="body" idx="1"/>
          </p:nvPr>
        </p:nvSpPr>
        <p:spPr>
          <a:xfrm>
            <a:off x="1188720" y="1684616"/>
            <a:ext cx="4937760" cy="736282"/>
          </a:xfrm>
        </p:spPr>
        <p:txBody>
          <a:bodyPr/>
          <a:lstStyle/>
          <a:p>
            <a:r>
              <a:rPr lang="fr-FR" dirty="0"/>
              <a:t>Code C natif (</a:t>
            </a:r>
            <a:r>
              <a:rPr lang="fr-FR" dirty="0" err="1"/>
              <a:t>library.c</a:t>
            </a:r>
            <a:r>
              <a:rPr lang="fr-FR" dirty="0"/>
              <a:t>)</a:t>
            </a:r>
          </a:p>
        </p:txBody>
      </p:sp>
      <p:pic>
        <p:nvPicPr>
          <p:cNvPr id="9" name="Espace réservé du contenu 8"/>
          <p:cNvPicPr>
            <a:picLocks noGrp="1" noChangeAspect="1"/>
          </p:cNvPicPr>
          <p:nvPr>
            <p:ph sz="half" idx="2"/>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848300" y="3394605"/>
            <a:ext cx="3639034" cy="19055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Espace réservé du contenu 9"/>
          <p:cNvPicPr>
            <a:picLocks noGrp="1" noChangeAspect="1"/>
          </p:cNvPicPr>
          <p:nvPr>
            <p:ph sz="quarter" idx="4"/>
          </p:nvPr>
        </p:nvPicPr>
        <p:blipFill>
          <a:blip r:embed="rId4"/>
          <a:stretch>
            <a:fillRect/>
          </a:stretch>
        </p:blipFill>
        <p:spPr>
          <a:xfrm>
            <a:off x="5012267" y="2414842"/>
            <a:ext cx="6797815" cy="37876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ectangle 1"/>
          <p:cNvSpPr>
            <a:spLocks noGrp="1" noChangeArrowheads="1"/>
          </p:cNvSpPr>
          <p:nvPr>
            <p:ph type="body" sz="quarter" idx="3"/>
          </p:nvPr>
        </p:nvSpPr>
        <p:spPr bwMode="auto">
          <a:xfrm>
            <a:off x="6217920" y="1550300"/>
            <a:ext cx="4937760" cy="736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smtClean="0">
                <a:ln>
                  <a:noFill/>
                </a:ln>
                <a:solidFill>
                  <a:schemeClr val="tx1"/>
                </a:solidFill>
                <a:effectLst/>
                <a:latin typeface="Arial" panose="020B0604020202020204" pitchFamily="34" charset="0"/>
              </a:rPr>
              <a:t>Code Java pour appeler la fonction </a:t>
            </a:r>
            <a:r>
              <a:rPr kumimoji="0" lang="fr-FR" altLang="fr-FR" sz="1000" b="0" i="0" u="none" strike="noStrike" cap="none" normalizeH="0" baseline="0" dirty="0" err="1" smtClean="0">
                <a:ln>
                  <a:noFill/>
                </a:ln>
                <a:solidFill>
                  <a:schemeClr val="tx1"/>
                </a:solidFill>
                <a:effectLst/>
                <a:latin typeface="Arial Unicode MS"/>
              </a:rPr>
              <a:t>add</a:t>
            </a:r>
            <a:r>
              <a:rPr kumimoji="0" lang="fr-FR" altLang="fr-FR" sz="1200" b="0" i="0" u="none" strike="noStrike" cap="none" normalizeH="0" baseline="0" dirty="0" smtClean="0">
                <a:ln>
                  <a:noFill/>
                </a:ln>
                <a:solidFill>
                  <a:schemeClr val="tx1"/>
                </a:solidFill>
                <a:effectLst/>
              </a:rPr>
              <a:t> </a:t>
            </a: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71459545"/>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L’API </a:t>
            </a:r>
            <a:r>
              <a:rPr lang="fr-FR" b="1" dirty="0" err="1"/>
              <a:t>Vector</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Fournit des outils pour exécuter des calculs vectoriels (SIMD) sur les processeurs modernes</a:t>
            </a:r>
            <a:r>
              <a:rPr lang="fr-FR" sz="2800" dirty="0" smtClean="0"/>
              <a:t>.</a:t>
            </a:r>
          </a:p>
          <a:p>
            <a:pPr algn="just">
              <a:lnSpc>
                <a:spcPct val="150000"/>
              </a:lnSpc>
              <a:buFont typeface="Wingdings" panose="05000000000000000000" pitchFamily="2" charset="2"/>
              <a:buChar char="Ø"/>
            </a:pPr>
            <a:r>
              <a:rPr lang="fr-FR" sz="2800" dirty="0"/>
              <a:t> Avantages :</a:t>
            </a:r>
          </a:p>
          <a:p>
            <a:pPr lvl="1" algn="just">
              <a:lnSpc>
                <a:spcPct val="150000"/>
              </a:lnSpc>
              <a:buFont typeface="Wingdings" panose="05000000000000000000" pitchFamily="2" charset="2"/>
              <a:buChar char="Ø"/>
            </a:pPr>
            <a:r>
              <a:rPr lang="fr-FR" sz="2400" dirty="0"/>
              <a:t> Exploitation optimale des architectures matérielles pour des calculs parallèles</a:t>
            </a:r>
            <a:r>
              <a:rPr lang="fr-FR" sz="2400" dirty="0" smtClean="0"/>
              <a:t>.</a:t>
            </a:r>
          </a:p>
          <a:p>
            <a:pPr lvl="1" algn="just">
              <a:lnSpc>
                <a:spcPct val="150000"/>
              </a:lnSpc>
              <a:buFont typeface="Wingdings" panose="05000000000000000000" pitchFamily="2" charset="2"/>
              <a:buChar char="Ø"/>
            </a:pPr>
            <a:r>
              <a:rPr lang="fr-FR" sz="2400" dirty="0" smtClean="0"/>
              <a:t> Meilleures </a:t>
            </a:r>
            <a:r>
              <a:rPr lang="fr-FR" sz="2400" dirty="0"/>
              <a:t>performances pour les traitements numériques ou scientifiques.</a:t>
            </a:r>
          </a:p>
          <a:p>
            <a:pPr lvl="1"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1489888850"/>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Conclusion</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Les améliorations dans l'accès aux données Off-</a:t>
            </a:r>
            <a:r>
              <a:rPr lang="fr-FR" sz="2800" dirty="0" err="1"/>
              <a:t>Heap</a:t>
            </a:r>
            <a:r>
              <a:rPr lang="fr-FR" sz="2800" dirty="0"/>
              <a:t> à travers la </a:t>
            </a:r>
            <a:r>
              <a:rPr lang="fr-FR" sz="2800" b="1" dirty="0" err="1"/>
              <a:t>Foreign</a:t>
            </a:r>
            <a:r>
              <a:rPr lang="fr-FR" sz="2800" b="1" dirty="0"/>
              <a:t> </a:t>
            </a:r>
            <a:r>
              <a:rPr lang="fr-FR" sz="2800" b="1" dirty="0" err="1"/>
              <a:t>Function</a:t>
            </a:r>
            <a:r>
              <a:rPr lang="fr-FR" sz="2800" b="1" dirty="0"/>
              <a:t> and Memory API</a:t>
            </a:r>
            <a:r>
              <a:rPr lang="fr-FR" sz="2800" dirty="0"/>
              <a:t> offrent une manière moderne, performante et sécurisée de gérer des ressources externes. Elles répondent à des besoins critiques pour les applications nécessitant des performances élevées et une faible latence, tout en simplifiant la complexité liée à la gestion de la mémoire native.</a:t>
            </a:r>
          </a:p>
        </p:txBody>
      </p:sp>
    </p:spTree>
    <p:extLst>
      <p:ext uri="{BB962C8B-B14F-4D97-AF65-F5344CB8AC3E}">
        <p14:creationId xmlns:p14="http://schemas.microsoft.com/office/powerpoint/2010/main" val="2055867592"/>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Modifications dans </a:t>
            </a:r>
            <a:r>
              <a:rPr lang="fr-FR" b="1" dirty="0" err="1"/>
              <a:t>HashMap</a:t>
            </a:r>
            <a:r>
              <a:rPr lang="fr-FR" b="1" dirty="0"/>
              <a:t> et </a:t>
            </a:r>
            <a:r>
              <a:rPr lang="fr-FR" b="1" dirty="0" err="1"/>
              <a:t>HashSet</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Des optimisations internes ont été apportées pour améliorer :</a:t>
            </a:r>
          </a:p>
          <a:p>
            <a:pPr lvl="1" algn="just">
              <a:lnSpc>
                <a:spcPct val="150000"/>
              </a:lnSpc>
              <a:buFont typeface="Wingdings" panose="05000000000000000000" pitchFamily="2" charset="2"/>
              <a:buChar char="Ø"/>
            </a:pPr>
            <a:r>
              <a:rPr lang="fr-FR" sz="2400" dirty="0"/>
              <a:t> Les performances d’insertion et de recherche</a:t>
            </a:r>
            <a:r>
              <a:rPr lang="fr-FR" sz="2400" dirty="0" smtClean="0"/>
              <a:t>.</a:t>
            </a:r>
          </a:p>
          <a:p>
            <a:pPr lvl="1" algn="just">
              <a:lnSpc>
                <a:spcPct val="150000"/>
              </a:lnSpc>
              <a:buFont typeface="Wingdings" panose="05000000000000000000" pitchFamily="2" charset="2"/>
              <a:buChar char="Ø"/>
            </a:pPr>
            <a:r>
              <a:rPr lang="fr-FR" sz="2400" dirty="0" smtClean="0"/>
              <a:t> La </a:t>
            </a:r>
            <a:r>
              <a:rPr lang="fr-FR" sz="2400" dirty="0"/>
              <a:t>gestion mémoire, surtout dans des scénarios où la taille des collections varie fréquemment.</a:t>
            </a:r>
          </a:p>
          <a:p>
            <a:pPr lvl="1"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2927411280"/>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Ces innovations, combinées, offrent aux développeurs Java des outils modernes pour écrire du code plus performant, lisible et sécurisé.</a:t>
            </a:r>
          </a:p>
        </p:txBody>
      </p:sp>
    </p:spTree>
    <p:extLst>
      <p:ext uri="{BB962C8B-B14F-4D97-AF65-F5344CB8AC3E}">
        <p14:creationId xmlns:p14="http://schemas.microsoft.com/office/powerpoint/2010/main" val="3781506003"/>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Unnamed</a:t>
            </a:r>
            <a:r>
              <a:rPr lang="fr-FR" b="1" dirty="0"/>
              <a:t> Variables et Patterns</a:t>
            </a:r>
          </a:p>
        </p:txBody>
      </p:sp>
      <p:sp>
        <p:nvSpPr>
          <p:cNvPr id="3" name="Espace réservé du contenu 2"/>
          <p:cNvSpPr>
            <a:spLocks noGrp="1"/>
          </p:cNvSpPr>
          <p:nvPr>
            <p:ph idx="1"/>
          </p:nvPr>
        </p:nvSpPr>
        <p:spPr>
          <a:xfrm>
            <a:off x="1097280" y="1737360"/>
            <a:ext cx="10058400" cy="4023360"/>
          </a:xfrm>
        </p:spPr>
        <p:txBody>
          <a:bodyPr>
            <a:noAutofit/>
          </a:bodyPr>
          <a:lstStyle/>
          <a:p>
            <a:pPr algn="just">
              <a:lnSpc>
                <a:spcPct val="150000"/>
              </a:lnSpc>
              <a:buFont typeface="Wingdings" panose="05000000000000000000" pitchFamily="2" charset="2"/>
              <a:buChar char="Ø"/>
            </a:pPr>
            <a:r>
              <a:rPr lang="fr-FR" sz="2400" dirty="0"/>
              <a:t> </a:t>
            </a:r>
            <a:r>
              <a:rPr lang="fr-FR" sz="2400" dirty="0" err="1"/>
              <a:t>Unnamed</a:t>
            </a:r>
            <a:r>
              <a:rPr lang="fr-FR" sz="2400" dirty="0"/>
              <a:t> Variables : Les variables non nommées permettent d'économiser de la mémoire syntaxique dans les cas où une variable est utilisée uniquement à des fins intermédiaires, sans impact réel dans le contexte. Utilisées avec l'opérateur _, elles permettent d'ignorer certains éléments sans générer de code inutile</a:t>
            </a:r>
            <a:r>
              <a:rPr lang="fr-FR" sz="2400" dirty="0" smtClean="0"/>
              <a:t>.</a:t>
            </a:r>
          </a:p>
          <a:p>
            <a:pPr algn="just">
              <a:lnSpc>
                <a:spcPct val="150000"/>
              </a:lnSpc>
              <a:buFont typeface="Wingdings" panose="05000000000000000000" pitchFamily="2" charset="2"/>
              <a:buChar char="Ø"/>
            </a:pPr>
            <a:r>
              <a:rPr lang="fr-FR" sz="2400" dirty="0"/>
              <a:t> </a:t>
            </a:r>
            <a:r>
              <a:rPr lang="fr-FR" sz="2400" b="1" dirty="0"/>
              <a:t>Patterns</a:t>
            </a:r>
            <a:r>
              <a:rPr lang="fr-FR" sz="2400" dirty="0"/>
              <a:t> : Cette fonctionnalité améliore la correspondance des motifs (pattern </a:t>
            </a:r>
            <a:r>
              <a:rPr lang="fr-FR" sz="2400" dirty="0" err="1"/>
              <a:t>matching</a:t>
            </a:r>
            <a:r>
              <a:rPr lang="fr-FR" sz="2400" dirty="0"/>
              <a:t>) en Java, permettant une syntaxe plus expressive et concise pour décomposer des objets ou effectuer des validations.</a:t>
            </a:r>
          </a:p>
          <a:p>
            <a:pPr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2486724192"/>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chor="ctr"/>
          <a:lstStyle/>
          <a:p>
            <a:pPr algn="ctr"/>
            <a:r>
              <a:rPr lang="fr-FR" b="1" dirty="0" smtClean="0"/>
              <a:t>Exemple</a:t>
            </a:r>
            <a:endParaRPr lang="fr-FR" b="1" dirty="0"/>
          </a:p>
        </p:txBody>
      </p:sp>
      <p:sp>
        <p:nvSpPr>
          <p:cNvPr id="5" name="Espace réservé du texte 4"/>
          <p:cNvSpPr>
            <a:spLocks noGrp="1"/>
          </p:cNvSpPr>
          <p:nvPr>
            <p:ph type="body" idx="1"/>
          </p:nvPr>
        </p:nvSpPr>
        <p:spPr/>
        <p:txBody>
          <a:bodyPr/>
          <a:lstStyle/>
          <a:p>
            <a:r>
              <a:rPr lang="fr-FR" dirty="0" err="1"/>
              <a:t>Unnamed</a:t>
            </a:r>
            <a:r>
              <a:rPr lang="fr-FR" dirty="0"/>
              <a:t> Variables</a:t>
            </a:r>
          </a:p>
        </p:txBody>
      </p:sp>
      <p:pic>
        <p:nvPicPr>
          <p:cNvPr id="9" name="Espace réservé du contenu 8"/>
          <p:cNvPicPr>
            <a:picLocks noGrp="1" noChangeAspect="1"/>
          </p:cNvPicPr>
          <p:nvPr>
            <p:ph sz="half" idx="2"/>
          </p:nvPr>
        </p:nvPicPr>
        <p:blipFill>
          <a:blip r:embed="rId2"/>
          <a:stretch>
            <a:fillRect/>
          </a:stretch>
        </p:blipFill>
        <p:spPr>
          <a:xfrm>
            <a:off x="622830" y="2769464"/>
            <a:ext cx="4938712" cy="2733868"/>
          </a:xfrm>
          <a:prstGeom prst="rect">
            <a:avLst/>
          </a:prstGeom>
        </p:spPr>
      </p:pic>
      <p:sp>
        <p:nvSpPr>
          <p:cNvPr id="7" name="Espace réservé du texte 6"/>
          <p:cNvSpPr>
            <a:spLocks noGrp="1"/>
          </p:cNvSpPr>
          <p:nvPr>
            <p:ph type="body" sz="quarter" idx="3"/>
          </p:nvPr>
        </p:nvSpPr>
        <p:spPr/>
        <p:txBody>
          <a:bodyPr/>
          <a:lstStyle/>
          <a:p>
            <a:r>
              <a:rPr lang="fr-FR" b="1" dirty="0"/>
              <a:t>Patterns</a:t>
            </a:r>
            <a:r>
              <a:rPr lang="fr-FR" dirty="0"/>
              <a:t> </a:t>
            </a:r>
          </a:p>
        </p:txBody>
      </p:sp>
      <p:pic>
        <p:nvPicPr>
          <p:cNvPr id="10" name="Espace réservé du contenu 9"/>
          <p:cNvPicPr>
            <a:picLocks noGrp="1" noChangeAspect="1"/>
          </p:cNvPicPr>
          <p:nvPr>
            <p:ph sz="quarter" idx="4"/>
          </p:nvPr>
        </p:nvPicPr>
        <p:blipFill>
          <a:blip r:embed="rId3"/>
          <a:stretch>
            <a:fillRect/>
          </a:stretch>
        </p:blipFill>
        <p:spPr>
          <a:xfrm>
            <a:off x="6126480" y="2836199"/>
            <a:ext cx="5896187" cy="2667133"/>
          </a:xfrm>
          <a:prstGeom prst="rect">
            <a:avLst/>
          </a:prstGeom>
        </p:spPr>
      </p:pic>
    </p:spTree>
    <p:extLst>
      <p:ext uri="{BB962C8B-B14F-4D97-AF65-F5344CB8AC3E}">
        <p14:creationId xmlns:p14="http://schemas.microsoft.com/office/powerpoint/2010/main" val="2349894746"/>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097280" y="394977"/>
            <a:ext cx="10058400" cy="1450757"/>
          </a:xfrm>
        </p:spPr>
        <p:txBody>
          <a:bodyPr anchor="ctr"/>
          <a:lstStyle/>
          <a:p>
            <a:pPr algn="ctr"/>
            <a:r>
              <a:rPr lang="fr-FR" b="1" dirty="0"/>
              <a:t>Classes Déclarées Implicitement</a:t>
            </a:r>
          </a:p>
        </p:txBody>
      </p:sp>
      <p:sp>
        <p:nvSpPr>
          <p:cNvPr id="8" name="Espace réservé du contenu 7"/>
          <p:cNvSpPr>
            <a:spLocks noGrp="1"/>
          </p:cNvSpPr>
          <p:nvPr>
            <p:ph idx="1"/>
          </p:nvPr>
        </p:nvSpPr>
        <p:spPr/>
        <p:txBody>
          <a:bodyPr/>
          <a:lstStyle/>
          <a:p>
            <a:pPr algn="just">
              <a:buFont typeface="Wingdings" panose="05000000000000000000" pitchFamily="2" charset="2"/>
              <a:buChar char="Ø"/>
            </a:pPr>
            <a:r>
              <a:rPr lang="fr-FR" dirty="0"/>
              <a:t> Les classes implicites permettent de réduire le code </a:t>
            </a:r>
            <a:r>
              <a:rPr lang="fr-FR" dirty="0" err="1"/>
              <a:t>boilerplate</a:t>
            </a:r>
            <a:r>
              <a:rPr lang="fr-FR" dirty="0"/>
              <a:t> pour des classes simples qui n'ont qu'un objectif spécifique. Ces classes peuvent être utilisées dans des scénarios comme des données temporaires ou des cas simples où la déclaration explicite n'est pas nécessaire</a:t>
            </a:r>
            <a:r>
              <a:rPr lang="fr-FR" dirty="0" smtClean="0"/>
              <a:t>.</a:t>
            </a:r>
          </a:p>
          <a:p>
            <a:pPr algn="just">
              <a:buFont typeface="Wingdings" panose="05000000000000000000" pitchFamily="2" charset="2"/>
              <a:buChar char="Ø"/>
            </a:pPr>
            <a:r>
              <a:rPr lang="fr-FR" dirty="0"/>
              <a:t> </a:t>
            </a:r>
            <a:r>
              <a:rPr lang="fr-FR" dirty="0" smtClean="0"/>
              <a:t>Exemple :</a:t>
            </a:r>
          </a:p>
          <a:p>
            <a:pPr algn="just">
              <a:buFont typeface="Wingdings" panose="05000000000000000000" pitchFamily="2" charset="2"/>
              <a:buChar char="Ø"/>
            </a:pPr>
            <a:endParaRPr lang="fr-FR" dirty="0"/>
          </a:p>
          <a:p>
            <a:pPr algn="just">
              <a:buFont typeface="Wingdings" panose="05000000000000000000" pitchFamily="2" charset="2"/>
              <a:buChar char="Ø"/>
            </a:pPr>
            <a:endParaRPr lang="fr-FR" dirty="0" smtClean="0"/>
          </a:p>
          <a:p>
            <a:pPr algn="just">
              <a:buFont typeface="Wingdings" panose="05000000000000000000" pitchFamily="2" charset="2"/>
              <a:buChar char="Ø"/>
            </a:pPr>
            <a:r>
              <a:rPr lang="fr-FR" dirty="0"/>
              <a:t> Où Person est une classe implicite créée automatiquement comme suit </a:t>
            </a:r>
            <a:r>
              <a:rPr lang="fr-FR" dirty="0" smtClean="0"/>
              <a:t>:</a:t>
            </a:r>
            <a:endParaRPr lang="fr-FR" dirty="0"/>
          </a:p>
          <a:p>
            <a:pPr algn="just">
              <a:buFont typeface="Wingdings" panose="05000000000000000000" pitchFamily="2" charset="2"/>
              <a:buChar char="Ø"/>
            </a:pPr>
            <a:endParaRPr lang="fr-FR" dirty="0" smtClean="0"/>
          </a:p>
          <a:p>
            <a:pPr algn="just">
              <a:buFont typeface="Wingdings" panose="05000000000000000000" pitchFamily="2" charset="2"/>
              <a:buChar char="Ø"/>
            </a:pPr>
            <a:r>
              <a:rPr lang="fr-FR" dirty="0"/>
              <a:t> Cela évite de déclarer manuellement une classe.</a:t>
            </a:r>
          </a:p>
          <a:p>
            <a:pPr algn="just">
              <a:buFont typeface="Wingdings" panose="05000000000000000000" pitchFamily="2" charset="2"/>
              <a:buChar char="Ø"/>
            </a:pPr>
            <a:endParaRPr lang="fr-FR" dirty="0"/>
          </a:p>
        </p:txBody>
      </p:sp>
      <p:pic>
        <p:nvPicPr>
          <p:cNvPr id="9" name="Image 8"/>
          <p:cNvPicPr>
            <a:picLocks noChangeAspect="1"/>
          </p:cNvPicPr>
          <p:nvPr/>
        </p:nvPicPr>
        <p:blipFill>
          <a:blip r:embed="rId2"/>
          <a:stretch>
            <a:fillRect/>
          </a:stretch>
        </p:blipFill>
        <p:spPr>
          <a:xfrm>
            <a:off x="2652183" y="3333539"/>
            <a:ext cx="5600700" cy="523875"/>
          </a:xfrm>
          <a:prstGeom prst="rect">
            <a:avLst/>
          </a:prstGeom>
        </p:spPr>
      </p:pic>
      <p:pic>
        <p:nvPicPr>
          <p:cNvPr id="10" name="Image 9"/>
          <p:cNvPicPr>
            <a:picLocks noChangeAspect="1"/>
          </p:cNvPicPr>
          <p:nvPr/>
        </p:nvPicPr>
        <p:blipFill>
          <a:blip r:embed="rId3"/>
          <a:stretch>
            <a:fillRect/>
          </a:stretch>
        </p:blipFill>
        <p:spPr>
          <a:xfrm>
            <a:off x="3003339" y="4547025"/>
            <a:ext cx="3343275" cy="438150"/>
          </a:xfrm>
          <a:prstGeom prst="rect">
            <a:avLst/>
          </a:prstGeom>
        </p:spPr>
      </p:pic>
    </p:spTree>
    <p:extLst>
      <p:ext uri="{BB962C8B-B14F-4D97-AF65-F5344CB8AC3E}">
        <p14:creationId xmlns:p14="http://schemas.microsoft.com/office/powerpoint/2010/main" val="3373648045"/>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Modifications dans l'appel de l'instruction super</a:t>
            </a:r>
          </a:p>
        </p:txBody>
      </p:sp>
      <p:sp>
        <p:nvSpPr>
          <p:cNvPr id="3" name="Espace réservé du contenu 2"/>
          <p:cNvSpPr>
            <a:spLocks noGrp="1"/>
          </p:cNvSpPr>
          <p:nvPr>
            <p:ph idx="1"/>
          </p:nvPr>
        </p:nvSpPr>
        <p:spPr/>
        <p:txBody>
          <a:bodyPr/>
          <a:lstStyle/>
          <a:p>
            <a:pPr algn="just">
              <a:buFont typeface="Wingdings" panose="05000000000000000000" pitchFamily="2" charset="2"/>
              <a:buChar char="Ø"/>
            </a:pPr>
            <a:r>
              <a:rPr lang="fr-FR" dirty="0"/>
              <a:t> Les améliorations de super permettent d'interagir plus précisément avec des classes parentes dans des hiérarchies complexes. Cela inclut une meilleure gestion des arguments et des comportements spécifiques pour des super-constructeurs</a:t>
            </a:r>
            <a:r>
              <a:rPr lang="fr-FR" dirty="0" smtClean="0"/>
              <a:t>.</a:t>
            </a:r>
          </a:p>
          <a:p>
            <a:pPr algn="just">
              <a:buFont typeface="Wingdings" panose="05000000000000000000" pitchFamily="2" charset="2"/>
              <a:buChar char="Ø"/>
            </a:pPr>
            <a:r>
              <a:rPr lang="fr-FR" dirty="0"/>
              <a:t> Avec la JDK 22, il est possible d'appeler un constructeur parent plus facilement dans certaines situations</a:t>
            </a:r>
            <a:r>
              <a:rPr lang="fr-FR" dirty="0" smtClean="0"/>
              <a:t>. </a:t>
            </a:r>
          </a:p>
          <a:p>
            <a:pPr algn="just">
              <a:buFont typeface="Wingdings" panose="05000000000000000000" pitchFamily="2" charset="2"/>
              <a:buChar char="Ø"/>
            </a:pPr>
            <a:r>
              <a:rPr lang="fr-FR" dirty="0"/>
              <a:t> </a:t>
            </a:r>
            <a:r>
              <a:rPr lang="fr-FR" dirty="0" smtClean="0"/>
              <a:t>Exemple :</a:t>
            </a:r>
            <a:endParaRPr lang="fr-FR" dirty="0"/>
          </a:p>
        </p:txBody>
      </p:sp>
      <p:pic>
        <p:nvPicPr>
          <p:cNvPr id="5" name="Image 4"/>
          <p:cNvPicPr>
            <a:picLocks noChangeAspect="1"/>
          </p:cNvPicPr>
          <p:nvPr/>
        </p:nvPicPr>
        <p:blipFill>
          <a:blip r:embed="rId2"/>
          <a:stretch>
            <a:fillRect/>
          </a:stretch>
        </p:blipFill>
        <p:spPr>
          <a:xfrm>
            <a:off x="3299354" y="3415243"/>
            <a:ext cx="4848225" cy="2562225"/>
          </a:xfrm>
          <a:prstGeom prst="rect">
            <a:avLst/>
          </a:prstGeom>
        </p:spPr>
      </p:pic>
    </p:spTree>
    <p:extLst>
      <p:ext uri="{BB962C8B-B14F-4D97-AF65-F5344CB8AC3E}">
        <p14:creationId xmlns:p14="http://schemas.microsoft.com/office/powerpoint/2010/main" val="3375012151"/>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Stream </a:t>
            </a:r>
            <a:r>
              <a:rPr lang="fr-FR" b="1" dirty="0" err="1"/>
              <a:t>Gatherers</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400" dirty="0"/>
              <a:t> Une nouvelle API ajoutée aux </a:t>
            </a:r>
            <a:r>
              <a:rPr lang="fr-FR" sz="2400" dirty="0" err="1"/>
              <a:t>Streams</a:t>
            </a:r>
            <a:r>
              <a:rPr lang="fr-FR" sz="2400" dirty="0"/>
              <a:t> pour regrouper (</a:t>
            </a:r>
            <a:r>
              <a:rPr lang="fr-FR" sz="2400" dirty="0" err="1"/>
              <a:t>gather</a:t>
            </a:r>
            <a:r>
              <a:rPr lang="fr-FR" sz="2400" dirty="0"/>
              <a:t>) les données. Contrairement aux collecteurs standards, les "</a:t>
            </a:r>
            <a:r>
              <a:rPr lang="fr-FR" sz="2400" dirty="0" err="1"/>
              <a:t>gatherers</a:t>
            </a:r>
            <a:r>
              <a:rPr lang="fr-FR" sz="2400" dirty="0"/>
              <a:t>" se concentrent sur la collecte de données hétérogènes ou </a:t>
            </a:r>
            <a:r>
              <a:rPr lang="fr-FR" sz="2400" dirty="0" err="1"/>
              <a:t>multi-dimensionnelles</a:t>
            </a:r>
            <a:r>
              <a:rPr lang="fr-FR" sz="2400" dirty="0"/>
              <a:t> en une seule opération fluide</a:t>
            </a:r>
            <a:r>
              <a:rPr lang="fr-FR" sz="2400" dirty="0" smtClean="0"/>
              <a:t>.</a:t>
            </a:r>
          </a:p>
          <a:p>
            <a:pPr algn="just">
              <a:lnSpc>
                <a:spcPct val="150000"/>
              </a:lnSpc>
              <a:buFont typeface="Wingdings" panose="05000000000000000000" pitchFamily="2" charset="2"/>
              <a:buChar char="Ø"/>
            </a:pPr>
            <a:r>
              <a:rPr lang="fr-FR" sz="2400" dirty="0"/>
              <a:t> </a:t>
            </a:r>
            <a:r>
              <a:rPr lang="fr-FR" sz="2400" dirty="0" smtClean="0"/>
              <a:t>Exemple :</a:t>
            </a:r>
            <a:endParaRPr lang="fr-FR" sz="24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4436533" y="3786717"/>
            <a:ext cx="6719147" cy="24955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8998025"/>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L'API Class-File</a:t>
            </a:r>
          </a:p>
        </p:txBody>
      </p:sp>
      <p:sp>
        <p:nvSpPr>
          <p:cNvPr id="3" name="Espace réservé du contenu 2"/>
          <p:cNvSpPr>
            <a:spLocks noGrp="1"/>
          </p:cNvSpPr>
          <p:nvPr>
            <p:ph idx="1"/>
          </p:nvPr>
        </p:nvSpPr>
        <p:spPr/>
        <p:txBody>
          <a:bodyPr>
            <a:normAutofit/>
          </a:bodyPr>
          <a:lstStyle/>
          <a:p>
            <a:pPr algn="just">
              <a:lnSpc>
                <a:spcPct val="100000"/>
              </a:lnSpc>
              <a:buFont typeface="Wingdings" panose="05000000000000000000" pitchFamily="2" charset="2"/>
              <a:buChar char="Ø"/>
            </a:pPr>
            <a:r>
              <a:rPr lang="fr-FR" sz="2400" dirty="0"/>
              <a:t> Une API dédiée pour analyser et manipuler directement les fichiers </a:t>
            </a:r>
            <a:r>
              <a:rPr lang="fr-FR" sz="2400" dirty="0" err="1"/>
              <a:t>bytecode</a:t>
            </a:r>
            <a:r>
              <a:rPr lang="fr-FR" sz="2400" dirty="0"/>
              <a:t> Java (.class). Cela simplifie des tâches comme l'instrumentation, les analyses statiques ou la génération dynamique de classes</a:t>
            </a:r>
            <a:r>
              <a:rPr lang="fr-FR" sz="2400" dirty="0" smtClean="0"/>
              <a:t>.</a:t>
            </a:r>
          </a:p>
          <a:p>
            <a:pPr algn="just">
              <a:lnSpc>
                <a:spcPct val="100000"/>
              </a:lnSpc>
              <a:buFont typeface="Wingdings" panose="05000000000000000000" pitchFamily="2" charset="2"/>
              <a:buChar char="Ø"/>
            </a:pPr>
            <a:r>
              <a:rPr lang="fr-FR" sz="2400" dirty="0"/>
              <a:t> Permet d’analyser et de modifier des fichiers .class directement dans Java</a:t>
            </a:r>
            <a:r>
              <a:rPr lang="fr-FR" sz="2400" dirty="0" smtClean="0"/>
              <a:t>.</a:t>
            </a:r>
          </a:p>
          <a:p>
            <a:pPr algn="just">
              <a:lnSpc>
                <a:spcPct val="100000"/>
              </a:lnSpc>
              <a:buFont typeface="Wingdings" panose="05000000000000000000" pitchFamily="2" charset="2"/>
              <a:buChar char="Ø"/>
            </a:pPr>
            <a:r>
              <a:rPr lang="fr-FR" sz="2400" dirty="0"/>
              <a:t> </a:t>
            </a:r>
            <a:r>
              <a:rPr lang="fr-FR" sz="2400" dirty="0" smtClean="0"/>
              <a:t>Exemple :</a:t>
            </a:r>
            <a:endParaRPr lang="fr-FR" sz="2400" dirty="0"/>
          </a:p>
        </p:txBody>
      </p:sp>
      <p:pic>
        <p:nvPicPr>
          <p:cNvPr id="6" name="Image 5"/>
          <p:cNvPicPr>
            <a:picLocks noChangeAspect="1"/>
          </p:cNvPicPr>
          <p:nvPr/>
        </p:nvPicPr>
        <p:blipFill>
          <a:blip r:embed="rId2"/>
          <a:stretch>
            <a:fillRect/>
          </a:stretch>
        </p:blipFill>
        <p:spPr>
          <a:xfrm>
            <a:off x="3846513" y="3821219"/>
            <a:ext cx="6734175" cy="2047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49739523"/>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Lancement</a:t>
            </a:r>
            <a:r>
              <a:rPr lang="fr-FR" dirty="0"/>
              <a:t> de Programmes Multi-source Sans Compilation</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Avec cette fonctionnalité, les développeurs peuvent exécuter directement des programmes contenant plusieurs fichiers source sans passer par une étape explicite de compilation. Java exécute automatiquement les fichiers dans un ordre approprié, ce qui améliore la productivité dans les environnements de prototypage et de développement rapide.</a:t>
            </a:r>
          </a:p>
          <a:p>
            <a:pPr algn="just">
              <a:lnSpc>
                <a:spcPct val="150000"/>
              </a:lnSpc>
              <a:buFont typeface="Wingdings" panose="05000000000000000000" pitchFamily="2" charset="2"/>
              <a:buChar char="Ø"/>
            </a:pPr>
            <a:r>
              <a:rPr lang="fr-FR" sz="2400" dirty="0"/>
              <a:t>Il est maintenant possible d’exécuter directement un programme Java contenant plusieurs fichiers sans étape de compilation manuelle.</a:t>
            </a:r>
          </a:p>
        </p:txBody>
      </p:sp>
    </p:spTree>
    <p:extLst>
      <p:ext uri="{BB962C8B-B14F-4D97-AF65-F5344CB8AC3E}">
        <p14:creationId xmlns:p14="http://schemas.microsoft.com/office/powerpoint/2010/main" val="1596629718"/>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Exemple</a:t>
            </a:r>
            <a:endParaRPr lang="fr-FR" b="1" dirty="0"/>
          </a:p>
        </p:txBody>
      </p:sp>
      <p:pic>
        <p:nvPicPr>
          <p:cNvPr id="4" name="Image 3"/>
          <p:cNvPicPr>
            <a:picLocks noChangeAspect="1"/>
          </p:cNvPicPr>
          <p:nvPr/>
        </p:nvPicPr>
        <p:blipFill>
          <a:blip r:embed="rId2"/>
          <a:stretch>
            <a:fillRect/>
          </a:stretch>
        </p:blipFill>
        <p:spPr>
          <a:xfrm>
            <a:off x="1354667" y="2052637"/>
            <a:ext cx="3657600" cy="1228725"/>
          </a:xfrm>
          <a:prstGeom prst="rect">
            <a:avLst/>
          </a:prstGeom>
        </p:spPr>
      </p:pic>
      <p:pic>
        <p:nvPicPr>
          <p:cNvPr id="5" name="Image 4"/>
          <p:cNvPicPr>
            <a:picLocks noChangeAspect="1"/>
          </p:cNvPicPr>
          <p:nvPr/>
        </p:nvPicPr>
        <p:blipFill>
          <a:blip r:embed="rId3"/>
          <a:stretch>
            <a:fillRect/>
          </a:stretch>
        </p:blipFill>
        <p:spPr>
          <a:xfrm>
            <a:off x="6126480" y="2238798"/>
            <a:ext cx="3533775" cy="1171575"/>
          </a:xfrm>
          <a:prstGeom prst="rect">
            <a:avLst/>
          </a:prstGeom>
        </p:spPr>
      </p:pic>
      <p:pic>
        <p:nvPicPr>
          <p:cNvPr id="6" name="Image 5"/>
          <p:cNvPicPr>
            <a:picLocks noChangeAspect="1"/>
          </p:cNvPicPr>
          <p:nvPr/>
        </p:nvPicPr>
        <p:blipFill>
          <a:blip r:embed="rId4"/>
          <a:stretch>
            <a:fillRect/>
          </a:stretch>
        </p:blipFill>
        <p:spPr>
          <a:xfrm>
            <a:off x="3042482" y="3911811"/>
            <a:ext cx="3707039" cy="575522"/>
          </a:xfrm>
          <a:prstGeom prst="rect">
            <a:avLst/>
          </a:prstGeom>
        </p:spPr>
      </p:pic>
    </p:spTree>
    <p:extLst>
      <p:ext uri="{BB962C8B-B14F-4D97-AF65-F5344CB8AC3E}">
        <p14:creationId xmlns:p14="http://schemas.microsoft.com/office/powerpoint/2010/main" val="952133635"/>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4000" dirty="0"/>
              <a:t> Ces nouveautés rendent Java plus ergonomique et adapté aux besoins modernes des développeurs.</a:t>
            </a:r>
          </a:p>
        </p:txBody>
      </p:sp>
    </p:spTree>
    <p:extLst>
      <p:ext uri="{BB962C8B-B14F-4D97-AF65-F5344CB8AC3E}">
        <p14:creationId xmlns:p14="http://schemas.microsoft.com/office/powerpoint/2010/main" val="1595300581"/>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JDK 23</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J</a:t>
            </a:r>
            <a:r>
              <a:rPr lang="fr-FR" sz="2800" dirty="0" smtClean="0"/>
              <a:t>ava </a:t>
            </a:r>
            <a:r>
              <a:rPr lang="fr-FR" sz="2800" dirty="0"/>
              <a:t>23, sorti le 17 septembre 2024, introduit plusieurs améliorations notables par rapport aux versions précédentes. Voici un aperçu des principales nouveautés </a:t>
            </a:r>
            <a:r>
              <a:rPr lang="fr-FR" sz="2800" dirty="0" smtClean="0"/>
              <a:t>:</a:t>
            </a:r>
          </a:p>
          <a:p>
            <a:pPr lvl="1" algn="just">
              <a:lnSpc>
                <a:spcPct val="150000"/>
              </a:lnSpc>
              <a:buFont typeface="Wingdings" panose="05000000000000000000" pitchFamily="2" charset="2"/>
              <a:buChar char="Ø"/>
            </a:pPr>
            <a:r>
              <a:rPr lang="fr-FR" sz="2400" dirty="0"/>
              <a:t> Améliorations du langage et de la </a:t>
            </a:r>
            <a:r>
              <a:rPr lang="fr-FR" sz="2400" dirty="0" smtClean="0"/>
              <a:t>plateforme</a:t>
            </a:r>
          </a:p>
          <a:p>
            <a:pPr lvl="1" algn="just">
              <a:lnSpc>
                <a:spcPct val="150000"/>
              </a:lnSpc>
              <a:buFont typeface="Wingdings" panose="05000000000000000000" pitchFamily="2" charset="2"/>
              <a:buChar char="Ø"/>
            </a:pPr>
            <a:r>
              <a:rPr lang="fr-FR" sz="2400" dirty="0"/>
              <a:t> Améliorations des performances et de la </a:t>
            </a:r>
            <a:r>
              <a:rPr lang="fr-FR" sz="2400" dirty="0" smtClean="0"/>
              <a:t>gestion</a:t>
            </a:r>
          </a:p>
          <a:p>
            <a:pPr lvl="1" algn="just">
              <a:lnSpc>
                <a:spcPct val="150000"/>
              </a:lnSpc>
              <a:buFont typeface="Wingdings" panose="05000000000000000000" pitchFamily="2" charset="2"/>
              <a:buChar char="Ø"/>
            </a:pPr>
            <a:r>
              <a:rPr lang="fr-FR" sz="2400" dirty="0"/>
              <a:t> Fonctionnalités en avant-première</a:t>
            </a:r>
          </a:p>
        </p:txBody>
      </p:sp>
    </p:spTree>
    <p:extLst>
      <p:ext uri="{BB962C8B-B14F-4D97-AF65-F5344CB8AC3E}">
        <p14:creationId xmlns:p14="http://schemas.microsoft.com/office/powerpoint/2010/main" val="1469547264"/>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Améliorations du langage et de la plateforme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400" dirty="0" smtClean="0"/>
              <a:t> </a:t>
            </a:r>
            <a:r>
              <a:rPr lang="fr-FR" sz="2400" b="1" dirty="0"/>
              <a:t>Commentaires de documentation en </a:t>
            </a:r>
            <a:r>
              <a:rPr lang="fr-FR" sz="2400" b="1" dirty="0" err="1"/>
              <a:t>Markdown</a:t>
            </a:r>
            <a:r>
              <a:rPr lang="fr-FR" sz="2400" b="1" dirty="0"/>
              <a:t> (JEP 467)</a:t>
            </a:r>
            <a:r>
              <a:rPr lang="fr-FR" sz="2400" dirty="0"/>
              <a:t> : Il est désormais possible d'écrire des commentaires </a:t>
            </a:r>
            <a:r>
              <a:rPr lang="fr-FR" sz="2400" dirty="0" err="1"/>
              <a:t>JavaDoc</a:t>
            </a:r>
            <a:r>
              <a:rPr lang="fr-FR" sz="2400" dirty="0"/>
              <a:t> en utilisant la syntaxe </a:t>
            </a:r>
            <a:r>
              <a:rPr lang="fr-FR" sz="2400" dirty="0" err="1"/>
              <a:t>Markdown</a:t>
            </a:r>
            <a:r>
              <a:rPr lang="fr-FR" sz="2400" dirty="0"/>
              <a:t>, offrant une alternative plus moderne et lisible au formatage HTML traditionnel. </a:t>
            </a:r>
          </a:p>
          <a:p>
            <a:pPr algn="just">
              <a:lnSpc>
                <a:spcPct val="150000"/>
              </a:lnSpc>
              <a:buFont typeface="Wingdings" panose="05000000000000000000" pitchFamily="2" charset="2"/>
              <a:buChar char="Ø"/>
            </a:pPr>
            <a:r>
              <a:rPr lang="fr-FR" sz="2400" dirty="0" smtClean="0"/>
              <a:t> </a:t>
            </a:r>
            <a:r>
              <a:rPr lang="fr-FR" sz="2400" b="1" dirty="0"/>
              <a:t>Modèles et variables anonymes (JEP 456)</a:t>
            </a:r>
            <a:r>
              <a:rPr lang="fr-FR" sz="2400" dirty="0"/>
              <a:t> : Cette fonctionnalité permet d'ignorer des éléments dans un motif sans avoir à les nommer explicitement, simplifiant ainsi le code lors de l'utilisation du pattern </a:t>
            </a:r>
            <a:r>
              <a:rPr lang="fr-FR" sz="2400" dirty="0" err="1"/>
              <a:t>matching</a:t>
            </a:r>
            <a:r>
              <a:rPr lang="fr-FR" sz="2400" dirty="0"/>
              <a:t>.</a:t>
            </a:r>
          </a:p>
        </p:txBody>
      </p:sp>
    </p:spTree>
    <p:extLst>
      <p:ext uri="{BB962C8B-B14F-4D97-AF65-F5344CB8AC3E}">
        <p14:creationId xmlns:p14="http://schemas.microsoft.com/office/powerpoint/2010/main" val="3761657205"/>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Améliorations des performances et de la gestion</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smtClean="0"/>
              <a:t> </a:t>
            </a:r>
            <a:r>
              <a:rPr lang="fr-FR" sz="2400" b="1" dirty="0"/>
              <a:t>Intégration du compilateur </a:t>
            </a:r>
            <a:r>
              <a:rPr lang="fr-FR" sz="2400" b="1" dirty="0" err="1"/>
              <a:t>GraalVM</a:t>
            </a:r>
            <a:r>
              <a:rPr lang="fr-FR" sz="2400" b="1" dirty="0"/>
              <a:t> JIT</a:t>
            </a:r>
            <a:r>
              <a:rPr lang="fr-FR" sz="2400" dirty="0"/>
              <a:t> : Java 23 intègre le compilateur </a:t>
            </a:r>
            <a:r>
              <a:rPr lang="fr-FR" sz="2400" dirty="0" err="1"/>
              <a:t>GraalVM</a:t>
            </a:r>
            <a:r>
              <a:rPr lang="fr-FR" sz="2400" dirty="0"/>
              <a:t> Just-In-Time, offrant de meilleures performances et une optimisation de l'exécution des applications Java</a:t>
            </a:r>
            <a:r>
              <a:rPr lang="fr-FR" sz="2400" dirty="0" smtClean="0"/>
              <a:t>.</a:t>
            </a:r>
          </a:p>
          <a:p>
            <a:pPr algn="just">
              <a:lnSpc>
                <a:spcPct val="150000"/>
              </a:lnSpc>
              <a:buFont typeface="Wingdings" panose="05000000000000000000" pitchFamily="2" charset="2"/>
              <a:buChar char="Ø"/>
            </a:pPr>
            <a:r>
              <a:rPr lang="fr-FR" sz="2400" dirty="0"/>
              <a:t> </a:t>
            </a:r>
            <a:r>
              <a:rPr lang="fr-FR" sz="2400" b="1" dirty="0"/>
              <a:t>Java Management Service 9.0</a:t>
            </a:r>
            <a:r>
              <a:rPr lang="fr-FR" sz="2400" dirty="0"/>
              <a:t> : Cette version fournit une console et un tableau de bord unifiés pour aider les entreprises à gérer leurs exécutions et applications Java, que ce soit sur site ou dans le cloud. </a:t>
            </a:r>
          </a:p>
        </p:txBody>
      </p:sp>
    </p:spTree>
    <p:extLst>
      <p:ext uri="{BB962C8B-B14F-4D97-AF65-F5344CB8AC3E}">
        <p14:creationId xmlns:p14="http://schemas.microsoft.com/office/powerpoint/2010/main" val="756272258"/>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Fonctionnalités en avant-première</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smtClean="0"/>
              <a:t> </a:t>
            </a:r>
            <a:r>
              <a:rPr lang="fr-FR" sz="2400" b="1" dirty="0"/>
              <a:t>API </a:t>
            </a:r>
            <a:r>
              <a:rPr lang="fr-FR" sz="2400" b="1" dirty="0" err="1"/>
              <a:t>Vector</a:t>
            </a:r>
            <a:r>
              <a:rPr lang="fr-FR" sz="2400" b="1" dirty="0"/>
              <a:t> (troisième aperçu)</a:t>
            </a:r>
            <a:r>
              <a:rPr lang="fr-FR" sz="2400" dirty="0"/>
              <a:t> : Cette API permet d'effectuer des calculs vectoriels en tirant parti des instructions SIMD sur les processeurs x86_64 et AArch64, améliorant ainsi les performances lors du traitement de données en parallèle</a:t>
            </a:r>
            <a:r>
              <a:rPr lang="fr-FR" sz="2400" dirty="0" smtClean="0"/>
              <a:t>.</a:t>
            </a:r>
          </a:p>
          <a:p>
            <a:pPr algn="just">
              <a:lnSpc>
                <a:spcPct val="150000"/>
              </a:lnSpc>
              <a:buFont typeface="Wingdings" panose="05000000000000000000" pitchFamily="2" charset="2"/>
              <a:buChar char="Ø"/>
            </a:pPr>
            <a:r>
              <a:rPr lang="fr-FR" sz="2400" dirty="0"/>
              <a:t> </a:t>
            </a:r>
            <a:r>
              <a:rPr lang="fr-FR" sz="2400" b="1" dirty="0"/>
              <a:t>API de flux étendu (deuxième aperçu)</a:t>
            </a:r>
            <a:r>
              <a:rPr lang="fr-FR" sz="2400" dirty="0"/>
              <a:t> : Elle permet de définir des opérations intermédiaires personnalisées, offrant une plus grande flexibilité dans les transformations de données au sein des flux. </a:t>
            </a:r>
          </a:p>
          <a:p>
            <a:pPr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2899963281"/>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JDK 24</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Quant à Java 24, sa spécification a été finalisée en décembre 2024, avec 24 propositions d'amélioration (</a:t>
            </a:r>
            <a:r>
              <a:rPr lang="fr-FR" sz="2400" dirty="0" err="1"/>
              <a:t>JEPs</a:t>
            </a:r>
            <a:r>
              <a:rPr lang="fr-FR" sz="2400" dirty="0"/>
              <a:t>) intégrées. La sortie officielle est prévue pour mars 2025. Parmi les fonctionnalités attendues </a:t>
            </a:r>
            <a:r>
              <a:rPr lang="fr-FR" sz="2400" dirty="0" smtClean="0"/>
              <a:t>:</a:t>
            </a:r>
          </a:p>
          <a:p>
            <a:pPr lvl="1" algn="just">
              <a:lnSpc>
                <a:spcPct val="150000"/>
              </a:lnSpc>
              <a:buFont typeface="Wingdings" panose="05000000000000000000" pitchFamily="2" charset="2"/>
              <a:buChar char="Ø"/>
            </a:pPr>
            <a:r>
              <a:rPr lang="fr-FR" sz="2000" dirty="0"/>
              <a:t> </a:t>
            </a:r>
            <a:r>
              <a:rPr lang="fr-FR" sz="2000" b="1" dirty="0"/>
              <a:t>Réduction de la taille des en-têtes d'objets Java</a:t>
            </a:r>
            <a:r>
              <a:rPr lang="fr-FR" sz="2000" dirty="0"/>
              <a:t> : Cette initiative vise à optimiser l'utilisation de la mémoire en réduisant la taille des en-têtes d'objets, contribuant ainsi à une meilleure performance des applications</a:t>
            </a:r>
            <a:r>
              <a:rPr lang="fr-FR" sz="2000" dirty="0" smtClean="0"/>
              <a:t>.</a:t>
            </a:r>
          </a:p>
          <a:p>
            <a:pPr lvl="1" algn="just">
              <a:lnSpc>
                <a:spcPct val="150000"/>
              </a:lnSpc>
              <a:buFont typeface="Wingdings" panose="05000000000000000000" pitchFamily="2" charset="2"/>
              <a:buChar char="Ø"/>
            </a:pPr>
            <a:r>
              <a:rPr lang="fr-FR" sz="2000" dirty="0"/>
              <a:t> </a:t>
            </a:r>
            <a:r>
              <a:rPr lang="fr-FR" sz="2000" b="1" dirty="0"/>
              <a:t>Améliorations de Project </a:t>
            </a:r>
            <a:r>
              <a:rPr lang="fr-FR" sz="2000" b="1" dirty="0" err="1"/>
              <a:t>Valhalla</a:t>
            </a:r>
            <a:r>
              <a:rPr lang="fr-FR" sz="2000" dirty="0"/>
              <a:t> : Introduction de classes valeurs, permettant une manipulation plus efficace des données immuables et une optimisation de l'allocation mémoire.</a:t>
            </a:r>
          </a:p>
        </p:txBody>
      </p:sp>
    </p:spTree>
    <p:extLst>
      <p:ext uri="{BB962C8B-B14F-4D97-AF65-F5344CB8AC3E}">
        <p14:creationId xmlns:p14="http://schemas.microsoft.com/office/powerpoint/2010/main" val="3783734211"/>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JDK 25</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Date de </a:t>
            </a:r>
            <a:r>
              <a:rPr lang="fr-FR" sz="3600" dirty="0" smtClean="0"/>
              <a:t>sortie : </a:t>
            </a:r>
            <a:r>
              <a:rPr lang="fr-FR" sz="3600" b="1" dirty="0"/>
              <a:t>16 septembre 2025</a:t>
            </a:r>
            <a:r>
              <a:rPr lang="fr-FR" sz="3600" dirty="0"/>
              <a:t> </a:t>
            </a:r>
            <a:endParaRPr lang="fr-FR" sz="3600" dirty="0" smtClean="0"/>
          </a:p>
          <a:p>
            <a:pPr algn="just">
              <a:lnSpc>
                <a:spcPct val="200000"/>
              </a:lnSpc>
              <a:buFont typeface="Wingdings" panose="05000000000000000000" pitchFamily="2" charset="2"/>
              <a:buChar char="Ø"/>
            </a:pPr>
            <a:r>
              <a:rPr lang="fr-FR" sz="3600" dirty="0"/>
              <a:t> </a:t>
            </a:r>
            <a:r>
              <a:rPr lang="en-US" sz="3600" dirty="0"/>
              <a:t>Version </a:t>
            </a:r>
            <a:r>
              <a:rPr lang="en-US" sz="3600" b="1" dirty="0"/>
              <a:t>LTS (Long Term Support)</a:t>
            </a:r>
            <a:endParaRPr lang="fr-FR" sz="3600" dirty="0"/>
          </a:p>
        </p:txBody>
      </p:sp>
    </p:spTree>
    <p:extLst>
      <p:ext uri="{BB962C8B-B14F-4D97-AF65-F5344CB8AC3E}">
        <p14:creationId xmlns:p14="http://schemas.microsoft.com/office/powerpoint/2010/main" val="209397273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Points clés</a:t>
            </a:r>
          </a:p>
        </p:txBody>
      </p:sp>
      <p:sp>
        <p:nvSpPr>
          <p:cNvPr id="3" name="Espace réservé du contenu 2"/>
          <p:cNvSpPr>
            <a:spLocks noGrp="1"/>
          </p:cNvSpPr>
          <p:nvPr>
            <p:ph idx="1"/>
          </p:nvPr>
        </p:nvSpPr>
        <p:spPr>
          <a:xfrm>
            <a:off x="1017381" y="1668181"/>
            <a:ext cx="10058400" cy="4023360"/>
          </a:xfrm>
        </p:spPr>
        <p:txBody>
          <a:bodyPr>
            <a:noAutofit/>
          </a:bodyPr>
          <a:lstStyle/>
          <a:p>
            <a:pPr>
              <a:buFont typeface="Wingdings" panose="05000000000000000000" pitchFamily="2" charset="2"/>
              <a:buChar char="Ø"/>
            </a:pPr>
            <a:r>
              <a:rPr lang="fr-FR" dirty="0"/>
              <a:t> Java 25 est une version majeure (LTS), donc très importante pour les entreprises</a:t>
            </a:r>
            <a:r>
              <a:rPr lang="fr-FR" dirty="0" smtClean="0"/>
              <a:t>.</a:t>
            </a:r>
          </a:p>
          <a:p>
            <a:pPr marL="544068" lvl="1" indent="-342900">
              <a:buFont typeface="+mj-lt"/>
              <a:buAutoNum type="arabicPeriod"/>
            </a:pPr>
            <a:r>
              <a:rPr lang="fr-FR" dirty="0" smtClean="0"/>
              <a:t> </a:t>
            </a:r>
            <a:r>
              <a:rPr lang="fr-FR" dirty="0"/>
              <a:t>Stabilité + support long </a:t>
            </a:r>
            <a:r>
              <a:rPr lang="fr-FR" dirty="0" smtClean="0"/>
              <a:t>terme</a:t>
            </a:r>
          </a:p>
          <a:p>
            <a:pPr marL="726948" lvl="2" indent="-342900">
              <a:buFont typeface="+mj-lt"/>
              <a:buAutoNum type="arabicPeriod"/>
            </a:pPr>
            <a:r>
              <a:rPr lang="fr-FR" dirty="0"/>
              <a:t>Support garanti </a:t>
            </a:r>
            <a:r>
              <a:rPr lang="fr-FR" b="1" dirty="0"/>
              <a:t>≥ 8 </a:t>
            </a:r>
            <a:r>
              <a:rPr lang="fr-FR" b="1" dirty="0" smtClean="0"/>
              <a:t>ans</a:t>
            </a:r>
          </a:p>
          <a:p>
            <a:pPr marL="726948" lvl="2" indent="-342900">
              <a:buFont typeface="+mj-lt"/>
              <a:buAutoNum type="arabicPeriod"/>
            </a:pPr>
            <a:r>
              <a:rPr lang="fr-FR" dirty="0"/>
              <a:t>Version recommandée pour la </a:t>
            </a:r>
            <a:r>
              <a:rPr lang="fr-FR" dirty="0" smtClean="0"/>
              <a:t>production</a:t>
            </a:r>
          </a:p>
          <a:p>
            <a:pPr marL="544068" lvl="1" indent="-342900">
              <a:buFont typeface="+mj-lt"/>
              <a:buAutoNum type="arabicPeriod"/>
            </a:pPr>
            <a:r>
              <a:rPr lang="fr-FR" dirty="0"/>
              <a:t>18 JEP (améliorations</a:t>
            </a:r>
            <a:r>
              <a:rPr lang="fr-FR" dirty="0" smtClean="0"/>
              <a:t>)</a:t>
            </a:r>
          </a:p>
          <a:p>
            <a:pPr marL="726948" lvl="2" indent="-342900">
              <a:buFont typeface="+mj-lt"/>
              <a:buAutoNum type="arabicPeriod"/>
            </a:pPr>
            <a:r>
              <a:rPr lang="fr-FR" dirty="0"/>
              <a:t>Nouvelles </a:t>
            </a:r>
            <a:r>
              <a:rPr lang="fr-FR" dirty="0" err="1"/>
              <a:t>features</a:t>
            </a:r>
            <a:r>
              <a:rPr lang="fr-FR" dirty="0"/>
              <a:t> + </a:t>
            </a:r>
            <a:r>
              <a:rPr lang="fr-FR" dirty="0" err="1"/>
              <a:t>previews</a:t>
            </a:r>
            <a:r>
              <a:rPr lang="fr-FR" dirty="0"/>
              <a:t> + </a:t>
            </a:r>
            <a:r>
              <a:rPr lang="fr-FR" dirty="0" smtClean="0"/>
              <a:t>incubateurs</a:t>
            </a:r>
          </a:p>
          <a:p>
            <a:pPr marL="726948" lvl="2" indent="-342900">
              <a:buFont typeface="+mj-lt"/>
              <a:buAutoNum type="arabicPeriod"/>
            </a:pPr>
            <a:r>
              <a:rPr lang="fr-FR" dirty="0"/>
              <a:t>Amélioration globale du langage et des </a:t>
            </a:r>
            <a:r>
              <a:rPr lang="fr-FR" dirty="0" smtClean="0"/>
              <a:t>APIs</a:t>
            </a:r>
          </a:p>
          <a:p>
            <a:pPr marL="544068" lvl="1" indent="-342900">
              <a:buFont typeface="+mj-lt"/>
              <a:buAutoNum type="arabicPeriod"/>
            </a:pPr>
            <a:r>
              <a:rPr lang="fr-FR" dirty="0"/>
              <a:t>Concurrence </a:t>
            </a:r>
            <a:r>
              <a:rPr lang="fr-FR" dirty="0" smtClean="0"/>
              <a:t>améliorée</a:t>
            </a:r>
          </a:p>
          <a:p>
            <a:pPr marL="726948" lvl="2" indent="-342900">
              <a:buFont typeface="+mj-lt"/>
              <a:buAutoNum type="arabicPeriod"/>
            </a:pPr>
            <a:r>
              <a:rPr lang="fr-FR" b="1" dirty="0" err="1"/>
              <a:t>Scoped</a:t>
            </a:r>
            <a:r>
              <a:rPr lang="fr-FR" b="1" dirty="0"/>
              <a:t> Values finalisés</a:t>
            </a:r>
            <a:r>
              <a:rPr lang="fr-FR" dirty="0"/>
              <a:t> (alternative à </a:t>
            </a:r>
            <a:r>
              <a:rPr lang="fr-FR" dirty="0" err="1"/>
              <a:t>ThreadLocal</a:t>
            </a:r>
            <a:r>
              <a:rPr lang="fr-FR" dirty="0" smtClean="0"/>
              <a:t>)</a:t>
            </a:r>
          </a:p>
          <a:p>
            <a:pPr marL="726948" lvl="2" indent="-342900">
              <a:buFont typeface="+mj-lt"/>
              <a:buAutoNum type="arabicPeriod"/>
            </a:pPr>
            <a:r>
              <a:rPr lang="fr-FR" dirty="0"/>
              <a:t>Meilleure gestion des données immuables dans les </a:t>
            </a:r>
            <a:r>
              <a:rPr lang="fr-FR" dirty="0" smtClean="0"/>
              <a:t>threads</a:t>
            </a:r>
          </a:p>
          <a:p>
            <a:pPr marL="544068" lvl="1" indent="-342900">
              <a:buFont typeface="+mj-lt"/>
              <a:buAutoNum type="arabicPeriod"/>
            </a:pPr>
            <a:r>
              <a:rPr lang="fr-FR" dirty="0"/>
              <a:t>Dans la continuité de </a:t>
            </a:r>
            <a:r>
              <a:rPr lang="fr-FR" dirty="0" smtClean="0"/>
              <a:t>: </a:t>
            </a:r>
            <a:r>
              <a:rPr lang="en-US" dirty="0"/>
              <a:t>Virtual Threads (Java 21) → simplification </a:t>
            </a:r>
            <a:r>
              <a:rPr lang="en-US" dirty="0" err="1"/>
              <a:t>énorme</a:t>
            </a:r>
            <a:r>
              <a:rPr lang="en-US" dirty="0"/>
              <a:t> du </a:t>
            </a:r>
            <a:r>
              <a:rPr lang="en-US" dirty="0" smtClean="0"/>
              <a:t>multithreading</a:t>
            </a:r>
          </a:p>
          <a:p>
            <a:pPr marL="544068" lvl="1" indent="-342900">
              <a:buFont typeface="+mj-lt"/>
              <a:buAutoNum type="arabicPeriod"/>
            </a:pPr>
            <a:r>
              <a:rPr lang="fr-FR" dirty="0"/>
              <a:t>Performance &amp; </a:t>
            </a:r>
            <a:r>
              <a:rPr lang="fr-FR" dirty="0" err="1" smtClean="0"/>
              <a:t>scalabilité</a:t>
            </a:r>
            <a:endParaRPr lang="fr-FR" dirty="0" smtClean="0"/>
          </a:p>
          <a:p>
            <a:pPr marL="726948" lvl="2" indent="-342900">
              <a:buFont typeface="+mj-lt"/>
              <a:buAutoNum type="arabicPeriod"/>
            </a:pPr>
            <a:r>
              <a:rPr lang="fr-FR" dirty="0"/>
              <a:t>Meilleure gestion des threads → plus de requêtes </a:t>
            </a:r>
            <a:r>
              <a:rPr lang="fr-FR" dirty="0" smtClean="0"/>
              <a:t>simultanées</a:t>
            </a:r>
          </a:p>
          <a:p>
            <a:pPr marL="726948" lvl="2" indent="-342900">
              <a:buFont typeface="+mj-lt"/>
              <a:buAutoNum type="arabicPeriod"/>
            </a:pPr>
            <a:r>
              <a:rPr lang="fr-FR" dirty="0"/>
              <a:t>Moins de mémoire et latence </a:t>
            </a:r>
            <a:r>
              <a:rPr lang="fr-FR" dirty="0" smtClean="0"/>
              <a:t>réduite</a:t>
            </a:r>
          </a:p>
          <a:p>
            <a:pPr marL="544068" lvl="1" indent="-342900">
              <a:buFont typeface="+mj-lt"/>
              <a:buAutoNum type="arabicPeriod"/>
            </a:pPr>
            <a:r>
              <a:rPr lang="fr-FR" dirty="0"/>
              <a:t>Orientation IA &amp; </a:t>
            </a:r>
            <a:r>
              <a:rPr lang="fr-FR" dirty="0" smtClean="0"/>
              <a:t>modernisation</a:t>
            </a:r>
          </a:p>
          <a:p>
            <a:pPr marL="726948" lvl="2" indent="-342900">
              <a:buFont typeface="+mj-lt"/>
              <a:buAutoNum type="arabicPeriod"/>
            </a:pPr>
            <a:r>
              <a:rPr lang="fr-FR" dirty="0"/>
              <a:t>Optimisations pour </a:t>
            </a:r>
            <a:r>
              <a:rPr lang="fr-FR" dirty="0" err="1"/>
              <a:t>workloads</a:t>
            </a:r>
            <a:r>
              <a:rPr lang="fr-FR" dirty="0"/>
              <a:t> modernes (cloud, IA)</a:t>
            </a:r>
            <a:endParaRPr lang="fr-FR" dirty="0" smtClean="0"/>
          </a:p>
          <a:p>
            <a:pPr marL="251460" indent="-342900">
              <a:buFont typeface="+mj-lt"/>
              <a:buAutoNum type="arabicPeriod"/>
            </a:pPr>
            <a:endParaRPr lang="fr-FR" dirty="0"/>
          </a:p>
        </p:txBody>
      </p:sp>
    </p:spTree>
    <p:extLst>
      <p:ext uri="{BB962C8B-B14F-4D97-AF65-F5344CB8AC3E}">
        <p14:creationId xmlns:p14="http://schemas.microsoft.com/office/powerpoint/2010/main" val="74525885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JDK 26</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Date de </a:t>
            </a:r>
            <a:r>
              <a:rPr lang="fr-FR" sz="3600" dirty="0" smtClean="0"/>
              <a:t>sortie </a:t>
            </a:r>
            <a:r>
              <a:rPr lang="fr-FR" sz="3600" dirty="0"/>
              <a:t>: 17 mars 2026</a:t>
            </a:r>
            <a:endParaRPr lang="fr-FR" sz="3600" dirty="0" smtClean="0"/>
          </a:p>
          <a:p>
            <a:pPr algn="just">
              <a:lnSpc>
                <a:spcPct val="200000"/>
              </a:lnSpc>
              <a:buFont typeface="Wingdings" panose="05000000000000000000" pitchFamily="2" charset="2"/>
              <a:buChar char="Ø"/>
            </a:pPr>
            <a:r>
              <a:rPr lang="fr-FR" sz="3600" dirty="0"/>
              <a:t> Version </a:t>
            </a:r>
            <a:r>
              <a:rPr lang="fr-FR" sz="3600" b="1" dirty="0"/>
              <a:t>non LTS (release intermédiaire</a:t>
            </a:r>
            <a:r>
              <a:rPr lang="fr-FR" sz="3600" b="1" dirty="0" smtClean="0"/>
              <a:t>)</a:t>
            </a:r>
          </a:p>
          <a:p>
            <a:pPr algn="just">
              <a:lnSpc>
                <a:spcPct val="200000"/>
              </a:lnSpc>
              <a:buFont typeface="Wingdings" panose="05000000000000000000" pitchFamily="2" charset="2"/>
              <a:buChar char="Ø"/>
            </a:pPr>
            <a:endParaRPr lang="fr-FR" sz="3600" dirty="0"/>
          </a:p>
        </p:txBody>
      </p:sp>
    </p:spTree>
    <p:extLst>
      <p:ext uri="{BB962C8B-B14F-4D97-AF65-F5344CB8AC3E}">
        <p14:creationId xmlns:p14="http://schemas.microsoft.com/office/powerpoint/2010/main" val="95790813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83404"/>
            <a:ext cx="10058400" cy="802458"/>
          </a:xfrm>
        </p:spPr>
        <p:txBody>
          <a:bodyPr anchor="ctr"/>
          <a:lstStyle/>
          <a:p>
            <a:pPr algn="ctr"/>
            <a:r>
              <a:rPr lang="fr-FR" b="1" dirty="0"/>
              <a:t>Points clés</a:t>
            </a:r>
          </a:p>
        </p:txBody>
      </p:sp>
      <p:sp>
        <p:nvSpPr>
          <p:cNvPr id="3" name="Espace réservé du contenu 2"/>
          <p:cNvSpPr>
            <a:spLocks noGrp="1"/>
          </p:cNvSpPr>
          <p:nvPr>
            <p:ph idx="1"/>
          </p:nvPr>
        </p:nvSpPr>
        <p:spPr>
          <a:xfrm>
            <a:off x="1209040" y="484633"/>
            <a:ext cx="10058400" cy="4023360"/>
          </a:xfrm>
        </p:spPr>
        <p:txBody>
          <a:bodyPr>
            <a:noAutofit/>
          </a:bodyPr>
          <a:lstStyle/>
          <a:p>
            <a:pPr algn="just">
              <a:lnSpc>
                <a:spcPct val="200000"/>
              </a:lnSpc>
              <a:buFont typeface="Wingdings" panose="05000000000000000000" pitchFamily="2" charset="2"/>
              <a:buChar char="Ø"/>
            </a:pPr>
            <a:r>
              <a:rPr lang="fr-FR" dirty="0"/>
              <a:t> Java 26 est une version d’évolution (6 mois après Java 25).</a:t>
            </a:r>
          </a:p>
          <a:p>
            <a:pPr marL="544068" lvl="1" indent="-342900">
              <a:buFont typeface="+mj-lt"/>
              <a:buAutoNum type="arabicPeriod"/>
            </a:pPr>
            <a:r>
              <a:rPr lang="fr-FR" dirty="0"/>
              <a:t> Améliorations du langage (</a:t>
            </a:r>
            <a:r>
              <a:rPr lang="fr-FR" dirty="0" err="1"/>
              <a:t>preview</a:t>
            </a:r>
            <a:r>
              <a:rPr lang="fr-FR" dirty="0"/>
              <a:t>)</a:t>
            </a:r>
            <a:endParaRPr lang="fr-FR" dirty="0" smtClean="0"/>
          </a:p>
          <a:p>
            <a:pPr marL="726948" lvl="2" indent="-342900">
              <a:buFont typeface="+mj-lt"/>
              <a:buAutoNum type="arabicPeriod"/>
            </a:pPr>
            <a:r>
              <a:rPr lang="en-US" dirty="0"/>
              <a:t>Pattern matching </a:t>
            </a:r>
            <a:r>
              <a:rPr lang="en-US" dirty="0" err="1"/>
              <a:t>avancé</a:t>
            </a:r>
            <a:r>
              <a:rPr lang="en-US" dirty="0"/>
              <a:t> (switch, </a:t>
            </a:r>
            <a:r>
              <a:rPr lang="en-US" dirty="0" err="1" smtClean="0"/>
              <a:t>instanceof</a:t>
            </a:r>
            <a:r>
              <a:rPr lang="en-US" dirty="0" smtClean="0"/>
              <a:t>)</a:t>
            </a:r>
            <a:endParaRPr lang="fr-FR" dirty="0" smtClean="0"/>
          </a:p>
          <a:p>
            <a:pPr marL="544068" lvl="1" indent="-342900">
              <a:buFont typeface="+mj-lt"/>
              <a:buAutoNum type="arabicPeriod"/>
            </a:pPr>
            <a:r>
              <a:rPr lang="fr-FR" dirty="0"/>
              <a:t>Concurrence </a:t>
            </a:r>
            <a:r>
              <a:rPr lang="fr-FR" dirty="0" smtClean="0"/>
              <a:t>moderne</a:t>
            </a:r>
          </a:p>
          <a:p>
            <a:pPr marL="726948" lvl="2" indent="-342900">
              <a:buFont typeface="+mj-lt"/>
              <a:buAutoNum type="arabicPeriod"/>
            </a:pPr>
            <a:r>
              <a:rPr lang="fr-FR" b="1" dirty="0" err="1"/>
              <a:t>Structured</a:t>
            </a:r>
            <a:r>
              <a:rPr lang="fr-FR" b="1" dirty="0"/>
              <a:t> </a:t>
            </a:r>
            <a:r>
              <a:rPr lang="fr-FR" b="1" dirty="0" err="1"/>
              <a:t>Concurrency</a:t>
            </a:r>
            <a:r>
              <a:rPr lang="fr-FR" b="1" dirty="0"/>
              <a:t> (</a:t>
            </a:r>
            <a:r>
              <a:rPr lang="fr-FR" b="1" dirty="0" err="1"/>
              <a:t>preview</a:t>
            </a:r>
            <a:r>
              <a:rPr lang="fr-FR" b="1" dirty="0"/>
              <a:t> avancé</a:t>
            </a:r>
            <a:r>
              <a:rPr lang="fr-FR" b="1" dirty="0" smtClean="0"/>
              <a:t>)</a:t>
            </a:r>
            <a:endParaRPr lang="fr-FR" dirty="0" smtClean="0"/>
          </a:p>
          <a:p>
            <a:pPr marL="726948" lvl="2" indent="-342900">
              <a:buFont typeface="+mj-lt"/>
              <a:buAutoNum type="arabicPeriod"/>
            </a:pPr>
            <a:r>
              <a:rPr lang="fr-FR" dirty="0"/>
              <a:t>Permet de gérer des tâches concurrentes de manière plus </a:t>
            </a:r>
            <a:r>
              <a:rPr lang="fr-FR" dirty="0" smtClean="0"/>
              <a:t>lisible</a:t>
            </a:r>
          </a:p>
          <a:p>
            <a:pPr marL="544068" lvl="1" indent="-342900">
              <a:buFont typeface="+mj-lt"/>
              <a:buAutoNum type="arabicPeriod"/>
            </a:pPr>
            <a:r>
              <a:rPr lang="fr-FR" dirty="0"/>
              <a:t>Performances JVM / </a:t>
            </a:r>
            <a:r>
              <a:rPr lang="fr-FR" dirty="0" smtClean="0"/>
              <a:t>GC</a:t>
            </a:r>
          </a:p>
          <a:p>
            <a:pPr marL="726948" lvl="2" indent="-342900">
              <a:buFont typeface="+mj-lt"/>
              <a:buAutoNum type="arabicPeriod"/>
            </a:pPr>
            <a:r>
              <a:rPr lang="fr-FR" dirty="0"/>
              <a:t>Optimisation du </a:t>
            </a:r>
            <a:r>
              <a:rPr lang="fr-FR" b="1" dirty="0"/>
              <a:t>G1 </a:t>
            </a:r>
            <a:r>
              <a:rPr lang="fr-FR" b="1" dirty="0" err="1"/>
              <a:t>Garbage</a:t>
            </a:r>
            <a:r>
              <a:rPr lang="fr-FR" b="1" dirty="0"/>
              <a:t> </a:t>
            </a:r>
            <a:r>
              <a:rPr lang="fr-FR" b="1" dirty="0" smtClean="0"/>
              <a:t>Collector</a:t>
            </a:r>
          </a:p>
          <a:p>
            <a:pPr marL="726948" lvl="2" indent="-342900">
              <a:buFont typeface="+mj-lt"/>
              <a:buAutoNum type="arabicPeriod"/>
            </a:pPr>
            <a:r>
              <a:rPr lang="fr-FR" dirty="0"/>
              <a:t>Moins de synchronisation → meilleur </a:t>
            </a:r>
            <a:r>
              <a:rPr lang="fr-FR" dirty="0" err="1" smtClean="0"/>
              <a:t>throughput</a:t>
            </a:r>
            <a:endParaRPr lang="fr-FR" dirty="0" smtClean="0"/>
          </a:p>
          <a:p>
            <a:pPr marL="544068" lvl="1" indent="-342900">
              <a:buFont typeface="+mj-lt"/>
              <a:buAutoNum type="arabicPeriod"/>
            </a:pPr>
            <a:r>
              <a:rPr lang="fr-FR" dirty="0"/>
              <a:t>Réseau </a:t>
            </a:r>
            <a:r>
              <a:rPr lang="fr-FR" dirty="0" smtClean="0"/>
              <a:t>moderne</a:t>
            </a:r>
          </a:p>
          <a:p>
            <a:pPr marL="726948" lvl="2" indent="-342900">
              <a:buFont typeface="+mj-lt"/>
              <a:buAutoNum type="arabicPeriod"/>
            </a:pPr>
            <a:r>
              <a:rPr lang="fr-FR" dirty="0"/>
              <a:t>Support </a:t>
            </a:r>
            <a:r>
              <a:rPr lang="fr-FR" b="1" dirty="0"/>
              <a:t>HTTP/3</a:t>
            </a:r>
            <a:r>
              <a:rPr lang="fr-FR" dirty="0"/>
              <a:t> côté client</a:t>
            </a:r>
          </a:p>
          <a:p>
            <a:pPr marL="544068" lvl="1" indent="-342900">
              <a:buFont typeface="+mj-lt"/>
              <a:buAutoNum type="arabicPeriod"/>
            </a:pPr>
            <a:r>
              <a:rPr lang="fr-FR" dirty="0"/>
              <a:t>Sécurité </a:t>
            </a:r>
            <a:r>
              <a:rPr lang="fr-FR" dirty="0" smtClean="0"/>
              <a:t>renforcée</a:t>
            </a:r>
          </a:p>
          <a:p>
            <a:pPr marL="726948" lvl="2" indent="-342900">
              <a:buFont typeface="+mj-lt"/>
              <a:buAutoNum type="arabicPeriod"/>
            </a:pPr>
            <a:r>
              <a:rPr lang="fr-FR" dirty="0"/>
              <a:t>Avertissements sur la modification des final via réflexion : </a:t>
            </a:r>
            <a:r>
              <a:rPr lang="fr-FR" dirty="0" err="1"/>
              <a:t>vObjectif</a:t>
            </a:r>
            <a:r>
              <a:rPr lang="fr-FR" dirty="0"/>
              <a:t> : rendre Java plus sûr à </a:t>
            </a:r>
            <a:r>
              <a:rPr lang="fr-FR" dirty="0" smtClean="0"/>
              <a:t>l’avenir</a:t>
            </a:r>
          </a:p>
          <a:p>
            <a:pPr marL="544068" lvl="1" indent="-342900">
              <a:buFont typeface="+mj-lt"/>
              <a:buAutoNum type="arabicPeriod"/>
            </a:pPr>
            <a:r>
              <a:rPr lang="fr-FR" dirty="0"/>
              <a:t>Nettoyage de </a:t>
            </a:r>
            <a:r>
              <a:rPr lang="fr-FR" dirty="0" smtClean="0"/>
              <a:t>l’API</a:t>
            </a:r>
          </a:p>
          <a:p>
            <a:pPr marL="726948" lvl="2" indent="-342900">
              <a:buFont typeface="+mj-lt"/>
              <a:buAutoNum type="arabicPeriod"/>
            </a:pPr>
            <a:r>
              <a:rPr lang="fr-FR" dirty="0"/>
              <a:t>Suppression définitive des </a:t>
            </a:r>
            <a:r>
              <a:rPr lang="fr-FR" b="1" dirty="0"/>
              <a:t>Applets </a:t>
            </a:r>
            <a:r>
              <a:rPr lang="fr-FR" b="1" dirty="0" smtClean="0"/>
              <a:t>Java</a:t>
            </a:r>
          </a:p>
          <a:p>
            <a:pPr marL="544068" lvl="1" indent="-342900">
              <a:buFont typeface="+mj-lt"/>
              <a:buAutoNum type="arabicPeriod"/>
            </a:pPr>
            <a:r>
              <a:rPr lang="fr-FR" dirty="0"/>
              <a:t>API </a:t>
            </a:r>
            <a:r>
              <a:rPr lang="fr-FR" dirty="0" smtClean="0"/>
              <a:t>avancées</a:t>
            </a:r>
          </a:p>
          <a:p>
            <a:pPr marL="726948" lvl="2" indent="-342900">
              <a:buFont typeface="+mj-lt"/>
              <a:buAutoNum type="arabicPeriod"/>
            </a:pPr>
            <a:r>
              <a:rPr lang="fr-FR" dirty="0" err="1"/>
              <a:t>Vector</a:t>
            </a:r>
            <a:r>
              <a:rPr lang="fr-FR" dirty="0"/>
              <a:t> API (incubation continue</a:t>
            </a:r>
            <a:r>
              <a:rPr lang="fr-FR" dirty="0" smtClean="0"/>
              <a:t>)</a:t>
            </a:r>
          </a:p>
          <a:p>
            <a:pPr marL="726948" lvl="2" indent="-342900">
              <a:buFont typeface="+mj-lt"/>
              <a:buAutoNum type="arabicPeriod"/>
            </a:pPr>
            <a:r>
              <a:rPr lang="fr-FR" dirty="0"/>
              <a:t>Optimisations pour calcul intensif / IA</a:t>
            </a:r>
          </a:p>
        </p:txBody>
      </p:sp>
    </p:spTree>
    <p:extLst>
      <p:ext uri="{BB962C8B-B14F-4D97-AF65-F5344CB8AC3E}">
        <p14:creationId xmlns:p14="http://schemas.microsoft.com/office/powerpoint/2010/main" val="337801745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Comparaison</a:t>
            </a:r>
          </a:p>
        </p:txBody>
      </p:sp>
      <p:pic>
        <p:nvPicPr>
          <p:cNvPr id="4" name="Espace réservé du contenu 3"/>
          <p:cNvPicPr>
            <a:picLocks noGrp="1" noChangeAspect="1"/>
          </p:cNvPicPr>
          <p:nvPr>
            <p:ph idx="1"/>
          </p:nvPr>
        </p:nvPicPr>
        <p:blipFill>
          <a:blip r:embed="rId2"/>
          <a:stretch>
            <a:fillRect/>
          </a:stretch>
        </p:blipFill>
        <p:spPr>
          <a:xfrm>
            <a:off x="1097280" y="1960880"/>
            <a:ext cx="10058399" cy="38303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1778970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i-FI" b="1" dirty="0"/>
              <a:t>Java 21 vs Java 25 vs Java 26</a:t>
            </a:r>
            <a:endParaRPr lang="fr-FR" b="1" dirty="0"/>
          </a:p>
        </p:txBody>
      </p:sp>
      <p:pic>
        <p:nvPicPr>
          <p:cNvPr id="4" name="Espace réservé du contenu 3"/>
          <p:cNvPicPr>
            <a:picLocks noGrp="1" noChangeAspect="1"/>
          </p:cNvPicPr>
          <p:nvPr>
            <p:ph idx="1"/>
          </p:nvPr>
        </p:nvPicPr>
        <p:blipFill>
          <a:blip r:embed="rId2"/>
          <a:stretch>
            <a:fillRect/>
          </a:stretch>
        </p:blipFill>
        <p:spPr>
          <a:xfrm>
            <a:off x="1178560" y="2153920"/>
            <a:ext cx="9977119" cy="33223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7982585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Résumé</a:t>
            </a:r>
          </a:p>
        </p:txBody>
      </p:sp>
      <p:sp>
        <p:nvSpPr>
          <p:cNvPr id="3" name="Espace réservé du contenu 2"/>
          <p:cNvSpPr>
            <a:spLocks noGrp="1"/>
          </p:cNvSpPr>
          <p:nvPr>
            <p:ph idx="1"/>
          </p:nvPr>
        </p:nvSpPr>
        <p:spPr>
          <a:xfrm>
            <a:off x="1097280" y="1642534"/>
            <a:ext cx="10058400" cy="4023360"/>
          </a:xfrm>
        </p:spPr>
        <p:txBody>
          <a:bodyPr>
            <a:noAutofit/>
          </a:bodyPr>
          <a:lstStyle/>
          <a:p>
            <a:pPr>
              <a:buFont typeface="Wingdings" panose="05000000000000000000" pitchFamily="2" charset="2"/>
              <a:buChar char="Ø"/>
            </a:pPr>
            <a:r>
              <a:rPr lang="fr-FR" sz="2400" b="1" dirty="0"/>
              <a:t> Java </a:t>
            </a:r>
            <a:r>
              <a:rPr lang="fr-FR" sz="2400" b="1" dirty="0" smtClean="0"/>
              <a:t>21</a:t>
            </a:r>
          </a:p>
          <a:p>
            <a:pPr lvl="1">
              <a:buFont typeface="Wingdings" panose="05000000000000000000" pitchFamily="2" charset="2"/>
              <a:buChar char="Ø"/>
            </a:pPr>
            <a:r>
              <a:rPr lang="fr-FR" sz="2000" dirty="0"/>
              <a:t> Révolution (Virtual Threads</a:t>
            </a:r>
            <a:r>
              <a:rPr lang="fr-FR" sz="2000" dirty="0" smtClean="0"/>
              <a:t>)</a:t>
            </a:r>
          </a:p>
          <a:p>
            <a:pPr lvl="1">
              <a:buFont typeface="Wingdings" panose="05000000000000000000" pitchFamily="2" charset="2"/>
              <a:buChar char="Ø"/>
            </a:pPr>
            <a:r>
              <a:rPr lang="fr-FR" sz="2000" dirty="0" smtClean="0"/>
              <a:t>Base moderne</a:t>
            </a:r>
          </a:p>
          <a:p>
            <a:pPr lvl="1">
              <a:buFont typeface="Wingdings" panose="05000000000000000000" pitchFamily="2" charset="2"/>
              <a:buChar char="Ø"/>
            </a:pPr>
            <a:r>
              <a:rPr lang="fr-FR" sz="2000" dirty="0" smtClean="0"/>
              <a:t>LTS recommandé</a:t>
            </a:r>
          </a:p>
          <a:p>
            <a:pPr>
              <a:buFont typeface="Wingdings" panose="05000000000000000000" pitchFamily="2" charset="2"/>
              <a:buChar char="Ø"/>
            </a:pPr>
            <a:r>
              <a:rPr lang="fr-FR" sz="2400" dirty="0"/>
              <a:t> </a:t>
            </a:r>
            <a:r>
              <a:rPr lang="fr-FR" sz="2400" b="1" dirty="0"/>
              <a:t>Java </a:t>
            </a:r>
            <a:r>
              <a:rPr lang="fr-FR" sz="2400" b="1" dirty="0" smtClean="0"/>
              <a:t>25</a:t>
            </a:r>
          </a:p>
          <a:p>
            <a:pPr lvl="1">
              <a:buFont typeface="Wingdings" panose="05000000000000000000" pitchFamily="2" charset="2"/>
              <a:buChar char="Ø"/>
            </a:pPr>
            <a:r>
              <a:rPr lang="fr-FR" sz="2000" dirty="0"/>
              <a:t> Stabilisation + </a:t>
            </a:r>
            <a:r>
              <a:rPr lang="fr-FR" sz="2000" dirty="0" smtClean="0"/>
              <a:t>production</a:t>
            </a:r>
          </a:p>
          <a:p>
            <a:pPr lvl="1">
              <a:buFont typeface="Wingdings" panose="05000000000000000000" pitchFamily="2" charset="2"/>
              <a:buChar char="Ø"/>
            </a:pPr>
            <a:r>
              <a:rPr lang="fr-FR" sz="2000" dirty="0" smtClean="0"/>
              <a:t>LTS entreprise</a:t>
            </a:r>
          </a:p>
          <a:p>
            <a:pPr lvl="1">
              <a:buFont typeface="Wingdings" panose="05000000000000000000" pitchFamily="2" charset="2"/>
              <a:buChar char="Ø"/>
            </a:pPr>
            <a:r>
              <a:rPr lang="fr-FR" sz="2000" dirty="0" smtClean="0"/>
              <a:t>Concurrence mature</a:t>
            </a:r>
          </a:p>
          <a:p>
            <a:pPr>
              <a:buFont typeface="Wingdings" panose="05000000000000000000" pitchFamily="2" charset="2"/>
              <a:buChar char="Ø"/>
            </a:pPr>
            <a:r>
              <a:rPr lang="fr-FR" sz="2400" dirty="0"/>
              <a:t> </a:t>
            </a:r>
            <a:r>
              <a:rPr lang="fr-FR" sz="2400" b="1" dirty="0"/>
              <a:t>Java </a:t>
            </a:r>
            <a:r>
              <a:rPr lang="fr-FR" sz="2400" b="1" dirty="0" smtClean="0"/>
              <a:t>26</a:t>
            </a:r>
          </a:p>
          <a:p>
            <a:pPr lvl="1">
              <a:buFont typeface="Wingdings" panose="05000000000000000000" pitchFamily="2" charset="2"/>
              <a:buChar char="Ø"/>
            </a:pPr>
            <a:r>
              <a:rPr lang="fr-FR" sz="2000" dirty="0"/>
              <a:t> Innovation </a:t>
            </a:r>
            <a:r>
              <a:rPr lang="fr-FR" sz="2000" dirty="0" smtClean="0"/>
              <a:t>rapide</a:t>
            </a:r>
          </a:p>
          <a:p>
            <a:pPr lvl="1">
              <a:buFont typeface="Wingdings" panose="05000000000000000000" pitchFamily="2" charset="2"/>
              <a:buChar char="Ø"/>
            </a:pPr>
            <a:r>
              <a:rPr lang="fr-FR" sz="2000" dirty="0" smtClean="0"/>
              <a:t>Nouvelles </a:t>
            </a:r>
            <a:r>
              <a:rPr lang="fr-FR" sz="2000" dirty="0" err="1"/>
              <a:t>features</a:t>
            </a:r>
            <a:r>
              <a:rPr lang="fr-FR" sz="2000" dirty="0"/>
              <a:t> (HTTP/3, GC, sécurité</a:t>
            </a:r>
            <a:r>
              <a:rPr lang="fr-FR" sz="2000" dirty="0" smtClean="0"/>
              <a:t>)</a:t>
            </a:r>
          </a:p>
          <a:p>
            <a:pPr lvl="1">
              <a:buFont typeface="Wingdings" panose="05000000000000000000" pitchFamily="2" charset="2"/>
              <a:buChar char="Ø"/>
            </a:pPr>
            <a:r>
              <a:rPr lang="fr-FR" sz="2000" dirty="0" smtClean="0"/>
              <a:t>Pas </a:t>
            </a:r>
            <a:r>
              <a:rPr lang="fr-FR" sz="2000" dirty="0"/>
              <a:t>pour </a:t>
            </a:r>
            <a:r>
              <a:rPr lang="fr-FR" sz="2000" dirty="0" err="1"/>
              <a:t>prod</a:t>
            </a:r>
            <a:r>
              <a:rPr lang="fr-FR" sz="2000" dirty="0"/>
              <a:t> critique</a:t>
            </a:r>
          </a:p>
        </p:txBody>
      </p:sp>
    </p:spTree>
    <p:extLst>
      <p:ext uri="{BB962C8B-B14F-4D97-AF65-F5344CB8AC3E}">
        <p14:creationId xmlns:p14="http://schemas.microsoft.com/office/powerpoint/2010/main" val="369915574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Orientation</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4400" dirty="0"/>
              <a:t> IA, </a:t>
            </a:r>
            <a:r>
              <a:rPr lang="fr-FR" sz="4400" dirty="0" err="1"/>
              <a:t>Big</a:t>
            </a:r>
            <a:r>
              <a:rPr lang="fr-FR" sz="4400" dirty="0"/>
              <a:t> Data, haute performance</a:t>
            </a:r>
          </a:p>
        </p:txBody>
      </p:sp>
    </p:spTree>
    <p:extLst>
      <p:ext uri="{BB962C8B-B14F-4D97-AF65-F5344CB8AC3E}">
        <p14:creationId xmlns:p14="http://schemas.microsoft.com/office/powerpoint/2010/main" val="150482272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smtClean="0"/>
              <a:t>Conclusion</a:t>
            </a:r>
            <a:endParaRPr lang="fr-FR"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Ces évolutions témoignent de l'engagement continu de la plateforme Java à fournir des outils et des fonctionnalités adaptés aux besoins modernes des développeurs et des entreprises.</a:t>
            </a:r>
          </a:p>
        </p:txBody>
      </p:sp>
    </p:spTree>
    <p:extLst>
      <p:ext uri="{BB962C8B-B14F-4D97-AF65-F5344CB8AC3E}">
        <p14:creationId xmlns:p14="http://schemas.microsoft.com/office/powerpoint/2010/main" val="3864591507"/>
      </p:ext>
    </p:extLst>
  </p:cSld>
  <p:clrMapOvr>
    <a:masterClrMapping/>
  </p:clrMapOvr>
  <p:timing>
    <p:tnLst>
      <p:par>
        <p:cTn id="1" dur="indefinite" restart="never" nodeType="tmRoot"/>
      </p:par>
    </p:tnLst>
  </p:timing>
</p:sld>
</file>

<file path=ppt/theme/theme1.xml><?xml version="1.0" encoding="utf-8"?>
<a:theme xmlns:a="http://schemas.openxmlformats.org/drawingml/2006/main" name="Rétrospective">
  <a:themeElements>
    <a:clrScheme name="Rétrospective">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2981</TotalTime>
  <Words>6919</Words>
  <Application>Microsoft Office PowerPoint</Application>
  <PresentationFormat>Grand écran</PresentationFormat>
  <Paragraphs>762</Paragraphs>
  <Slides>174</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174</vt:i4>
      </vt:variant>
    </vt:vector>
  </HeadingPairs>
  <TitlesOfParts>
    <vt:vector size="180" baseType="lpstr">
      <vt:lpstr>Arial</vt:lpstr>
      <vt:lpstr>Arial Unicode MS</vt:lpstr>
      <vt:lpstr>Calibri</vt:lpstr>
      <vt:lpstr>Calibri Light</vt:lpstr>
      <vt:lpstr>Wingdings</vt:lpstr>
      <vt:lpstr>Rétrospective</vt:lpstr>
      <vt:lpstr>Java - Nouveautés des versions 8 à 22</vt:lpstr>
      <vt:lpstr>Concepts Jour 3</vt:lpstr>
      <vt:lpstr>Autres apports de la JDK 9</vt:lpstr>
      <vt:lpstr>Introduction</vt:lpstr>
      <vt:lpstr>Améliorations des Streams Java 8</vt:lpstr>
      <vt:lpstr>Nouveautés de la JDK 9 :</vt:lpstr>
      <vt:lpstr>takeWhile()</vt:lpstr>
      <vt:lpstr>dropWhile()</vt:lpstr>
      <vt:lpstr>ofNullable()</vt:lpstr>
      <vt:lpstr>Itérations sur des streams infinis</vt:lpstr>
      <vt:lpstr>L'API HTTP/2</vt:lpstr>
      <vt:lpstr>Exemple d’utilisation</vt:lpstr>
      <vt:lpstr>Nouvelles Collections</vt:lpstr>
      <vt:lpstr>Les Reactive Streams et Streams Asynchrones</vt:lpstr>
      <vt:lpstr>Exemple avec Java Flow API  (introduite dans JDK 9) </vt:lpstr>
      <vt:lpstr>Pourquoi l'utiliser ?</vt:lpstr>
      <vt:lpstr>Cas d’usage concrets</vt:lpstr>
      <vt:lpstr>Résumé</vt:lpstr>
      <vt:lpstr>Méthodes Privées dans les Interfaces</vt:lpstr>
      <vt:lpstr>Exemple </vt:lpstr>
      <vt:lpstr>Conclusion</vt:lpstr>
      <vt:lpstr>Atelier Utilisation des Reactive Streams Mono</vt:lpstr>
      <vt:lpstr>Mise en place d’un Publisher/Subscriber basique</vt:lpstr>
      <vt:lpstr>Présentation PowerPoint</vt:lpstr>
      <vt:lpstr>Inférence de type de variables locales (var)</vt:lpstr>
      <vt:lpstr>Points clés</vt:lpstr>
      <vt:lpstr>Déduction basée sur le type d'initialisation</vt:lpstr>
      <vt:lpstr>Portée : Utilisable uniquement pour les variables locales (dans les méthodes, blocs ou boucles)</vt:lpstr>
      <vt:lpstr>Interdictions</vt:lpstr>
      <vt:lpstr>Avantages &amp; Limitations</vt:lpstr>
      <vt:lpstr>Améliorations dans les API existantes</vt:lpstr>
      <vt:lpstr>Collecteurs dans Collectors (Stream API)</vt:lpstr>
      <vt:lpstr>Optional</vt:lpstr>
      <vt:lpstr>Copie d'une collection dans une nouvelle liste/ensemble</vt:lpstr>
      <vt:lpstr>Performances et garbage collector</vt:lpstr>
      <vt:lpstr>Conclusion</vt:lpstr>
      <vt:lpstr>Inférence de type pour les expressions lambda</vt:lpstr>
      <vt:lpstr>Points importants</vt:lpstr>
      <vt:lpstr>Simplification des "run" de programmes</vt:lpstr>
      <vt:lpstr>Améliorations dans les classes String, StringBuilder et StringBuffer</vt:lpstr>
      <vt:lpstr>Méthode isBlank()</vt:lpstr>
      <vt:lpstr>Méthode lines()</vt:lpstr>
      <vt:lpstr>Méthode repeat(int count)</vt:lpstr>
      <vt:lpstr>Améliorations dans StringBuilder et StringBuffer</vt:lpstr>
      <vt:lpstr>Améliorations des Predicate Java 8</vt:lpstr>
      <vt:lpstr>Classes imbriquées et visibilité des attributs</vt:lpstr>
      <vt:lpstr>Suppression des modules JEE, JavaFX et CORBA</vt:lpstr>
      <vt:lpstr>Conclusion</vt:lpstr>
      <vt:lpstr>Atelier</vt:lpstr>
      <vt:lpstr> Nouvelles méthodes de String</vt:lpstr>
      <vt:lpstr>Apports de la JDK 12 et 13</vt:lpstr>
      <vt:lpstr>Le switch comme instruction et expression (JDK 12 &amp; JDK 13)</vt:lpstr>
      <vt:lpstr>Avantages</vt:lpstr>
      <vt:lpstr>Les blocs de texte (Text Blocks) – JDK 13</vt:lpstr>
      <vt:lpstr>Exemple</vt:lpstr>
      <vt:lpstr>Avantages</vt:lpstr>
      <vt:lpstr>Le mot-clé yield – JDK 13</vt:lpstr>
      <vt:lpstr>Les outils apportés par la JDK 12 et JDK 13</vt:lpstr>
      <vt:lpstr>JDK 12 : JEP 346 – Prompt Garbage Collection (GC)</vt:lpstr>
      <vt:lpstr>JEP</vt:lpstr>
      <vt:lpstr>Structure et objectifs d'un JEP</vt:lpstr>
      <vt:lpstr>JDK 13 : Reimplementation of the Legacy Socket API (JEP 353)</vt:lpstr>
      <vt:lpstr>JDK Flight Recorder (JFR)</vt:lpstr>
      <vt:lpstr>Conclusion</vt:lpstr>
      <vt:lpstr>Atelier</vt:lpstr>
      <vt:lpstr>Collectors.teeing()</vt:lpstr>
      <vt:lpstr>Utilisation des expressions switch (JEP 325 &amp; 354)</vt:lpstr>
      <vt:lpstr>Tester les Text Blocks (JEP 355) </vt:lpstr>
      <vt:lpstr>Apports de la JDK 14</vt:lpstr>
      <vt:lpstr>Changements dans les switch</vt:lpstr>
      <vt:lpstr>Avantages</vt:lpstr>
      <vt:lpstr>Clarifications du NullPointerException (JEP 358)</vt:lpstr>
      <vt:lpstr>Avantages</vt:lpstr>
      <vt:lpstr>Live Monitoring avec JFR Event Streaming (JEP 349)</vt:lpstr>
      <vt:lpstr>Exemple</vt:lpstr>
      <vt:lpstr>Avantages</vt:lpstr>
      <vt:lpstr>Changements dans instanceof (Pattern Matching – JEP 305)</vt:lpstr>
      <vt:lpstr>Exemple </vt:lpstr>
      <vt:lpstr>Avantages </vt:lpstr>
      <vt:lpstr>Nouveaux outils associés à la JDK 14</vt:lpstr>
      <vt:lpstr>Packaging Tool (JEP 343)</vt:lpstr>
      <vt:lpstr>Foreign-Memory Access API (Preview – JEP 370)</vt:lpstr>
      <vt:lpstr>Improved G1 GC Pause Times (JEP 364)</vt:lpstr>
      <vt:lpstr>Helpful NullPointerException (JEP 358)</vt:lpstr>
      <vt:lpstr>Conclusion</vt:lpstr>
      <vt:lpstr>Introduction JDK 15</vt:lpstr>
      <vt:lpstr>Les classes scellées ("Sealed Classes") – JEP 360</vt:lpstr>
      <vt:lpstr>Exemple</vt:lpstr>
      <vt:lpstr>Fonctionnalités importantes</vt:lpstr>
      <vt:lpstr>Fonctionnalités dépréciées ou supprimées dans la JDK 15</vt:lpstr>
      <vt:lpstr>Fonctionnalités supprimées :</vt:lpstr>
      <vt:lpstr>Conclusion</vt:lpstr>
      <vt:lpstr>Apports de la JDK 16</vt:lpstr>
      <vt:lpstr>Qu'est-ce que jpackage ?</vt:lpstr>
      <vt:lpstr>Fonctionnalités principales de jpackage</vt:lpstr>
      <vt:lpstr>Support multi-plateforme</vt:lpstr>
      <vt:lpstr>Intégration facile</vt:lpstr>
      <vt:lpstr>Personnalisation des packages</vt:lpstr>
      <vt:lpstr>Utilisation de base de jpackage</vt:lpstr>
      <vt:lpstr>Commande de base</vt:lpstr>
      <vt:lpstr>Exemple avancé : Création d'un installateur natif avec une icône personnalisée :</vt:lpstr>
      <vt:lpstr>Avantages de jpackage</vt:lpstr>
      <vt:lpstr>Cas d'usage typiques de jpackage</vt:lpstr>
      <vt:lpstr>Limitations de jpackage</vt:lpstr>
      <vt:lpstr>Conclusion</vt:lpstr>
      <vt:lpstr>Apports de la JDK 17</vt:lpstr>
      <vt:lpstr>Principe des interfaces scellées</vt:lpstr>
      <vt:lpstr>Mots-clés associés</vt:lpstr>
      <vt:lpstr>Exemple d'utilisation</vt:lpstr>
      <vt:lpstr>Avantages des interfaces scellées</vt:lpstr>
      <vt:lpstr>Cas d'utilisation typiques</vt:lpstr>
      <vt:lpstr>Conclusion</vt:lpstr>
      <vt:lpstr>Les "Type Records"</vt:lpstr>
      <vt:lpstr>Qu'est-ce qu'un record ?</vt:lpstr>
      <vt:lpstr>Déclaration d'un record</vt:lpstr>
      <vt:lpstr>Caractéristiques principales des records</vt:lpstr>
      <vt:lpstr>Exemple d'utilisation</vt:lpstr>
      <vt:lpstr>Constructeurs personnalisés</vt:lpstr>
      <vt:lpstr>Méthodes personnalisées</vt:lpstr>
      <vt:lpstr>Cas d'utilisation typiques</vt:lpstr>
      <vt:lpstr>Avantages des records</vt:lpstr>
      <vt:lpstr>Limites des records</vt:lpstr>
      <vt:lpstr>Conclusion</vt:lpstr>
      <vt:lpstr>Ateliers</vt:lpstr>
      <vt:lpstr> Les classes scellées</vt:lpstr>
      <vt:lpstr>Records</vt:lpstr>
      <vt:lpstr>Le Simple Web Server dans la JDK 18</vt:lpstr>
      <vt:lpstr>Caractéristiques principales</vt:lpstr>
      <vt:lpstr>Utilisation de base avec l’outil jwebserver</vt:lpstr>
      <vt:lpstr>Exemple pratique avec jwebserver</vt:lpstr>
      <vt:lpstr>Utilisation avec l’API Java</vt:lpstr>
      <vt:lpstr>Exemple de serveur HTTP minimaliste</vt:lpstr>
      <vt:lpstr>Avantages du Simple Web Server</vt:lpstr>
      <vt:lpstr>Cas d'utilisation</vt:lpstr>
      <vt:lpstr>Limites</vt:lpstr>
      <vt:lpstr>Conclusion</vt:lpstr>
      <vt:lpstr>Apports de la JDK 19, 20 et 21</vt:lpstr>
      <vt:lpstr>Projet Amber</vt:lpstr>
      <vt:lpstr>Projet Panama</vt:lpstr>
      <vt:lpstr>Projet Loom</vt:lpstr>
      <vt:lpstr>Les threads virtuels pour l’optimisation des ressources</vt:lpstr>
      <vt:lpstr>Les Record Patterns et la déconstruction</vt:lpstr>
      <vt:lpstr>Les String Templates</vt:lpstr>
      <vt:lpstr>Foreign Function and Memory API</vt:lpstr>
      <vt:lpstr>Accès aux données Off-Heap </vt:lpstr>
      <vt:lpstr>Avantages de la gestion Off-Heap moderne</vt:lpstr>
      <vt:lpstr>Exemple d’interaction avec une fonction native (C) Fonctionnalité : Appeler une fonction native pour calculer la somme de deux entiers.</vt:lpstr>
      <vt:lpstr>L’API Vector</vt:lpstr>
      <vt:lpstr>Conclusion</vt:lpstr>
      <vt:lpstr>Modifications dans HashMap et HashSet</vt:lpstr>
      <vt:lpstr>Conclusion</vt:lpstr>
      <vt:lpstr>Unnamed Variables et Patterns</vt:lpstr>
      <vt:lpstr>Exemple</vt:lpstr>
      <vt:lpstr>Classes Déclarées Implicitement</vt:lpstr>
      <vt:lpstr>Modifications dans l'appel de l'instruction super</vt:lpstr>
      <vt:lpstr>Stream Gatherers</vt:lpstr>
      <vt:lpstr>L'API Class-File</vt:lpstr>
      <vt:lpstr>Lancement de Programmes Multi-source Sans Compilation</vt:lpstr>
      <vt:lpstr>Exemple</vt:lpstr>
      <vt:lpstr>Conclusion</vt:lpstr>
      <vt:lpstr>JDK 23</vt:lpstr>
      <vt:lpstr>Améliorations du langage et de la plateforme</vt:lpstr>
      <vt:lpstr>Améliorations des performances et de la gestion</vt:lpstr>
      <vt:lpstr>Fonctionnalités en avant-première</vt:lpstr>
      <vt:lpstr>JDK 24</vt:lpstr>
      <vt:lpstr>JDK 25</vt:lpstr>
      <vt:lpstr>Points clés</vt:lpstr>
      <vt:lpstr>JDK 26</vt:lpstr>
      <vt:lpstr>Points clés</vt:lpstr>
      <vt:lpstr>Comparaison</vt:lpstr>
      <vt:lpstr>Java 21 vs Java 25 vs Java 26</vt:lpstr>
      <vt:lpstr>Résumé</vt:lpstr>
      <vt:lpstr>Orientation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 Nouveautés des versions 8 à 22</dc:title>
  <dc:creator>admin</dc:creator>
  <cp:lastModifiedBy>admin</cp:lastModifiedBy>
  <cp:revision>518</cp:revision>
  <dcterms:created xsi:type="dcterms:W3CDTF">2024-12-19T08:53:06Z</dcterms:created>
  <dcterms:modified xsi:type="dcterms:W3CDTF">2026-03-27T09:02:36Z</dcterms:modified>
</cp:coreProperties>
</file>