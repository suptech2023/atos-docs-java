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79" r:id="rId5"/>
    <p:sldId id="275" r:id="rId6"/>
    <p:sldId id="259" r:id="rId7"/>
    <p:sldId id="260" r:id="rId8"/>
    <p:sldId id="261" r:id="rId9"/>
    <p:sldId id="262" r:id="rId10"/>
    <p:sldId id="387" r:id="rId11"/>
    <p:sldId id="388" r:id="rId12"/>
    <p:sldId id="389" r:id="rId13"/>
    <p:sldId id="390" r:id="rId14"/>
    <p:sldId id="391" r:id="rId15"/>
    <p:sldId id="392" r:id="rId16"/>
    <p:sldId id="393" r:id="rId17"/>
    <p:sldId id="394" r:id="rId18"/>
    <p:sldId id="395" r:id="rId19"/>
    <p:sldId id="396" r:id="rId20"/>
    <p:sldId id="397" r:id="rId21"/>
    <p:sldId id="398" r:id="rId22"/>
    <p:sldId id="399" r:id="rId23"/>
    <p:sldId id="400" r:id="rId24"/>
    <p:sldId id="401" r:id="rId25"/>
    <p:sldId id="402" r:id="rId26"/>
    <p:sldId id="403" r:id="rId27"/>
    <p:sldId id="404" r:id="rId28"/>
    <p:sldId id="405" r:id="rId29"/>
    <p:sldId id="269" r:id="rId30"/>
    <p:sldId id="268" r:id="rId31"/>
    <p:sldId id="285" r:id="rId32"/>
    <p:sldId id="270" r:id="rId33"/>
    <p:sldId id="271" r:id="rId34"/>
    <p:sldId id="406" r:id="rId35"/>
    <p:sldId id="407" r:id="rId36"/>
    <p:sldId id="408" r:id="rId37"/>
    <p:sldId id="409" r:id="rId38"/>
    <p:sldId id="410" r:id="rId39"/>
    <p:sldId id="411" r:id="rId40"/>
    <p:sldId id="412" r:id="rId41"/>
    <p:sldId id="413" r:id="rId42"/>
    <p:sldId id="415" r:id="rId43"/>
    <p:sldId id="280" r:id="rId44"/>
    <p:sldId id="414" r:id="rId45"/>
    <p:sldId id="276" r:id="rId46"/>
    <p:sldId id="286" r:id="rId47"/>
    <p:sldId id="287" r:id="rId48"/>
    <p:sldId id="344" r:id="rId49"/>
    <p:sldId id="288" r:id="rId50"/>
    <p:sldId id="289" r:id="rId51"/>
    <p:sldId id="290" r:id="rId52"/>
    <p:sldId id="443" r:id="rId53"/>
    <p:sldId id="444" r:id="rId54"/>
    <p:sldId id="445" r:id="rId55"/>
    <p:sldId id="446" r:id="rId56"/>
    <p:sldId id="447" r:id="rId57"/>
    <p:sldId id="448" r:id="rId58"/>
    <p:sldId id="449" r:id="rId59"/>
    <p:sldId id="450" r:id="rId60"/>
    <p:sldId id="451" r:id="rId61"/>
    <p:sldId id="452" r:id="rId62"/>
    <p:sldId id="292" r:id="rId63"/>
    <p:sldId id="454" r:id="rId64"/>
    <p:sldId id="293" r:id="rId65"/>
    <p:sldId id="294" r:id="rId66"/>
    <p:sldId id="295" r:id="rId67"/>
    <p:sldId id="296" r:id="rId68"/>
    <p:sldId id="297" r:id="rId69"/>
    <p:sldId id="455" r:id="rId70"/>
    <p:sldId id="298" r:id="rId71"/>
    <p:sldId id="299" r:id="rId72"/>
    <p:sldId id="300" r:id="rId73"/>
    <p:sldId id="301" r:id="rId74"/>
    <p:sldId id="302" r:id="rId75"/>
    <p:sldId id="303" r:id="rId76"/>
    <p:sldId id="304" r:id="rId77"/>
    <p:sldId id="305" r:id="rId78"/>
    <p:sldId id="306" r:id="rId79"/>
    <p:sldId id="307" r:id="rId80"/>
    <p:sldId id="308" r:id="rId81"/>
    <p:sldId id="309" r:id="rId82"/>
    <p:sldId id="281" r:id="rId83"/>
    <p:sldId id="345" r:id="rId84"/>
    <p:sldId id="377" r:id="rId85"/>
    <p:sldId id="378" r:id="rId86"/>
    <p:sldId id="379" r:id="rId87"/>
    <p:sldId id="380" r:id="rId88"/>
    <p:sldId id="346" r:id="rId89"/>
    <p:sldId id="348" r:id="rId90"/>
    <p:sldId id="349" r:id="rId91"/>
    <p:sldId id="371" r:id="rId92"/>
    <p:sldId id="372" r:id="rId93"/>
    <p:sldId id="373" r:id="rId94"/>
    <p:sldId id="416" r:id="rId95"/>
    <p:sldId id="418" r:id="rId96"/>
    <p:sldId id="419" r:id="rId97"/>
    <p:sldId id="420" r:id="rId98"/>
    <p:sldId id="421" r:id="rId99"/>
    <p:sldId id="422" r:id="rId100"/>
    <p:sldId id="423" r:id="rId101"/>
    <p:sldId id="277" r:id="rId102"/>
    <p:sldId id="310" r:id="rId103"/>
    <p:sldId id="311" r:id="rId104"/>
    <p:sldId id="312" r:id="rId105"/>
    <p:sldId id="313" r:id="rId106"/>
    <p:sldId id="314" r:id="rId107"/>
    <p:sldId id="315" r:id="rId108"/>
    <p:sldId id="316" r:id="rId109"/>
    <p:sldId id="317" r:id="rId110"/>
    <p:sldId id="318" r:id="rId111"/>
    <p:sldId id="319" r:id="rId112"/>
    <p:sldId id="320" r:id="rId113"/>
    <p:sldId id="321" r:id="rId114"/>
    <p:sldId id="322" r:id="rId115"/>
    <p:sldId id="323" r:id="rId116"/>
    <p:sldId id="324" r:id="rId117"/>
    <p:sldId id="325" r:id="rId118"/>
    <p:sldId id="282" r:id="rId119"/>
    <p:sldId id="350" r:id="rId120"/>
    <p:sldId id="356" r:id="rId121"/>
    <p:sldId id="357" r:id="rId122"/>
    <p:sldId id="358" r:id="rId123"/>
    <p:sldId id="359" r:id="rId124"/>
    <p:sldId id="360" r:id="rId125"/>
    <p:sldId id="361" r:id="rId126"/>
    <p:sldId id="424" r:id="rId127"/>
    <p:sldId id="425" r:id="rId128"/>
    <p:sldId id="426" r:id="rId129"/>
    <p:sldId id="427" r:id="rId130"/>
    <p:sldId id="428" r:id="rId131"/>
    <p:sldId id="429" r:id="rId132"/>
    <p:sldId id="430" r:id="rId133"/>
    <p:sldId id="431" r:id="rId134"/>
    <p:sldId id="432" r:id="rId135"/>
    <p:sldId id="433" r:id="rId136"/>
    <p:sldId id="434" r:id="rId137"/>
    <p:sldId id="435" r:id="rId138"/>
    <p:sldId id="278" r:id="rId139"/>
    <p:sldId id="326" r:id="rId140"/>
    <p:sldId id="327" r:id="rId141"/>
    <p:sldId id="328" r:id="rId142"/>
    <p:sldId id="329" r:id="rId143"/>
    <p:sldId id="330" r:id="rId144"/>
    <p:sldId id="331" r:id="rId145"/>
    <p:sldId id="332" r:id="rId146"/>
    <p:sldId id="333" r:id="rId147"/>
    <p:sldId id="334" r:id="rId148"/>
    <p:sldId id="335" r:id="rId149"/>
    <p:sldId id="336" r:id="rId150"/>
    <p:sldId id="337" r:id="rId151"/>
    <p:sldId id="338" r:id="rId152"/>
    <p:sldId id="339" r:id="rId153"/>
    <p:sldId id="283" r:id="rId154"/>
    <p:sldId id="351" r:id="rId155"/>
    <p:sldId id="352" r:id="rId156"/>
    <p:sldId id="355" r:id="rId157"/>
    <p:sldId id="362" r:id="rId158"/>
    <p:sldId id="363" r:id="rId159"/>
    <p:sldId id="364" r:id="rId160"/>
    <p:sldId id="365" r:id="rId161"/>
    <p:sldId id="366" r:id="rId162"/>
    <p:sldId id="367" r:id="rId163"/>
    <p:sldId id="354" r:id="rId164"/>
    <p:sldId id="368" r:id="rId165"/>
    <p:sldId id="369" r:id="rId166"/>
    <p:sldId id="370" r:id="rId167"/>
    <p:sldId id="381" r:id="rId168"/>
    <p:sldId id="436" r:id="rId169"/>
    <p:sldId id="437" r:id="rId170"/>
    <p:sldId id="438" r:id="rId171"/>
    <p:sldId id="439" r:id="rId172"/>
    <p:sldId id="440" r:id="rId173"/>
    <p:sldId id="441" r:id="rId174"/>
    <p:sldId id="442" r:id="rId17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0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viewProps" Target="viewProps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presProps" Target="presProp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77EF-A8B2-4D01-92A9-E9DED3ABB528}" type="datetimeFigureOut">
              <a:rPr lang="fr-FR" smtClean="0"/>
              <a:t>25/03/2026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CF309-9D65-4C4C-83E1-586A56AD6C78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2926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77EF-A8B2-4D01-92A9-E9DED3ABB528}" type="datetimeFigureOut">
              <a:rPr lang="fr-FR" smtClean="0"/>
              <a:t>25/03/2026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CF309-9D65-4C4C-83E1-586A56AD6C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9738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77EF-A8B2-4D01-92A9-E9DED3ABB528}" type="datetimeFigureOut">
              <a:rPr lang="fr-FR" smtClean="0"/>
              <a:t>25/03/2026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CF309-9D65-4C4C-83E1-586A56AD6C78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601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77EF-A8B2-4D01-92A9-E9DED3ABB528}" type="datetimeFigureOut">
              <a:rPr lang="fr-FR" smtClean="0"/>
              <a:t>25/03/2026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CF309-9D65-4C4C-83E1-586A56AD6C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2289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77EF-A8B2-4D01-92A9-E9DED3ABB528}" type="datetimeFigureOut">
              <a:rPr lang="fr-FR" smtClean="0"/>
              <a:t>25/03/2026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CF309-9D65-4C4C-83E1-586A56AD6C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3990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77EF-A8B2-4D01-92A9-E9DED3ABB528}" type="datetimeFigureOut">
              <a:rPr lang="fr-FR" smtClean="0"/>
              <a:t>25/03/2026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CF309-9D65-4C4C-83E1-586A56AD6C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185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77EF-A8B2-4D01-92A9-E9DED3ABB528}" type="datetimeFigureOut">
              <a:rPr lang="fr-FR" smtClean="0"/>
              <a:t>25/03/2026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CF309-9D65-4C4C-83E1-586A56AD6C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1880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1A177EF-A8B2-4D01-92A9-E9DED3ABB528}" type="datetimeFigureOut">
              <a:rPr lang="fr-FR" smtClean="0"/>
              <a:t>25/03/2026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09CF309-9D65-4C4C-83E1-586A56AD6C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741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77EF-A8B2-4D01-92A9-E9DED3ABB528}" type="datetimeFigureOut">
              <a:rPr lang="fr-FR" smtClean="0"/>
              <a:t>25/03/2026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CF309-9D65-4C4C-83E1-586A56AD6C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9550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77EF-A8B2-4D01-92A9-E9DED3ABB528}" type="datetimeFigureOut">
              <a:rPr lang="fr-FR" smtClean="0"/>
              <a:t>25/03/2026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CF309-9D65-4C4C-83E1-586A56AD6C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8477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77EF-A8B2-4D01-92A9-E9DED3ABB528}" type="datetimeFigureOut">
              <a:rPr lang="fr-FR" smtClean="0"/>
              <a:t>25/03/2026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CF309-9D65-4C4C-83E1-586A56AD6C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6376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1A177EF-A8B2-4D01-92A9-E9DED3ABB528}" type="datetimeFigureOut">
              <a:rPr lang="fr-FR" smtClean="0"/>
              <a:t>25/03/2026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09CF309-9D65-4C4C-83E1-586A56AD6C78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9411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microsoft.com/office/2007/relationships/hdphoto" Target="../media/hdphoto19.wdp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microsoft.com/office/2007/relationships/hdphoto" Target="../media/hdphoto20.wdp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microsoft.com/office/2007/relationships/hdphoto" Target="../media/hdphoto21.wdp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microsoft.com/office/2007/relationships/hdphoto" Target="../media/hdphoto22.wdp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b="1" dirty="0"/>
              <a:t>Java - Nouveautés des versions 8 à </a:t>
            </a:r>
            <a:r>
              <a:rPr lang="fr-FR" b="1" dirty="0" smtClean="0"/>
              <a:t>26</a:t>
            </a:r>
            <a:endParaRPr lang="fr-FR" b="1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M2I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30" y="116002"/>
            <a:ext cx="1285899" cy="128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70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Introduction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3200" dirty="0" smtClean="0"/>
              <a:t> </a:t>
            </a:r>
            <a:r>
              <a:rPr lang="fr-FR" sz="3200" dirty="0"/>
              <a:t>Java est un langage de programmation en constante évolution. Depuis </a:t>
            </a:r>
            <a:r>
              <a:rPr lang="fr-FR" sz="3200" b="1" dirty="0"/>
              <a:t>la version 8</a:t>
            </a:r>
            <a:r>
              <a:rPr lang="fr-FR" sz="3200" dirty="0"/>
              <a:t>, introduite en </a:t>
            </a:r>
            <a:r>
              <a:rPr lang="fr-FR" sz="3200" b="1" dirty="0"/>
              <a:t>2014</a:t>
            </a:r>
            <a:r>
              <a:rPr lang="fr-FR" sz="3200" dirty="0"/>
              <a:t>, jusqu'à la </a:t>
            </a:r>
            <a:r>
              <a:rPr lang="fr-FR" sz="3200" b="1" dirty="0"/>
              <a:t>version </a:t>
            </a:r>
            <a:r>
              <a:rPr lang="fr-FR" sz="3200" b="1" dirty="0" smtClean="0"/>
              <a:t>26</a:t>
            </a:r>
            <a:r>
              <a:rPr lang="fr-FR" sz="3200" dirty="0" smtClean="0"/>
              <a:t>, </a:t>
            </a:r>
            <a:r>
              <a:rPr lang="fr-FR" sz="3200" dirty="0"/>
              <a:t>chaque mise à jour a apporté des fonctionnalités nouvelles, des optimisations de performance, et des outils facilitant le développement.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4023949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Objectif de la formation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0233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L'objectif de cette formation est de vous permettre d'exploiter pleinement les capacités des versions modernes de Java et d'améliorer vos pratiques de développement. </a:t>
            </a:r>
            <a:endParaRPr lang="fr-FR" sz="2800" dirty="0" smtClean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Nous aborderons des thématiques comme les expressions </a:t>
            </a:r>
            <a:r>
              <a:rPr lang="fr-FR" sz="2800" b="1" dirty="0"/>
              <a:t>lambda</a:t>
            </a:r>
            <a:r>
              <a:rPr lang="fr-FR" sz="2800" dirty="0"/>
              <a:t>, les </a:t>
            </a:r>
            <a:r>
              <a:rPr lang="fr-FR" sz="2800" b="1" dirty="0"/>
              <a:t>API de flux</a:t>
            </a:r>
            <a:r>
              <a:rPr lang="fr-FR" sz="2800" dirty="0"/>
              <a:t>, les modules </a:t>
            </a:r>
            <a:r>
              <a:rPr lang="fr-FR" sz="2800" dirty="0" smtClean="0"/>
              <a:t>, </a:t>
            </a:r>
            <a:r>
              <a:rPr lang="fr-FR" sz="2800" dirty="0"/>
              <a:t>les nouvelles fonctionnalités de </a:t>
            </a:r>
            <a:r>
              <a:rPr lang="fr-FR" sz="2800" b="1" dirty="0"/>
              <a:t>Java Records</a:t>
            </a:r>
            <a:r>
              <a:rPr lang="fr-FR" sz="2800" dirty="0"/>
              <a:t>, le développement réactif, ainsi que les innovations des dernières versions.</a:t>
            </a:r>
          </a:p>
        </p:txBody>
      </p:sp>
    </p:spTree>
    <p:extLst>
      <p:ext uri="{BB962C8B-B14F-4D97-AF65-F5344CB8AC3E}">
        <p14:creationId xmlns:p14="http://schemas.microsoft.com/office/powerpoint/2010/main" val="4183276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7200" b="1" dirty="0" smtClean="0"/>
              <a:t>Concepts Jour 1</a:t>
            </a:r>
            <a:endParaRPr lang="fr-FR" sz="7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6533" y="1845734"/>
            <a:ext cx="10529147" cy="4023360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b="1" dirty="0" smtClean="0"/>
              <a:t> </a:t>
            </a:r>
            <a:r>
              <a:rPr lang="fr-FR" sz="2800" b="1" dirty="0"/>
              <a:t>Rappels des apports en </a:t>
            </a:r>
            <a:r>
              <a:rPr lang="fr-FR" sz="2800" b="1" dirty="0">
                <a:solidFill>
                  <a:srgbClr val="FF0000"/>
                </a:solidFill>
              </a:rPr>
              <a:t>programmation concurrente </a:t>
            </a:r>
            <a:r>
              <a:rPr lang="fr-FR" sz="2800" b="1" dirty="0"/>
              <a:t>(JDK 7 et plus</a:t>
            </a:r>
            <a:r>
              <a:rPr lang="fr-FR" sz="2800" b="1" dirty="0" smtClean="0"/>
              <a:t>)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b="1" dirty="0"/>
              <a:t> Les </a:t>
            </a:r>
            <a:r>
              <a:rPr lang="fr-FR" sz="2800" b="1" dirty="0">
                <a:solidFill>
                  <a:srgbClr val="FF0000"/>
                </a:solidFill>
              </a:rPr>
              <a:t>lambda</a:t>
            </a:r>
            <a:r>
              <a:rPr lang="fr-FR" sz="2800" b="1" dirty="0"/>
              <a:t> en Java </a:t>
            </a:r>
            <a:r>
              <a:rPr lang="fr-FR" sz="2800" b="1" dirty="0" smtClean="0"/>
              <a:t>(</a:t>
            </a:r>
            <a:r>
              <a:rPr lang="fr-FR" sz="2800" b="1" dirty="0"/>
              <a:t>JDK 8 et plus</a:t>
            </a:r>
            <a:r>
              <a:rPr lang="fr-FR" sz="2800" b="1" dirty="0" smtClean="0"/>
              <a:t>)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b="1" dirty="0" smtClean="0"/>
              <a:t> Les </a:t>
            </a:r>
            <a:r>
              <a:rPr lang="fr-FR" sz="2800" b="1" dirty="0" err="1">
                <a:solidFill>
                  <a:srgbClr val="FF0000"/>
                </a:solidFill>
              </a:rPr>
              <a:t>streams</a:t>
            </a:r>
            <a:r>
              <a:rPr lang="fr-FR" sz="2800" b="1" dirty="0"/>
              <a:t> </a:t>
            </a:r>
            <a:r>
              <a:rPr lang="fr-FR" sz="2800" b="1" dirty="0" smtClean="0"/>
              <a:t>(</a:t>
            </a:r>
            <a:r>
              <a:rPr lang="fr-FR" sz="2800" b="1" dirty="0"/>
              <a:t>JDK 8 et plus</a:t>
            </a:r>
            <a:r>
              <a:rPr lang="fr-FR" sz="2800" b="1" dirty="0" smtClean="0"/>
              <a:t>)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b="1" dirty="0"/>
              <a:t>L'API </a:t>
            </a:r>
            <a:r>
              <a:rPr lang="fr-FR" sz="2800" b="1" dirty="0" err="1" smtClean="0">
                <a:solidFill>
                  <a:srgbClr val="FF0000"/>
                </a:solidFill>
              </a:rPr>
              <a:t>DateTime</a:t>
            </a:r>
            <a:r>
              <a:rPr lang="fr-FR" sz="2800" b="1" dirty="0" smtClean="0"/>
              <a:t> (</a:t>
            </a:r>
            <a:r>
              <a:rPr lang="fr-FR" sz="2800" b="1" dirty="0"/>
              <a:t>JDK 8 et plus)</a:t>
            </a:r>
            <a:endParaRPr lang="fr-FR" sz="2800" b="1" dirty="0" smtClean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fr-FR" sz="2800" b="1" dirty="0" smtClean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fr-FR" sz="2800" b="1" dirty="0" smtClean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18567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b="1" dirty="0"/>
              <a:t>Rappels des apports en programmation concurrente (JDK 7 et plus)</a:t>
            </a:r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5781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ctr"/>
            <a:r>
              <a:rPr lang="fr-FR" b="1" dirty="0"/>
              <a:t>Rappels des apports en programmation concurrente (JDK 7 et plus)</a:t>
            </a:r>
            <a:br>
              <a:rPr lang="fr-FR" b="1" dirty="0"/>
            </a:b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3200" dirty="0" smtClean="0"/>
              <a:t> </a:t>
            </a:r>
            <a:r>
              <a:rPr lang="fr-FR" sz="3200" dirty="0"/>
              <a:t>La programmation concurrente est au cœur des applications modernes, notamment avec l'avènement des processeurs multi-cœurs. Depuis le </a:t>
            </a:r>
            <a:r>
              <a:rPr lang="fr-FR" sz="3200" b="1" dirty="0"/>
              <a:t>JDK 7</a:t>
            </a:r>
            <a:r>
              <a:rPr lang="fr-FR" sz="3200" dirty="0"/>
              <a:t>, Java a enrichi et optimisé son </a:t>
            </a:r>
            <a:r>
              <a:rPr lang="fr-FR" sz="3200" dirty="0" smtClean="0"/>
              <a:t>Framework </a:t>
            </a:r>
            <a:r>
              <a:rPr lang="fr-FR" sz="3200" dirty="0"/>
              <a:t>de concurrence pour faciliter la gestion des tâches parallèles et améliorer les performances. </a:t>
            </a:r>
          </a:p>
        </p:txBody>
      </p:sp>
    </p:spTree>
    <p:extLst>
      <p:ext uri="{BB962C8B-B14F-4D97-AF65-F5344CB8AC3E}">
        <p14:creationId xmlns:p14="http://schemas.microsoft.com/office/powerpoint/2010/main" val="314493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Fork/</a:t>
            </a:r>
            <a:r>
              <a:rPr lang="fr-FR" b="1" dirty="0" err="1"/>
              <a:t>Join</a:t>
            </a:r>
            <a:r>
              <a:rPr lang="fr-FR" b="1" dirty="0"/>
              <a:t> Framework (JDK 7)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b="1" dirty="0"/>
              <a:t>Objectif :</a:t>
            </a:r>
            <a:r>
              <a:rPr lang="fr-FR" sz="2400" dirty="0"/>
              <a:t> Faciliter la décomposition des tâches lourdes en sous-tâches plus petites et leur exécution parallèle.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/>
              <a:t>Classe principale :</a:t>
            </a:r>
            <a:r>
              <a:rPr lang="fr-FR" sz="2400" dirty="0"/>
              <a:t> </a:t>
            </a:r>
            <a:r>
              <a:rPr lang="fr-FR" sz="2400" b="1" dirty="0" err="1"/>
              <a:t>ForkJoinPool</a:t>
            </a:r>
            <a:r>
              <a:rPr lang="fr-FR" sz="2400" dirty="0"/>
              <a:t>, qui implémente un modèle </a:t>
            </a:r>
            <a:r>
              <a:rPr lang="fr-FR" sz="2400" b="1" i="1" dirty="0" err="1"/>
              <a:t>work-stealing</a:t>
            </a:r>
            <a:r>
              <a:rPr lang="fr-FR" sz="2400" dirty="0"/>
              <a:t> pour optimiser l’utilisation des threads.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/>
              <a:t>Utilisation :</a:t>
            </a:r>
            <a:r>
              <a:rPr lang="fr-FR" sz="2400" dirty="0"/>
              <a:t> Très efficace pour les tâches récursives, comme le traitement de collections ou d'algorithmes intensifs</a:t>
            </a:r>
            <a:r>
              <a:rPr lang="fr-FR" sz="2400" dirty="0" smtClean="0"/>
              <a:t>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 smtClean="0"/>
              <a:t>Exemple</a:t>
            </a:r>
            <a:r>
              <a:rPr lang="fr-FR" sz="2400" dirty="0" smtClean="0"/>
              <a:t> </a:t>
            </a:r>
            <a:r>
              <a:rPr lang="fr-FR" sz="2400" dirty="0"/>
              <a:t>: Calcul parallèle d’une somme ou traitement divisé en lots.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989743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04067"/>
          </a:xfrm>
        </p:spPr>
        <p:txBody>
          <a:bodyPr anchor="ctr">
            <a:noAutofit/>
          </a:bodyPr>
          <a:lstStyle/>
          <a:p>
            <a:pPr algn="ctr"/>
            <a:r>
              <a:rPr lang="fr-FR" sz="2800" b="1" dirty="0" smtClean="0"/>
              <a:t>Fork/</a:t>
            </a:r>
            <a:r>
              <a:rPr lang="fr-FR" sz="2800" b="1" dirty="0" err="1" smtClean="0"/>
              <a:t>Join</a:t>
            </a:r>
            <a:r>
              <a:rPr lang="fr-FR" sz="2800" b="1" dirty="0" smtClean="0"/>
              <a:t> Framework (JDK 7)</a:t>
            </a:r>
            <a:br>
              <a:rPr lang="fr-FR" sz="2800" b="1" dirty="0" smtClean="0"/>
            </a:br>
            <a:r>
              <a:rPr lang="fr-FR" sz="2800" b="1" dirty="0" smtClean="0"/>
              <a:t>Calcul de la somme d'un tableau</a:t>
            </a:r>
            <a:endParaRPr lang="fr-FR" sz="2800" b="1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24891" y="2073119"/>
            <a:ext cx="4621088" cy="27650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26497" y="2073119"/>
            <a:ext cx="4778475" cy="27650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37278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400" b="1" dirty="0"/>
              <a:t>Améliorations des collections </a:t>
            </a:r>
            <a:r>
              <a:rPr lang="fr-FR" sz="4400" b="1" dirty="0" smtClean="0"/>
              <a:t>concurrentes</a:t>
            </a:r>
            <a:br>
              <a:rPr lang="fr-FR" sz="4400" b="1" dirty="0" smtClean="0"/>
            </a:br>
            <a:endParaRPr lang="fr-FR" sz="4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Introduction de nouvelles classes comme :</a:t>
            </a:r>
            <a:endParaRPr lang="fr-FR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 err="1"/>
              <a:t>ConcurrentLinkedDeque</a:t>
            </a:r>
            <a:r>
              <a:rPr lang="fr-FR" sz="2400" dirty="0"/>
              <a:t> : Une double-</a:t>
            </a:r>
            <a:r>
              <a:rPr lang="fr-FR" sz="2400" dirty="0" err="1"/>
              <a:t>ended</a:t>
            </a:r>
            <a:r>
              <a:rPr lang="fr-FR" sz="2400" dirty="0"/>
              <a:t> queue non bloquante.</a:t>
            </a:r>
            <a:endParaRPr lang="fr-FR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 err="1"/>
              <a:t>LinkedTransferQueue</a:t>
            </a:r>
            <a:r>
              <a:rPr lang="fr-FR" sz="2400" dirty="0"/>
              <a:t> : Une file d’attente performante pour les systèmes de producteur-consommateur.</a:t>
            </a:r>
            <a:endParaRPr lang="fr-FR" dirty="0"/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Renforcement des performances et de la </a:t>
            </a:r>
            <a:r>
              <a:rPr lang="fr-FR" sz="2800" dirty="0" err="1"/>
              <a:t>scalabilité</a:t>
            </a:r>
            <a:r>
              <a:rPr lang="fr-FR" sz="2800" dirty="0"/>
              <a:t> dans des environnements concurrents.</a:t>
            </a:r>
            <a:endParaRPr lang="fr-FR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787246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err="1"/>
              <a:t>ConcurrentLinkedDeque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494989"/>
            <a:ext cx="10058400" cy="40233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rgbClr val="FF0000"/>
                </a:solidFill>
              </a:rPr>
              <a:t>Qu’est-ce que c’est </a:t>
            </a:r>
            <a:r>
              <a:rPr lang="fr-FR" sz="2800" b="1" dirty="0" smtClean="0">
                <a:solidFill>
                  <a:srgbClr val="FF0000"/>
                </a:solidFill>
              </a:rPr>
              <a:t>?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Une </a:t>
            </a:r>
            <a:r>
              <a:rPr lang="fr-FR" sz="2400" b="1" dirty="0" err="1"/>
              <a:t>deque</a:t>
            </a:r>
            <a:r>
              <a:rPr lang="fr-FR" sz="2400" b="1" dirty="0"/>
              <a:t> non bloquante</a:t>
            </a:r>
            <a:r>
              <a:rPr lang="fr-FR" sz="2400" dirty="0"/>
              <a:t> (double-</a:t>
            </a:r>
            <a:r>
              <a:rPr lang="fr-FR" sz="2400" dirty="0" err="1"/>
              <a:t>ended</a:t>
            </a:r>
            <a:r>
              <a:rPr lang="fr-FR" sz="2400" dirty="0"/>
              <a:t> queue) conçue pour un </a:t>
            </a:r>
            <a:r>
              <a:rPr lang="fr-FR" sz="2400" b="1" dirty="0"/>
              <a:t>accès concurrent rapide</a:t>
            </a:r>
            <a:r>
              <a:rPr lang="fr-FR" sz="2400" dirty="0" smtClean="0"/>
              <a:t>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Basée sur des opérations </a:t>
            </a:r>
            <a:r>
              <a:rPr lang="fr-FR" sz="2400" b="1" dirty="0"/>
              <a:t>non bloquantes </a:t>
            </a:r>
            <a:r>
              <a:rPr lang="fr-FR" sz="2400" dirty="0"/>
              <a:t>(lock-free).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Permet l’ajout et le retrait à la tête ou à la queue, de manière thread-</a:t>
            </a:r>
            <a:r>
              <a:rPr lang="fr-FR" sz="2400" dirty="0" err="1"/>
              <a:t>safe</a:t>
            </a:r>
            <a:r>
              <a:rPr lang="fr-FR" sz="2400" dirty="0"/>
              <a:t>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rgbClr val="FF0000"/>
                </a:solidFill>
              </a:rPr>
              <a:t>Quand l’utiliser </a:t>
            </a:r>
            <a:r>
              <a:rPr lang="fr-FR" sz="2400" b="1" dirty="0" smtClean="0">
                <a:solidFill>
                  <a:srgbClr val="FF0000"/>
                </a:solidFill>
              </a:rPr>
              <a:t>?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Dans </a:t>
            </a:r>
            <a:r>
              <a:rPr lang="fr-FR" sz="2400" b="1" dirty="0"/>
              <a:t>des systèmes de logs partagés </a:t>
            </a:r>
            <a:r>
              <a:rPr lang="fr-FR" sz="2400" dirty="0"/>
              <a:t>ou </a:t>
            </a:r>
            <a:r>
              <a:rPr lang="fr-FR" sz="2400" b="1" dirty="0"/>
              <a:t>de travail collaboratif</a:t>
            </a:r>
            <a:r>
              <a:rPr lang="fr-FR" sz="2400" dirty="0"/>
              <a:t> entre threads, où on veut insérer à gauche/droite de façon concurrente.</a:t>
            </a:r>
          </a:p>
        </p:txBody>
      </p:sp>
    </p:spTree>
    <p:extLst>
      <p:ext uri="{BB962C8B-B14F-4D97-AF65-F5344CB8AC3E}">
        <p14:creationId xmlns:p14="http://schemas.microsoft.com/office/powerpoint/2010/main" val="3707600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3600" b="1" dirty="0"/>
              <a:t>Exemple d'utilisation : traitement partagé FIFO/LIFO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99990" y="1914254"/>
            <a:ext cx="9855689" cy="43323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1968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err="1"/>
              <a:t>LinkedTransferQueue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44897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/>
              <a:t> Qu’est-ce que c’est </a:t>
            </a:r>
            <a:r>
              <a:rPr lang="fr-FR" sz="1800" dirty="0" smtClean="0"/>
              <a:t>?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Une </a:t>
            </a:r>
            <a:r>
              <a:rPr lang="fr-FR" b="1" dirty="0"/>
              <a:t>file d’attente </a:t>
            </a:r>
            <a:r>
              <a:rPr lang="fr-FR" b="1" dirty="0" err="1"/>
              <a:t>unbounded</a:t>
            </a:r>
            <a:r>
              <a:rPr lang="fr-FR" b="1" dirty="0"/>
              <a:t> (non bornée)</a:t>
            </a:r>
            <a:r>
              <a:rPr lang="fr-FR" dirty="0"/>
              <a:t> optimisée pour les </a:t>
            </a:r>
            <a:r>
              <a:rPr lang="fr-FR" b="1" dirty="0"/>
              <a:t>modèles producteur-consommateur</a:t>
            </a:r>
            <a:r>
              <a:rPr lang="fr-FR" dirty="0" smtClean="0"/>
              <a:t>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/>
              <a:t>Permet de transférer des éléments directement à un consommateur si disponible (</a:t>
            </a:r>
            <a:r>
              <a:rPr lang="fr-FR" sz="1800" dirty="0" err="1"/>
              <a:t>transfer</a:t>
            </a:r>
            <a:r>
              <a:rPr lang="fr-FR" sz="1800" dirty="0" smtClean="0"/>
              <a:t>()).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/>
              <a:t>Plus performante que </a:t>
            </a:r>
            <a:r>
              <a:rPr lang="fr-FR" sz="1800" dirty="0" err="1"/>
              <a:t>LinkedBlockingQueue</a:t>
            </a:r>
            <a:r>
              <a:rPr lang="fr-FR" sz="1800" dirty="0"/>
              <a:t> dans certains cas</a:t>
            </a:r>
            <a:r>
              <a:rPr lang="fr-FR" sz="1800" dirty="0" smtClean="0"/>
              <a:t>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/>
              <a:t>Permet d’optimiser la </a:t>
            </a:r>
            <a:r>
              <a:rPr lang="fr-FR" sz="1800" b="1" dirty="0"/>
              <a:t>latence</a:t>
            </a:r>
            <a:r>
              <a:rPr lang="fr-FR" sz="1800" dirty="0"/>
              <a:t> si un consommateur est déjà prêt</a:t>
            </a:r>
            <a:r>
              <a:rPr lang="fr-FR" sz="1800" dirty="0" smtClean="0"/>
              <a:t>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Quand l’utiliser </a:t>
            </a:r>
            <a:r>
              <a:rPr lang="fr-FR" dirty="0" smtClean="0"/>
              <a:t>?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/>
              <a:t>Dans les systèmes </a:t>
            </a:r>
            <a:r>
              <a:rPr lang="fr-FR" sz="1800" b="1" dirty="0"/>
              <a:t>événementiels ou temps réel</a:t>
            </a:r>
            <a:r>
              <a:rPr lang="fr-FR" sz="1800" dirty="0"/>
              <a:t>, où on veut transférer immédiatement une donnée à un thread consommateur.</a:t>
            </a:r>
          </a:p>
        </p:txBody>
      </p:sp>
    </p:spTree>
    <p:extLst>
      <p:ext uri="{BB962C8B-B14F-4D97-AF65-F5344CB8AC3E}">
        <p14:creationId xmlns:p14="http://schemas.microsoft.com/office/powerpoint/2010/main" val="2418454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3600" b="1" dirty="0"/>
              <a:t>Exemple producteur-consommateur avec </a:t>
            </a:r>
            <a:r>
              <a:rPr lang="fr-FR" sz="3600" b="1" dirty="0" err="1"/>
              <a:t>transfer</a:t>
            </a:r>
            <a:r>
              <a:rPr lang="fr-FR" sz="3600" b="1" dirty="0"/>
              <a:t>()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fr-FR" b="1" dirty="0" smtClean="0"/>
              <a:t>Consommateur</a:t>
            </a:r>
            <a:endParaRPr lang="fr-FR" b="1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fr-FR" b="1" dirty="0" smtClean="0"/>
              <a:t>Producteur</a:t>
            </a:r>
            <a:endParaRPr lang="fr-FR" b="1" dirty="0"/>
          </a:p>
        </p:txBody>
      </p:sp>
      <p:pic>
        <p:nvPicPr>
          <p:cNvPr id="11" name="Espace réservé du contenu 10"/>
          <p:cNvPicPr>
            <a:picLocks noGrp="1" noChangeAspect="1"/>
          </p:cNvPicPr>
          <p:nvPr>
            <p:ph sz="quarter" idx="4"/>
          </p:nvPr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6218238" y="2412695"/>
            <a:ext cx="4937125" cy="38008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Espace réservé du contenu 9"/>
          <p:cNvPicPr>
            <a:picLocks noGrp="1" noChangeAspect="1"/>
          </p:cNvPicPr>
          <p:nvPr>
            <p:ph sz="half" idx="2"/>
          </p:nvPr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096963" y="2412695"/>
            <a:ext cx="4938712" cy="38008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691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Résumé des avantages</a:t>
            </a:r>
          </a:p>
        </p:txBody>
      </p:sp>
      <p:pic>
        <p:nvPicPr>
          <p:cNvPr id="9" name="Espace réservé du contenu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655065"/>
            <a:ext cx="10058400" cy="26109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636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err="1"/>
              <a:t>Parallel</a:t>
            </a:r>
            <a:r>
              <a:rPr lang="fr-FR" b="1" dirty="0"/>
              <a:t> </a:t>
            </a:r>
            <a:r>
              <a:rPr lang="fr-FR" b="1" dirty="0" err="1"/>
              <a:t>Streams</a:t>
            </a:r>
            <a:r>
              <a:rPr lang="fr-FR" b="1" dirty="0"/>
              <a:t> (JDK 8)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9066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 </a:t>
            </a:r>
            <a:r>
              <a:rPr lang="fr-FR" b="1" dirty="0">
                <a:solidFill>
                  <a:srgbClr val="FF0000"/>
                </a:solidFill>
              </a:rPr>
              <a:t>Qu’est-ce que c’est </a:t>
            </a:r>
            <a:r>
              <a:rPr lang="fr-FR" b="1" dirty="0" smtClean="0">
                <a:solidFill>
                  <a:srgbClr val="FF0000"/>
                </a:solidFill>
              </a:rPr>
              <a:t>?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Un </a:t>
            </a:r>
            <a:r>
              <a:rPr lang="fr-FR" sz="2000" b="1" dirty="0"/>
              <a:t>Stream Java</a:t>
            </a:r>
            <a:r>
              <a:rPr lang="fr-FR" sz="2000" dirty="0"/>
              <a:t> qui exécute ses opérations en </a:t>
            </a:r>
            <a:r>
              <a:rPr lang="fr-FR" sz="2000" b="1" dirty="0"/>
              <a:t>parallèle</a:t>
            </a:r>
            <a:r>
              <a:rPr lang="fr-FR" sz="2000" dirty="0"/>
              <a:t> grâce au </a:t>
            </a:r>
            <a:r>
              <a:rPr lang="fr-FR" sz="2000" b="1" dirty="0"/>
              <a:t>Fork/</a:t>
            </a:r>
            <a:r>
              <a:rPr lang="fr-FR" sz="2000" b="1" dirty="0" err="1"/>
              <a:t>Join</a:t>
            </a:r>
            <a:r>
              <a:rPr lang="fr-FR" sz="2000" b="1" dirty="0"/>
              <a:t> Framework</a:t>
            </a:r>
            <a:r>
              <a:rPr lang="fr-FR" sz="2000" dirty="0" smtClean="0"/>
              <a:t>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Utilise </a:t>
            </a:r>
            <a:r>
              <a:rPr lang="fr-FR" sz="2000" b="1" dirty="0"/>
              <a:t>plusieurs threads</a:t>
            </a:r>
            <a:r>
              <a:rPr lang="fr-FR" sz="2000" dirty="0"/>
              <a:t> pour traiter des données plus rapidement</a:t>
            </a:r>
            <a:r>
              <a:rPr lang="fr-FR" sz="2000" dirty="0" smtClean="0"/>
              <a:t>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Convient aux </a:t>
            </a:r>
            <a:r>
              <a:rPr lang="fr-FR" sz="2000" b="1" dirty="0"/>
              <a:t>collections volumineuses</a:t>
            </a:r>
            <a:r>
              <a:rPr lang="fr-FR" sz="2000" dirty="0"/>
              <a:t> ou aux </a:t>
            </a:r>
            <a:r>
              <a:rPr lang="fr-FR" sz="2000" b="1" dirty="0"/>
              <a:t>opérations coûteuses</a:t>
            </a:r>
            <a:r>
              <a:rPr lang="fr-FR" sz="2000" dirty="0" smtClean="0"/>
              <a:t>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b="1" dirty="0">
                <a:solidFill>
                  <a:srgbClr val="FF0000"/>
                </a:solidFill>
              </a:rPr>
              <a:t>Quand l’utiliser </a:t>
            </a:r>
            <a:r>
              <a:rPr lang="fr-FR" sz="2000" b="1" dirty="0" smtClean="0">
                <a:solidFill>
                  <a:srgbClr val="FF0000"/>
                </a:solidFill>
              </a:rPr>
              <a:t>?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Si les données sont </a:t>
            </a:r>
            <a:r>
              <a:rPr lang="fr-FR" sz="2000" b="1" dirty="0"/>
              <a:t>suffisamment </a:t>
            </a:r>
            <a:r>
              <a:rPr lang="fr-FR" sz="2000" b="1" dirty="0" smtClean="0"/>
              <a:t>grandes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Si les opérations sont </a:t>
            </a:r>
            <a:r>
              <a:rPr lang="fr-FR" sz="2000" b="1" dirty="0"/>
              <a:t>indépendantes</a:t>
            </a:r>
            <a:r>
              <a:rPr lang="fr-FR" sz="2000" dirty="0"/>
              <a:t>, </a:t>
            </a:r>
            <a:r>
              <a:rPr lang="fr-FR" sz="2000" b="1" dirty="0" err="1"/>
              <a:t>stateless</a:t>
            </a:r>
            <a:r>
              <a:rPr lang="fr-FR" sz="2000" dirty="0"/>
              <a:t> et </a:t>
            </a:r>
            <a:r>
              <a:rPr lang="fr-FR" sz="2000" b="1" dirty="0"/>
              <a:t>sans effets de </a:t>
            </a:r>
            <a:r>
              <a:rPr lang="fr-FR" sz="2000" b="1" dirty="0" smtClean="0"/>
              <a:t>bord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Si l’ordre de traitement n’est </a:t>
            </a:r>
            <a:r>
              <a:rPr lang="fr-FR" sz="2000" b="1" dirty="0"/>
              <a:t>pas important</a:t>
            </a:r>
            <a:r>
              <a:rPr lang="fr-FR" sz="2000" dirty="0"/>
              <a:t> (ou peut être contrôlé)</a:t>
            </a:r>
          </a:p>
        </p:txBody>
      </p:sp>
    </p:spTree>
    <p:extLst>
      <p:ext uri="{BB962C8B-B14F-4D97-AF65-F5344CB8AC3E}">
        <p14:creationId xmlns:p14="http://schemas.microsoft.com/office/powerpoint/2010/main" val="2087077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Exemple 1 : Somme parallèle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7280" y="1883884"/>
            <a:ext cx="10058399" cy="39220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600375" y="5820210"/>
            <a:ext cx="92375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Avantage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Plus rapide que </a:t>
            </a:r>
            <a:r>
              <a:rPr kumimoji="0" lang="fr-FR" altLang="fr-FR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.</a:t>
            </a:r>
            <a:r>
              <a:rPr kumimoji="0" lang="fr-FR" altLang="fr-FR" sz="20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stream</a:t>
            </a:r>
            <a:r>
              <a:rPr kumimoji="0" lang="fr-FR" altLang="fr-FR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()</a:t>
            </a:r>
            <a:r>
              <a:rPr kumimoji="0" lang="fr-FR" altLang="fr-FR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séquentiel quand il y a beaucoup d’éléments. </a:t>
            </a:r>
            <a:endParaRPr kumimoji="0" lang="fr-FR" altLang="fr-F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250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400" b="1" dirty="0"/>
              <a:t>Exemple 2 : Traitement d’une liste de chaînes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11856" y="1850834"/>
            <a:ext cx="9943824" cy="33785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188389" y="5464077"/>
            <a:ext cx="1187618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000" b="1" dirty="0"/>
              <a:t>Observation</a:t>
            </a:r>
            <a:r>
              <a:rPr lang="fr-FR" sz="2000" dirty="0"/>
              <a:t> : Chaque élément peut être traité </a:t>
            </a:r>
            <a:r>
              <a:rPr lang="fr-FR" sz="2000" b="1" dirty="0"/>
              <a:t>dans un thread différent</a:t>
            </a:r>
            <a:r>
              <a:rPr lang="fr-FR" sz="2000" dirty="0"/>
              <a:t>. Affiche les noms et les threads utilisés.</a:t>
            </a:r>
          </a:p>
        </p:txBody>
      </p:sp>
    </p:spTree>
    <p:extLst>
      <p:ext uri="{BB962C8B-B14F-4D97-AF65-F5344CB8AC3E}">
        <p14:creationId xmlns:p14="http://schemas.microsoft.com/office/powerpoint/2010/main" val="4116487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Bonnes pratiques et limitations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4906" y="2126255"/>
            <a:ext cx="9827046" cy="348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794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400" b="1" dirty="0"/>
              <a:t>Utilisation combinée : tri, filtrage, </a:t>
            </a:r>
            <a:r>
              <a:rPr lang="fr-FR" sz="4400" b="1" dirty="0" err="1"/>
              <a:t>mapping</a:t>
            </a:r>
            <a:endParaRPr lang="fr-FR" sz="4400" b="1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7280" y="2159306"/>
            <a:ext cx="10058400" cy="37347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983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8000" b="1" dirty="0"/>
              <a:t>Résumé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225406"/>
            <a:ext cx="10058400" cy="341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183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000" b="1" dirty="0" err="1"/>
              <a:t>CompletableFuture</a:t>
            </a:r>
            <a:r>
              <a:rPr lang="fr-FR" sz="4000" b="1" dirty="0"/>
              <a:t> (JDK 8+) – Programmation asynchrone moderne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/>
              <a:t> </a:t>
            </a:r>
            <a:r>
              <a:rPr lang="fr-FR" sz="1800" b="1" dirty="0">
                <a:solidFill>
                  <a:srgbClr val="FF0000"/>
                </a:solidFill>
              </a:rPr>
              <a:t>Qu’est-ce que c’est </a:t>
            </a:r>
            <a:r>
              <a:rPr lang="fr-FR" sz="1800" b="1" dirty="0" smtClean="0">
                <a:solidFill>
                  <a:srgbClr val="FF0000"/>
                </a:solidFill>
              </a:rPr>
              <a:t>?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 Une classe de l’API </a:t>
            </a:r>
            <a:r>
              <a:rPr lang="fr-FR" b="1" dirty="0" err="1"/>
              <a:t>java.util.concurrent</a:t>
            </a:r>
            <a:r>
              <a:rPr lang="fr-FR" dirty="0"/>
              <a:t> qui permet </a:t>
            </a:r>
            <a:r>
              <a:rPr lang="fr-FR" dirty="0" smtClean="0"/>
              <a:t>: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/>
              <a:t> De lancer des tâches asynchrones sans Thread ni </a:t>
            </a:r>
            <a:r>
              <a:rPr lang="fr-FR" sz="1800" b="1" dirty="0" err="1"/>
              <a:t>ExecutorService</a:t>
            </a:r>
            <a:r>
              <a:rPr lang="fr-FR" sz="1800" dirty="0"/>
              <a:t> explicite</a:t>
            </a:r>
            <a:r>
              <a:rPr lang="fr-FR" sz="1800" dirty="0" smtClean="0"/>
              <a:t>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/>
              <a:t> De composer plusieurs opérations asynchrones (</a:t>
            </a:r>
            <a:r>
              <a:rPr lang="fr-FR" sz="1800" b="1" dirty="0" err="1"/>
              <a:t>thenApply</a:t>
            </a:r>
            <a:r>
              <a:rPr lang="fr-FR" sz="1800" dirty="0"/>
              <a:t>, </a:t>
            </a:r>
            <a:r>
              <a:rPr lang="fr-FR" sz="1800" b="1" dirty="0" err="1"/>
              <a:t>thenCombine</a:t>
            </a:r>
            <a:r>
              <a:rPr lang="fr-FR" sz="1800" dirty="0"/>
              <a:t>, </a:t>
            </a:r>
            <a:r>
              <a:rPr lang="fr-FR" sz="1800" b="1" dirty="0"/>
              <a:t>etc</a:t>
            </a:r>
            <a:r>
              <a:rPr lang="fr-FR" sz="1800" dirty="0" smtClean="0"/>
              <a:t>.).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/>
              <a:t>De gérer les exceptions (</a:t>
            </a:r>
            <a:r>
              <a:rPr lang="fr-FR" sz="1800" b="1" dirty="0" err="1"/>
              <a:t>exceptionally</a:t>
            </a:r>
            <a:r>
              <a:rPr lang="fr-FR" sz="1800" dirty="0"/>
              <a:t>, </a:t>
            </a:r>
            <a:r>
              <a:rPr lang="fr-FR" sz="1800" b="1" dirty="0" err="1"/>
              <a:t>handle</a:t>
            </a:r>
            <a:r>
              <a:rPr lang="fr-FR" sz="1800" dirty="0" smtClean="0"/>
              <a:t>).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 </a:t>
            </a:r>
            <a:r>
              <a:rPr lang="fr-FR" b="1" dirty="0">
                <a:solidFill>
                  <a:srgbClr val="FF0000"/>
                </a:solidFill>
              </a:rPr>
              <a:t>Quand l’utiliser </a:t>
            </a:r>
            <a:r>
              <a:rPr lang="fr-FR" b="1" dirty="0" smtClean="0">
                <a:solidFill>
                  <a:srgbClr val="FF0000"/>
                </a:solidFill>
              </a:rPr>
              <a:t>?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/>
              <a:t> Pour éviter le </a:t>
            </a:r>
            <a:r>
              <a:rPr lang="fr-FR" sz="1800" b="1" dirty="0"/>
              <a:t>blocage</a:t>
            </a:r>
            <a:r>
              <a:rPr lang="fr-FR" sz="1800" dirty="0"/>
              <a:t> des threads (ex: UI, Web</a:t>
            </a:r>
            <a:r>
              <a:rPr lang="fr-FR" sz="1800" dirty="0" smtClean="0"/>
              <a:t>)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/>
              <a:t> Pour gérer des </a:t>
            </a:r>
            <a:r>
              <a:rPr lang="fr-FR" sz="1800" b="1" dirty="0"/>
              <a:t>tâches parallèles dépendantes ou </a:t>
            </a:r>
            <a:r>
              <a:rPr lang="fr-FR" sz="1800" b="1" dirty="0" smtClean="0"/>
              <a:t>indépendantes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/>
              <a:t>Pour remplacer les callbacks ou les Future bloquants</a:t>
            </a:r>
          </a:p>
        </p:txBody>
      </p:sp>
    </p:spTree>
    <p:extLst>
      <p:ext uri="{BB962C8B-B14F-4D97-AF65-F5344CB8AC3E}">
        <p14:creationId xmlns:p14="http://schemas.microsoft.com/office/powerpoint/2010/main" val="899276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Exemple 1 : tâche asynchrone simple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11856" y="1927952"/>
            <a:ext cx="9943824" cy="39991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91265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000" b="1" dirty="0"/>
              <a:t>Exemple 2 : appel asynchrone + transformation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7280" y="2214390"/>
            <a:ext cx="10150941" cy="34482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6912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3600" b="1" dirty="0"/>
              <a:t>Exemple 3 : appels asynchrones parallèles + combinaison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7280" y="2137272"/>
            <a:ext cx="10058399" cy="38008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6330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Java 9 : Nouveautés </a:t>
            </a:r>
            <a:r>
              <a:rPr lang="fr-FR" b="1" dirty="0" err="1"/>
              <a:t>CompletableFuture</a:t>
            </a:r>
            <a:endParaRPr lang="fr-FR" b="1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225407"/>
            <a:ext cx="10058399" cy="316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85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Exemple avec timeout (Java 9)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7280" y="2159306"/>
            <a:ext cx="10058400" cy="35804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4531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Cas d’usage professionnels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027105"/>
            <a:ext cx="10058400" cy="3778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501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Bonnes pratiques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smtClean="0"/>
              <a:t>✅ </a:t>
            </a:r>
            <a:r>
              <a:rPr lang="en-US" sz="2800" dirty="0" err="1"/>
              <a:t>Favoriser</a:t>
            </a:r>
            <a:r>
              <a:rPr lang="en-US" sz="2800" dirty="0"/>
              <a:t> les </a:t>
            </a:r>
            <a:r>
              <a:rPr lang="en-US" sz="2800" b="1" dirty="0" err="1"/>
              <a:t>thenApply</a:t>
            </a:r>
            <a:r>
              <a:rPr lang="en-US" sz="2800" dirty="0"/>
              <a:t>, </a:t>
            </a:r>
            <a:r>
              <a:rPr lang="en-US" sz="2800" b="1" dirty="0" err="1"/>
              <a:t>thenCompose</a:t>
            </a:r>
            <a:r>
              <a:rPr lang="en-US" sz="2800" dirty="0"/>
              <a:t>, </a:t>
            </a:r>
            <a:r>
              <a:rPr lang="en-US" sz="2800" b="1" dirty="0" err="1" smtClean="0"/>
              <a:t>thenCombine</a:t>
            </a:r>
            <a:endParaRPr lang="en-US" sz="2800" b="1" dirty="0" smtClean="0"/>
          </a:p>
          <a:p>
            <a:pPr algn="just">
              <a:lnSpc>
                <a:spcPct val="150000"/>
              </a:lnSpc>
            </a:pPr>
            <a:r>
              <a:rPr lang="fr-FR" sz="2800" dirty="0"/>
              <a:t>✅ Utiliser </a:t>
            </a:r>
            <a:r>
              <a:rPr lang="fr-FR" sz="2800" b="1" dirty="0" err="1"/>
              <a:t>exceptionally</a:t>
            </a:r>
            <a:r>
              <a:rPr lang="fr-FR" sz="2800" dirty="0"/>
              <a:t>, </a:t>
            </a:r>
            <a:r>
              <a:rPr lang="fr-FR" sz="2800" b="1" dirty="0" err="1"/>
              <a:t>handle</a:t>
            </a:r>
            <a:r>
              <a:rPr lang="fr-FR" sz="2800" dirty="0"/>
              <a:t>, </a:t>
            </a:r>
            <a:r>
              <a:rPr lang="fr-FR" sz="2800" b="1" dirty="0" err="1"/>
              <a:t>whenComplete</a:t>
            </a:r>
            <a:r>
              <a:rPr lang="fr-FR" sz="2800" dirty="0"/>
              <a:t> pour gérer les </a:t>
            </a:r>
            <a:r>
              <a:rPr lang="fr-FR" sz="2800" dirty="0" smtClean="0"/>
              <a:t>erreurs</a:t>
            </a:r>
          </a:p>
          <a:p>
            <a:pPr algn="just">
              <a:lnSpc>
                <a:spcPct val="150000"/>
              </a:lnSpc>
            </a:pPr>
            <a:r>
              <a:rPr lang="fr-FR" sz="2800" dirty="0"/>
              <a:t>❌ Éviter </a:t>
            </a:r>
            <a:r>
              <a:rPr lang="fr-FR" sz="2800" b="1" dirty="0" err="1"/>
              <a:t>join</a:t>
            </a:r>
            <a:r>
              <a:rPr lang="fr-FR" sz="2800" b="1" dirty="0"/>
              <a:t>() </a:t>
            </a:r>
            <a:r>
              <a:rPr lang="fr-FR" sz="2800" dirty="0"/>
              <a:t>ou </a:t>
            </a:r>
            <a:r>
              <a:rPr lang="fr-FR" sz="2800" b="1" dirty="0" err="1"/>
              <a:t>get</a:t>
            </a:r>
            <a:r>
              <a:rPr lang="fr-FR" sz="2800" b="1" dirty="0"/>
              <a:t>() </a:t>
            </a:r>
            <a:r>
              <a:rPr lang="fr-FR" sz="2800" dirty="0"/>
              <a:t>sans timeout dans le code de </a:t>
            </a:r>
            <a:r>
              <a:rPr lang="fr-FR" sz="2800" dirty="0" smtClean="0"/>
              <a:t>production</a:t>
            </a:r>
          </a:p>
          <a:p>
            <a:pPr algn="just">
              <a:lnSpc>
                <a:spcPct val="150000"/>
              </a:lnSpc>
            </a:pPr>
            <a:r>
              <a:rPr lang="fr-FR" sz="2800" dirty="0"/>
              <a:t>❌ Ne pas mélanger logique synchrone/</a:t>
            </a:r>
            <a:r>
              <a:rPr lang="fr-FR" sz="2800" dirty="0" err="1"/>
              <a:t>blocante</a:t>
            </a:r>
            <a:r>
              <a:rPr lang="fr-FR" sz="2800" dirty="0"/>
              <a:t> avec </a:t>
            </a:r>
            <a:r>
              <a:rPr lang="fr-FR" sz="2800" dirty="0" err="1"/>
              <a:t>async</a:t>
            </a:r>
            <a:r>
              <a:rPr lang="fr-FR" sz="2800" dirty="0"/>
              <a:t> (risque de </a:t>
            </a:r>
            <a:r>
              <a:rPr lang="fr-FR" sz="2800" dirty="0" err="1"/>
              <a:t>deadlock</a:t>
            </a:r>
            <a:r>
              <a:rPr lang="fr-FR" sz="2800" dirty="0"/>
              <a:t>)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482425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000" b="1" dirty="0"/>
              <a:t>Gestion des Threads améliorée (JDK 10 et plus</a:t>
            </a:r>
            <a:r>
              <a:rPr lang="fr-FR" sz="4000" b="1" dirty="0" smtClean="0"/>
              <a:t>)</a:t>
            </a:r>
            <a:br>
              <a:rPr lang="fr-FR" sz="4000" b="1" dirty="0" smtClean="0"/>
            </a:br>
            <a:endParaRPr lang="fr-FR" sz="4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b="1" dirty="0"/>
              <a:t>Thread-Local </a:t>
            </a:r>
            <a:r>
              <a:rPr lang="fr-FR" sz="2800" b="1" dirty="0" err="1"/>
              <a:t>Handshakes</a:t>
            </a:r>
            <a:r>
              <a:rPr lang="fr-FR" sz="2800" b="1" dirty="0"/>
              <a:t> (JDK 10) :</a:t>
            </a:r>
            <a:r>
              <a:rPr lang="fr-FR" sz="2800" dirty="0"/>
              <a:t> Amélioration des interactions entre threads sans pause complète de l’application.</a:t>
            </a:r>
            <a:endParaRPr lang="fr-FR" dirty="0"/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b="1" dirty="0"/>
              <a:t>Virtual Threads (JDK 19 – </a:t>
            </a:r>
            <a:r>
              <a:rPr lang="fr-FR" sz="2800" b="1" dirty="0" err="1"/>
              <a:t>Preview</a:t>
            </a:r>
            <a:r>
              <a:rPr lang="fr-FR" sz="2800" b="1" dirty="0"/>
              <a:t>) :</a:t>
            </a:r>
            <a:r>
              <a:rPr lang="fr-FR" sz="2800" dirty="0"/>
              <a:t> Introduction des "</a:t>
            </a:r>
            <a:r>
              <a:rPr lang="fr-FR" sz="2800" b="1" dirty="0" err="1"/>
              <a:t>Loom</a:t>
            </a:r>
            <a:r>
              <a:rPr lang="fr-FR" sz="2800" dirty="0"/>
              <a:t> </a:t>
            </a:r>
            <a:r>
              <a:rPr lang="fr-FR" sz="2800" b="1" dirty="0"/>
              <a:t>Threads</a:t>
            </a:r>
            <a:r>
              <a:rPr lang="fr-FR" sz="2800" dirty="0"/>
              <a:t>", une révolution dans la gestion des threads.</a:t>
            </a:r>
            <a:endParaRPr lang="fr-FR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/>
              <a:t>Avantage :</a:t>
            </a:r>
            <a:r>
              <a:rPr lang="fr-FR" sz="2400" dirty="0"/>
              <a:t> Threads légers, consommant moins de mémoire, et idéals pour des applications massivement concurrentes.</a:t>
            </a:r>
            <a:endParaRPr lang="fr-FR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570355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ctr"/>
            <a:r>
              <a:rPr lang="fr-FR" sz="4000" b="1" dirty="0"/>
              <a:t>Gestion des Threads améliorée (JDK 10 et plus</a:t>
            </a:r>
            <a:r>
              <a:rPr lang="fr-FR" sz="4000" b="1" dirty="0" smtClean="0"/>
              <a:t>)</a:t>
            </a:r>
            <a:br>
              <a:rPr lang="fr-FR" sz="4000" b="1" dirty="0" smtClean="0"/>
            </a:br>
            <a:r>
              <a:rPr lang="fr-FR" sz="4000" b="1" dirty="0"/>
              <a:t>Cas réel : Gestion de milliers de connexions simultanées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 smtClean="0"/>
              <a:t> Pour </a:t>
            </a:r>
            <a:r>
              <a:rPr lang="fr-FR" sz="2800" dirty="0"/>
              <a:t>un serveur de </a:t>
            </a:r>
            <a:r>
              <a:rPr lang="fr-FR" sz="2800" dirty="0" smtClean="0"/>
              <a:t>chat </a:t>
            </a:r>
            <a:r>
              <a:rPr lang="fr-FR" sz="2800" dirty="0"/>
              <a:t>en temps réel, vous devez gérer une grande quantité de connexions sans surcharge mémoire.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067" y="3369204"/>
            <a:ext cx="7907865" cy="260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635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Virtual Threads (Project </a:t>
            </a:r>
            <a:r>
              <a:rPr lang="fr-FR" b="1" dirty="0" err="1"/>
              <a:t>Loom</a:t>
            </a:r>
            <a:r>
              <a:rPr lang="fr-FR" b="1" dirty="0"/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58800" y="1845733"/>
            <a:ext cx="11430000" cy="426719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b="1" dirty="0"/>
              <a:t>Différences majeures avec les threads classiques :</a:t>
            </a:r>
            <a:endParaRPr lang="fr-FR" sz="2400" dirty="0"/>
          </a:p>
          <a:p>
            <a:pPr lvl="1" algn="just">
              <a:lnSpc>
                <a:spcPct val="150000"/>
              </a:lnSpc>
            </a:pPr>
            <a:r>
              <a:rPr lang="fr-FR" sz="2000" dirty="0"/>
              <a:t>Les </a:t>
            </a:r>
            <a:r>
              <a:rPr lang="fr-FR" sz="2000" b="1" dirty="0" err="1"/>
              <a:t>virtual</a:t>
            </a:r>
            <a:r>
              <a:rPr lang="fr-FR" sz="2000" b="1" dirty="0"/>
              <a:t> threads</a:t>
            </a:r>
            <a:r>
              <a:rPr lang="fr-FR" sz="2000" dirty="0"/>
              <a:t> sont des threads gérés par la </a:t>
            </a:r>
            <a:r>
              <a:rPr lang="fr-FR" sz="2000" b="1" dirty="0"/>
              <a:t>JVM</a:t>
            </a:r>
            <a:r>
              <a:rPr lang="fr-FR" sz="2000" dirty="0"/>
              <a:t>, pas directement par le système d'exploitation.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Ils permettent une gestion massive de threads sans épuiser les ressources système.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Syntaxe et API identiques aux threads classiques, ce qui facilite l'adoption.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/>
              <a:t>Avantages :</a:t>
            </a:r>
            <a:endParaRPr lang="fr-FR" sz="2400" dirty="0"/>
          </a:p>
          <a:p>
            <a:pPr lvl="1" algn="just">
              <a:lnSpc>
                <a:spcPct val="150000"/>
              </a:lnSpc>
            </a:pPr>
            <a:r>
              <a:rPr lang="fr-FR" sz="2000" dirty="0"/>
              <a:t>Réduction des problèmes liés au blocage des threads (</a:t>
            </a:r>
            <a:r>
              <a:rPr lang="fr-FR" sz="2000" b="1" dirty="0"/>
              <a:t>I/O </a:t>
            </a:r>
            <a:r>
              <a:rPr lang="fr-FR" sz="2000" b="1" dirty="0" err="1"/>
              <a:t>blocking</a:t>
            </a:r>
            <a:r>
              <a:rPr lang="fr-FR" sz="2000" dirty="0"/>
              <a:t>).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Adapté pour des applications ayant besoin de milliers ou millions de threads.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03379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err="1"/>
              <a:t>Structured</a:t>
            </a:r>
            <a:r>
              <a:rPr lang="fr-FR" b="1" dirty="0"/>
              <a:t> </a:t>
            </a:r>
            <a:r>
              <a:rPr lang="fr-FR" b="1" dirty="0" err="1"/>
              <a:t>Concurrency</a:t>
            </a:r>
            <a:r>
              <a:rPr lang="fr-FR" b="1" dirty="0"/>
              <a:t> (JDK 21)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b="1" dirty="0"/>
              <a:t>Concept :</a:t>
            </a:r>
            <a:r>
              <a:rPr lang="fr-FR" sz="2400" dirty="0"/>
              <a:t> Simplifie la gestion des groupes de tâches parallèles, en offrant des API pour organiser et annuler des groupes de threads logiquement liés.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 smtClean="0"/>
              <a:t> Objectif </a:t>
            </a:r>
            <a:r>
              <a:rPr lang="fr-FR" sz="2400" b="1" dirty="0"/>
              <a:t>:</a:t>
            </a:r>
            <a:r>
              <a:rPr lang="fr-FR" sz="2400" dirty="0"/>
              <a:t> Rendre le code concurrent plus prévisible et robuste</a:t>
            </a:r>
            <a:r>
              <a:rPr lang="fr-FR" sz="2400" dirty="0" smtClean="0"/>
              <a:t>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b="1" dirty="0" smtClean="0"/>
              <a:t>Exemple </a:t>
            </a:r>
            <a:r>
              <a:rPr lang="fr-FR" sz="2400" b="1" dirty="0"/>
              <a:t>d'utilisation </a:t>
            </a:r>
            <a:r>
              <a:rPr lang="fr-FR" sz="2400" dirty="0"/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934" y="4040717"/>
            <a:ext cx="6820746" cy="21907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008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ctr"/>
            <a:r>
              <a:rPr lang="fr-FR" b="1" dirty="0" err="1"/>
              <a:t>Structured</a:t>
            </a:r>
            <a:r>
              <a:rPr lang="fr-FR" b="1" dirty="0"/>
              <a:t> </a:t>
            </a:r>
            <a:r>
              <a:rPr lang="fr-FR" b="1" dirty="0" err="1"/>
              <a:t>Concurrency</a:t>
            </a:r>
            <a:r>
              <a:rPr lang="fr-FR" b="1" dirty="0"/>
              <a:t> (JDK 21</a:t>
            </a:r>
            <a:r>
              <a:rPr lang="fr-FR" b="1" dirty="0" smtClean="0"/>
              <a:t>)</a:t>
            </a:r>
            <a:br>
              <a:rPr lang="fr-FR" b="1" dirty="0" smtClean="0"/>
            </a:br>
            <a:r>
              <a:rPr lang="fr-FR" b="1" dirty="0"/>
              <a:t>Cas réel : Recherche parallèle de données distribuées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625605"/>
            <a:ext cx="10058400" cy="402336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 Vous </a:t>
            </a:r>
            <a:r>
              <a:rPr lang="fr-FR" sz="2400" dirty="0"/>
              <a:t>interrogez plusieurs bases de données pour trouver les meilleurs résultats (exemple : recherche de vols). Avec la </a:t>
            </a:r>
            <a:r>
              <a:rPr lang="fr-FR" sz="2400" b="1" dirty="0"/>
              <a:t>concurrence structurée</a:t>
            </a:r>
            <a:r>
              <a:rPr lang="fr-FR" sz="2400" dirty="0"/>
              <a:t>, vous regroupez les tâches et gérez les échecs.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357035"/>
            <a:ext cx="10058399" cy="338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69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b="1" dirty="0" err="1"/>
              <a:t>Comparatif</a:t>
            </a:r>
            <a:r>
              <a:rPr lang="en-US" b="1" dirty="0"/>
              <a:t> : </a:t>
            </a:r>
            <a:r>
              <a:rPr lang="en-US" b="1" dirty="0" err="1"/>
              <a:t>ExecutorService</a:t>
            </a:r>
            <a:r>
              <a:rPr lang="en-US" b="1" dirty="0"/>
              <a:t> vs </a:t>
            </a:r>
            <a:r>
              <a:rPr lang="en-US" b="1" dirty="0" err="1"/>
              <a:t>ForkJoinPool</a:t>
            </a:r>
            <a:r>
              <a:rPr lang="en-US" b="1" dirty="0"/>
              <a:t> vs Virtual Threads (JDK 21+)</a:t>
            </a:r>
            <a:endParaRPr lang="fr-FR" b="1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4906" y="1846263"/>
            <a:ext cx="9910774" cy="434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824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Benchmark synthétique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(</a:t>
            </a:r>
            <a:r>
              <a:rPr lang="fr-FR" b="1" dirty="0"/>
              <a:t>exécution de 10 000 tâches courtes)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269474"/>
            <a:ext cx="10058399" cy="2765233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839817" y="5366766"/>
            <a:ext cx="89743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simulant 10 000 tâches qui dorment 10 </a:t>
            </a:r>
            <a:r>
              <a:rPr lang="fr-FR" altLang="fr-FR" sz="2000" b="1" dirty="0">
                <a:latin typeface="Arial" panose="020B0604020202020204" pitchFamily="34" charset="0"/>
              </a:rPr>
              <a:t>ms</a:t>
            </a:r>
            <a:r>
              <a:rPr kumimoji="0" lang="fr-FR" altLang="fr-F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(avec </a:t>
            </a:r>
            <a:r>
              <a:rPr lang="fr-FR" altLang="fr-FR" sz="2000" b="1" dirty="0" err="1">
                <a:latin typeface="Arial" panose="020B0604020202020204" pitchFamily="34" charset="0"/>
              </a:rPr>
              <a:t>Thread.sleep</a:t>
            </a:r>
            <a:r>
              <a:rPr lang="fr-FR" altLang="fr-FR" sz="2000" b="1" dirty="0">
                <a:latin typeface="Arial" panose="020B0604020202020204" pitchFamily="34" charset="0"/>
              </a:rPr>
              <a:t>()) </a:t>
            </a:r>
          </a:p>
        </p:txBody>
      </p:sp>
    </p:spTree>
    <p:extLst>
      <p:ext uri="{BB962C8B-B14F-4D97-AF65-F5344CB8AC3E}">
        <p14:creationId xmlns:p14="http://schemas.microsoft.com/office/powerpoint/2010/main" val="4252421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Recommandations pratiques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148290"/>
            <a:ext cx="10058400" cy="354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562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4000" b="1" dirty="0" err="1"/>
              <a:t>Modèle</a:t>
            </a:r>
            <a:r>
              <a:rPr lang="en-US" sz="4000" b="1" dirty="0"/>
              <a:t> Work-Stealing – </a:t>
            </a:r>
            <a:r>
              <a:rPr lang="en-US" sz="4000" b="1" dirty="0" err="1"/>
              <a:t>ForkJoinPool</a:t>
            </a:r>
            <a:r>
              <a:rPr lang="en-US" sz="4000" b="1" dirty="0"/>
              <a:t> (Java 7+)</a:t>
            </a:r>
            <a:endParaRPr lang="fr-FR" sz="40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 Objectif </a:t>
            </a:r>
            <a:r>
              <a:rPr lang="fr-FR" sz="3200" dirty="0" smtClean="0"/>
              <a:t>:</a:t>
            </a: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Maximiser l'utilisation des cœurs CPU disponibles pour des </a:t>
            </a:r>
            <a:r>
              <a:rPr lang="fr-FR" sz="2800" b="1" dirty="0"/>
              <a:t>tâches divisibles récursivement</a:t>
            </a:r>
            <a:r>
              <a:rPr lang="fr-FR" sz="2800" dirty="0"/>
              <a:t>, </a:t>
            </a:r>
            <a:r>
              <a:rPr lang="fr-FR" sz="2800" b="1" dirty="0"/>
              <a:t>sans surcharge de synchronisation</a:t>
            </a:r>
            <a:r>
              <a:rPr lang="fr-F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6678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Principe de fonctionnement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 Chaque </a:t>
            </a:r>
            <a:r>
              <a:rPr lang="fr-FR" sz="2400" b="1" dirty="0" err="1"/>
              <a:t>worker</a:t>
            </a:r>
            <a:r>
              <a:rPr lang="fr-FR" sz="2400" dirty="0"/>
              <a:t> </a:t>
            </a:r>
            <a:r>
              <a:rPr lang="fr-FR" sz="2400" b="1" dirty="0"/>
              <a:t>thread</a:t>
            </a:r>
            <a:r>
              <a:rPr lang="fr-FR" sz="2400" dirty="0"/>
              <a:t> du </a:t>
            </a:r>
            <a:r>
              <a:rPr lang="fr-FR" sz="2400" b="1" dirty="0" err="1"/>
              <a:t>ForkJoinPool</a:t>
            </a:r>
            <a:r>
              <a:rPr lang="fr-FR" sz="2400" dirty="0"/>
              <a:t> possède sa propre file de tâches (</a:t>
            </a:r>
            <a:r>
              <a:rPr lang="fr-FR" sz="2400" b="1" dirty="0" err="1"/>
              <a:t>deque</a:t>
            </a:r>
            <a:r>
              <a:rPr lang="fr-FR" sz="2400" dirty="0" smtClean="0"/>
              <a:t>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 Il exécute en priorité ses propres tâches, dans l'ordre </a:t>
            </a:r>
            <a:r>
              <a:rPr lang="fr-FR" sz="2400" b="1" dirty="0"/>
              <a:t>LIFO</a:t>
            </a:r>
            <a:r>
              <a:rPr lang="fr-FR" sz="2400" dirty="0"/>
              <a:t> (dernier entré, premier sorti</a:t>
            </a:r>
            <a:r>
              <a:rPr lang="fr-FR" sz="2400" dirty="0" smtClean="0"/>
              <a:t>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 Si sa file est vide, il va voler des tâches (</a:t>
            </a:r>
            <a:r>
              <a:rPr lang="fr-FR" sz="2400" b="1" dirty="0" err="1"/>
              <a:t>work</a:t>
            </a:r>
            <a:r>
              <a:rPr lang="fr-FR" sz="2400" dirty="0"/>
              <a:t> </a:t>
            </a:r>
            <a:r>
              <a:rPr lang="fr-FR" sz="2400" b="1" dirty="0" err="1"/>
              <a:t>stealing</a:t>
            </a:r>
            <a:r>
              <a:rPr lang="fr-FR" sz="2400" dirty="0"/>
              <a:t>) à la queue des autres threads (dans l’ordre </a:t>
            </a:r>
            <a:r>
              <a:rPr lang="fr-FR" sz="2400" b="1" dirty="0"/>
              <a:t>FIFO</a:t>
            </a:r>
            <a:r>
              <a:rPr lang="fr-FR" sz="2400" dirty="0" smtClean="0"/>
              <a:t>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 Cela évite l’inactivité des threads et optimise la charge </a:t>
            </a:r>
            <a:r>
              <a:rPr lang="fr-FR" sz="2400" b="1" dirty="0"/>
              <a:t>CPU</a:t>
            </a:r>
            <a:r>
              <a:rPr lang="fr-F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1682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Illustration schématique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dirty="0" smtClean="0"/>
              <a:t>-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 Le thread T3 vole des tâches à d’autres si sa propre file est vide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Les </a:t>
            </a:r>
            <a:r>
              <a:rPr lang="fr-FR" sz="2400" dirty="0"/>
              <a:t>voleurs prennent les tâches les plus anciennes (FIFO), pour minimiser les conflits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Les </a:t>
            </a:r>
            <a:r>
              <a:rPr lang="fr-FR" sz="2400" dirty="0"/>
              <a:t>tâches volées sont souvent plus grosses, donc plus efficaces à traiter.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73" y="2077394"/>
            <a:ext cx="5496957" cy="39928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6141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23556"/>
          </a:xfrm>
        </p:spPr>
        <p:txBody>
          <a:bodyPr anchor="ctr"/>
          <a:lstStyle/>
          <a:p>
            <a:pPr algn="ctr"/>
            <a:r>
              <a:rPr lang="fr-FR" b="1" dirty="0"/>
              <a:t>Exemple Java avec </a:t>
            </a:r>
            <a:r>
              <a:rPr lang="fr-FR" b="1" dirty="0" err="1"/>
              <a:t>RecursiveTask</a:t>
            </a:r>
            <a:endParaRPr lang="fr-FR" b="1" dirty="0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sz="half" idx="1"/>
          </p:nvPr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738130" y="1846263"/>
            <a:ext cx="5166911" cy="43892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Espace réservé du contenu 6"/>
          <p:cNvPicPr>
            <a:picLocks noGrp="1" noChangeAspect="1"/>
          </p:cNvPicPr>
          <p:nvPr>
            <p:ph sz="half" idx="2"/>
          </p:nvPr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6218238" y="1846263"/>
            <a:ext cx="5768114" cy="43892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545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Avantages du </a:t>
            </a:r>
            <a:r>
              <a:rPr lang="fr-FR" b="1" dirty="0" err="1"/>
              <a:t>Work-Stealing</a:t>
            </a:r>
            <a:endParaRPr lang="fr-FR" b="1" dirty="0"/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137272"/>
            <a:ext cx="10058400" cy="355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92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Conclusion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0233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La programmation concurrente est un pilier des applications modernes. Depuis le </a:t>
            </a:r>
            <a:r>
              <a:rPr lang="fr-FR" sz="2800" b="1" dirty="0"/>
              <a:t>JDK 7</a:t>
            </a:r>
            <a:r>
              <a:rPr lang="fr-FR" sz="2800" dirty="0"/>
              <a:t>, </a:t>
            </a:r>
            <a:r>
              <a:rPr lang="fr-FR" sz="2800" b="1" dirty="0"/>
              <a:t>Java</a:t>
            </a:r>
            <a:r>
              <a:rPr lang="fr-FR" sz="2800" dirty="0"/>
              <a:t> fournit des outils puissants comme le </a:t>
            </a:r>
            <a:r>
              <a:rPr lang="fr-FR" sz="2800" b="1" dirty="0" err="1"/>
              <a:t>ForkJoinPool</a:t>
            </a:r>
            <a:r>
              <a:rPr lang="fr-FR" sz="2800" dirty="0"/>
              <a:t>, les collections concurrentes, puis </a:t>
            </a:r>
            <a:r>
              <a:rPr lang="fr-FR" sz="2800" b="1" dirty="0" err="1"/>
              <a:t>CompletableFuture</a:t>
            </a:r>
            <a:r>
              <a:rPr lang="fr-FR" sz="2800" dirty="0"/>
              <a:t> et les Virtual Threads pour faciliter l’écriture de code parallèle, performant et évolutif</a:t>
            </a:r>
            <a:r>
              <a:rPr lang="fr-FR" sz="2800" dirty="0" smtClean="0"/>
              <a:t>. Ces </a:t>
            </a:r>
            <a:r>
              <a:rPr lang="fr-FR" sz="2800" dirty="0"/>
              <a:t>concepts sont les fondations sur lesquelles nous allons bâtir des traitements réactifs, efficaces et mieux structurés.</a:t>
            </a:r>
          </a:p>
        </p:txBody>
      </p:sp>
    </p:spTree>
    <p:extLst>
      <p:ext uri="{BB962C8B-B14F-4D97-AF65-F5344CB8AC3E}">
        <p14:creationId xmlns:p14="http://schemas.microsoft.com/office/powerpoint/2010/main" val="2963424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Atelier 1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5733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b="1" dirty="0"/>
              <a:t>Objectif</a:t>
            </a:r>
            <a:r>
              <a:rPr lang="fr-FR" sz="2800" dirty="0"/>
              <a:t> : Comprendre les bases du pattern </a:t>
            </a:r>
            <a:r>
              <a:rPr lang="fr-FR" sz="2800" b="1" dirty="0"/>
              <a:t>Fork/</a:t>
            </a:r>
            <a:r>
              <a:rPr lang="fr-FR" sz="2800" b="1" dirty="0" err="1"/>
              <a:t>Join</a:t>
            </a:r>
            <a:r>
              <a:rPr lang="fr-FR" sz="2800" dirty="0"/>
              <a:t> et son utilisation en Java</a:t>
            </a:r>
            <a:r>
              <a:rPr lang="fr-FR" sz="2800" dirty="0" smtClean="0"/>
              <a:t>.</a:t>
            </a:r>
          </a:p>
          <a:p>
            <a:pPr lvl="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</a:t>
            </a:r>
            <a:r>
              <a:rPr lang="fr-FR" sz="2800" b="1" dirty="0"/>
              <a:t>Activité</a:t>
            </a:r>
            <a:r>
              <a:rPr lang="fr-FR" sz="2800" dirty="0"/>
              <a:t> :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 </a:t>
            </a:r>
            <a:r>
              <a:rPr lang="fr-FR" sz="2400" dirty="0" smtClean="0"/>
              <a:t>Implémenter </a:t>
            </a:r>
            <a:r>
              <a:rPr lang="fr-FR" sz="2400" dirty="0"/>
              <a:t>un calcul récursif simple, comme la somme des éléments d'un tableau</a:t>
            </a:r>
            <a:r>
              <a:rPr lang="fr-FR" sz="2400" dirty="0" smtClean="0"/>
              <a:t>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 Diviser </a:t>
            </a:r>
            <a:r>
              <a:rPr lang="fr-FR" sz="2400" dirty="0"/>
              <a:t>le tableau en deux sous-parties et utiliser </a:t>
            </a:r>
            <a:r>
              <a:rPr lang="fr-FR" sz="2000" b="1" dirty="0" err="1"/>
              <a:t>RecursiveTask</a:t>
            </a:r>
            <a:r>
              <a:rPr lang="fr-FR" sz="2400" dirty="0"/>
              <a:t> pour paralléliser le calcul</a:t>
            </a:r>
            <a:r>
              <a:rPr lang="fr-FR" sz="2400" dirty="0" smtClean="0"/>
              <a:t>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 Comparer </a:t>
            </a:r>
            <a:r>
              <a:rPr lang="fr-FR" sz="2400" dirty="0"/>
              <a:t>les performances entre une solution séquentielle et la version </a:t>
            </a:r>
            <a:r>
              <a:rPr lang="fr-FR" sz="2400" b="1" dirty="0"/>
              <a:t>Fork/</a:t>
            </a:r>
            <a:r>
              <a:rPr lang="fr-FR" sz="2400" b="1" dirty="0" err="1"/>
              <a:t>Join</a:t>
            </a:r>
            <a:r>
              <a:rPr lang="fr-FR" sz="2400" dirty="0"/>
              <a:t>.</a:t>
            </a:r>
            <a:endParaRPr lang="fr-FR" dirty="0"/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fr-FR" dirty="0"/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326147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137" y="1994513"/>
            <a:ext cx="7056819" cy="342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733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b="1" dirty="0"/>
              <a:t>Les lambda en Java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(</a:t>
            </a:r>
            <a:r>
              <a:rPr lang="fr-FR" b="1" dirty="0"/>
              <a:t>JDK 8 et plus)</a:t>
            </a:r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156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Introduction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Avant Java 8, écrire du code pour gérer des comportements fonctionnels nécessitait souvent des classes anonymes. Cela conduisait à des implémentations longues et verbeuses. Exemple 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4119156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algn="ctr"/>
            <a:r>
              <a:rPr lang="fr-FR" b="1" dirty="0"/>
              <a:t>Exemple sans lambda (Java 7)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dirty="0" smtClean="0"/>
              <a:t> Exemple sans Expression Lambda</a:t>
            </a:r>
            <a:r>
              <a:rPr lang="fr-FR" dirty="0"/>
              <a:t> </a:t>
            </a:r>
            <a:r>
              <a:rPr lang="fr-FR" dirty="0" smtClean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endParaRPr lang="fr-FR" dirty="0" smtClean="0"/>
          </a:p>
          <a:p>
            <a:pPr>
              <a:buFont typeface="Wingdings" panose="05000000000000000000" pitchFamily="2" charset="2"/>
              <a:buChar char="Ø"/>
            </a:pP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endParaRPr lang="fr-FR" dirty="0" smtClean="0"/>
          </a:p>
          <a:p>
            <a:pPr>
              <a:buFont typeface="Wingdings" panose="05000000000000000000" pitchFamily="2" charset="2"/>
              <a:buChar char="Ø"/>
            </a:pP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endParaRPr lang="fr-FR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Ce style nécessitait une classe ou une instance anonyme, rendant le code plus lourd et moins lisible</a:t>
            </a:r>
            <a:r>
              <a:rPr lang="fr-FR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 </a:t>
            </a:r>
            <a:r>
              <a:rPr lang="fr-FR" dirty="0" smtClean="0"/>
              <a:t>Avec </a:t>
            </a:r>
            <a:r>
              <a:rPr lang="fr-FR" dirty="0"/>
              <a:t>Expression Lambda</a:t>
            </a:r>
            <a:r>
              <a:rPr lang="fr-FR" dirty="0" smtClean="0"/>
              <a:t> : </a:t>
            </a: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952" y="5401733"/>
            <a:ext cx="5785380" cy="5757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599" y="2556933"/>
            <a:ext cx="7687733" cy="19473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7627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Exemple 2</a:t>
            </a:r>
            <a:endParaRPr lang="fr-FR" b="1" dirty="0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97280" y="2065867"/>
            <a:ext cx="4592320" cy="38032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Espace réservé du contenu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18238" y="3031067"/>
            <a:ext cx="5550429" cy="16763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7708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Limites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lvl="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fr-FR" sz="3200" dirty="0"/>
              <a:t>Longueur excessive pour des tâches simples.</a:t>
            </a:r>
          </a:p>
          <a:p>
            <a:pPr marL="457200" lvl="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fr-FR" sz="3200" dirty="0"/>
              <a:t>Verbiage inutile.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fr-FR" sz="3200" dirty="0"/>
              <a:t>Difficulté à exprimer directement des comportements fonctionnels.</a:t>
            </a:r>
          </a:p>
        </p:txBody>
      </p:sp>
    </p:spTree>
    <p:extLst>
      <p:ext uri="{BB962C8B-B14F-4D97-AF65-F5344CB8AC3E}">
        <p14:creationId xmlns:p14="http://schemas.microsoft.com/office/powerpoint/2010/main" val="256357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Les lambda expressions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557868"/>
            <a:ext cx="10058400" cy="40233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Introduites avec </a:t>
            </a:r>
            <a:r>
              <a:rPr lang="fr-FR" sz="3200" b="1" dirty="0"/>
              <a:t>Java 8</a:t>
            </a:r>
            <a:r>
              <a:rPr lang="fr-FR" sz="3200" dirty="0"/>
              <a:t>, les </a:t>
            </a:r>
            <a:r>
              <a:rPr lang="fr-FR" sz="3200" b="1" dirty="0" err="1"/>
              <a:t>L</a:t>
            </a:r>
            <a:r>
              <a:rPr lang="fr-FR" sz="3200" b="1" dirty="0" err="1" smtClean="0"/>
              <a:t>ambdas</a:t>
            </a:r>
            <a:r>
              <a:rPr lang="fr-FR" sz="3200" dirty="0" smtClean="0"/>
              <a:t> </a:t>
            </a:r>
            <a:r>
              <a:rPr lang="fr-FR" sz="3200" dirty="0"/>
              <a:t>permettent d’écrire des fonctions anonymes de manière concise et expressive. Une lambda expression est définie par :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b="1" dirty="0"/>
              <a:t>Syntaxe de base </a:t>
            </a:r>
            <a:r>
              <a:rPr lang="fr-FR" sz="2800" b="1" dirty="0" smtClean="0"/>
              <a:t>:  </a:t>
            </a:r>
            <a:r>
              <a:rPr lang="fr-FR" sz="2800" dirty="0" smtClean="0"/>
              <a:t>(</a:t>
            </a:r>
            <a:r>
              <a:rPr lang="fr-FR" sz="2800" dirty="0"/>
              <a:t>paramètres) -&gt; { corps }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b="1" dirty="0"/>
              <a:t>Paramètres :</a:t>
            </a:r>
            <a:r>
              <a:rPr lang="fr-FR" sz="2000" dirty="0"/>
              <a:t> Liste des arguments de la méthode.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b="1" dirty="0"/>
              <a:t>Flèche (-&gt;) :</a:t>
            </a:r>
            <a:r>
              <a:rPr lang="fr-FR" sz="2000" dirty="0"/>
              <a:t> Séparateur entre les paramètres et le corps.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b="1" dirty="0"/>
              <a:t>Corps :</a:t>
            </a:r>
            <a:r>
              <a:rPr lang="fr-FR" sz="2000" dirty="0"/>
              <a:t> Contient le code exécuté (une seule ligne ou plusieurs).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1738133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Exemples simples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184401"/>
            <a:ext cx="10058399" cy="357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27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6600" b="1" dirty="0"/>
              <a:t>Les </a:t>
            </a:r>
            <a:r>
              <a:rPr lang="fr-FR" sz="6600" b="1" dirty="0" smtClean="0"/>
              <a:t>interfaces fonctionnelles</a:t>
            </a:r>
            <a:endParaRPr lang="fr-FR" sz="6600" dirty="0"/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47994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Les interfaces fonctionnelles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023360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Une </a:t>
            </a:r>
            <a:r>
              <a:rPr lang="fr-FR" sz="2800" b="1" dirty="0"/>
              <a:t>interface fonctionnelle</a:t>
            </a:r>
            <a:r>
              <a:rPr lang="fr-FR" sz="2800" dirty="0"/>
              <a:t> est une interface Java qui contient </a:t>
            </a:r>
            <a:r>
              <a:rPr lang="fr-FR" sz="2800" b="1" dirty="0"/>
              <a:t>une seule méthode abstraite</a:t>
            </a:r>
            <a:r>
              <a:rPr lang="fr-FR" sz="2800" dirty="0" smtClean="0"/>
              <a:t>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Elle peut contenir </a:t>
            </a:r>
            <a:r>
              <a:rPr lang="fr-FR" sz="2800" dirty="0" smtClean="0"/>
              <a:t>: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 Une </a:t>
            </a:r>
            <a:r>
              <a:rPr lang="fr-FR" sz="2400" dirty="0"/>
              <a:t>seule méthode </a:t>
            </a:r>
            <a:r>
              <a:rPr lang="fr-FR" sz="2400" dirty="0" smtClean="0"/>
              <a:t>abstraite*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 </a:t>
            </a:r>
            <a:r>
              <a:rPr lang="fr-FR" sz="2400" dirty="0" smtClean="0"/>
              <a:t>Plusieurs </a:t>
            </a:r>
            <a:r>
              <a:rPr lang="fr-FR" sz="2400" dirty="0"/>
              <a:t>méthodes </a:t>
            </a:r>
            <a:r>
              <a:rPr lang="fr-FR" sz="2400" b="1" dirty="0"/>
              <a:t>default</a:t>
            </a:r>
            <a:r>
              <a:rPr lang="fr-FR" sz="2400" dirty="0"/>
              <a:t> ou </a:t>
            </a:r>
            <a:r>
              <a:rPr lang="fr-FR" sz="2400" b="1" dirty="0" err="1"/>
              <a:t>static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35171610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6600" b="1" dirty="0"/>
              <a:t>Exemple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84385" y="2048720"/>
            <a:ext cx="7315200" cy="20255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4385" y="4385650"/>
            <a:ext cx="7315200" cy="134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7902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Pourquoi elles sont importantes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 Les interfaces fonctionnelles sont la base de 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</a:t>
            </a:r>
            <a:r>
              <a:rPr lang="fr-FR" sz="2800" b="1" dirty="0"/>
              <a:t>Lambda expressions (Java 8</a:t>
            </a:r>
            <a:r>
              <a:rPr lang="fr-FR" sz="2800" b="1" dirty="0" smtClean="0"/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b="1" dirty="0"/>
              <a:t> Programmation fonctionnelle en </a:t>
            </a:r>
            <a:r>
              <a:rPr lang="fr-FR" sz="2800" b="1" dirty="0" smtClean="0"/>
              <a:t>Java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b="1" dirty="0"/>
              <a:t> API </a:t>
            </a:r>
            <a:r>
              <a:rPr lang="fr-FR" sz="2800" b="1" dirty="0" err="1" smtClean="0"/>
              <a:t>Streams</a:t>
            </a:r>
            <a:endParaRPr lang="fr-FR" sz="2800" b="1" dirty="0" smtClean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b="1" dirty="0"/>
              <a:t> Programmation asynchrone (</a:t>
            </a:r>
            <a:r>
              <a:rPr lang="fr-FR" sz="2800" b="1" dirty="0" err="1"/>
              <a:t>CompletableFuture</a:t>
            </a:r>
            <a:r>
              <a:rPr lang="fr-FR" sz="28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191668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Valeur ajoutée en entreprise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800" dirty="0"/>
              <a:t> Code plus court et </a:t>
            </a:r>
            <a:r>
              <a:rPr lang="fr-FR" sz="2800" dirty="0" smtClean="0"/>
              <a:t>lisible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800" dirty="0"/>
              <a:t>Passage de comportement en </a:t>
            </a:r>
            <a:r>
              <a:rPr lang="fr-FR" sz="2800" dirty="0" smtClean="0"/>
              <a:t>paramètre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800" dirty="0" smtClean="0"/>
              <a:t>Base des </a:t>
            </a:r>
            <a:r>
              <a:rPr lang="fr-FR" sz="2800" dirty="0" err="1" smtClean="0"/>
              <a:t>Streams</a:t>
            </a:r>
            <a:r>
              <a:rPr lang="fr-FR" sz="2800" dirty="0" smtClean="0"/>
              <a:t> (très utilisé en entreprise)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800" dirty="0"/>
              <a:t>Facilite la </a:t>
            </a:r>
            <a:r>
              <a:rPr lang="fr-FR" sz="2800" dirty="0" smtClean="0"/>
              <a:t>programmation concurrente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800" dirty="0"/>
              <a:t>Réduction du code </a:t>
            </a:r>
            <a:r>
              <a:rPr lang="fr-FR" sz="2800" dirty="0" err="1"/>
              <a:t>boilerplate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70505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Code plus court et lisible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fr-FR" b="1" dirty="0"/>
              <a:t>Avant Java 8</a:t>
            </a:r>
          </a:p>
        </p:txBody>
      </p:sp>
      <p:pic>
        <p:nvPicPr>
          <p:cNvPr id="9" name="Espace réservé du contenu 8"/>
          <p:cNvPicPr>
            <a:picLocks noGrp="1" noChangeAspect="1"/>
          </p:cNvPicPr>
          <p:nvPr>
            <p:ph sz="half" idx="2"/>
          </p:nvPr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377387" y="2858947"/>
            <a:ext cx="3601879" cy="22802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Espace réservé du texte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fr-FR" b="1" dirty="0"/>
              <a:t>Avec interface fonctionnelle + lambda</a:t>
            </a:r>
          </a:p>
        </p:txBody>
      </p:sp>
      <p:pic>
        <p:nvPicPr>
          <p:cNvPr id="10" name="Espace réservé du contenu 9"/>
          <p:cNvPicPr>
            <a:picLocks noGrp="1" noChangeAspect="1"/>
          </p:cNvPicPr>
          <p:nvPr>
            <p:ph sz="quarter" idx="4"/>
          </p:nvPr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217920" y="3703899"/>
            <a:ext cx="4824328" cy="7141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Rectangle 11"/>
          <p:cNvSpPr/>
          <p:nvPr/>
        </p:nvSpPr>
        <p:spPr>
          <a:xfrm>
            <a:off x="3272492" y="5539585"/>
            <a:ext cx="52366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600" b="1" dirty="0">
                <a:solidFill>
                  <a:schemeClr val="accent2"/>
                </a:solidFill>
              </a:rPr>
              <a:t>Moins de code, plus lisible</a:t>
            </a:r>
          </a:p>
        </p:txBody>
      </p:sp>
    </p:spTree>
    <p:extLst>
      <p:ext uri="{BB962C8B-B14F-4D97-AF65-F5344CB8AC3E}">
        <p14:creationId xmlns:p14="http://schemas.microsoft.com/office/powerpoint/2010/main" val="65736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Passage de comportement en paramètre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3200" dirty="0"/>
              <a:t> On peut passer des fonctions comme arguments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70496" y="2512785"/>
            <a:ext cx="7511968" cy="26892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Rectangle 9"/>
          <p:cNvSpPr/>
          <p:nvPr/>
        </p:nvSpPr>
        <p:spPr>
          <a:xfrm>
            <a:off x="2941313" y="5430314"/>
            <a:ext cx="63703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600" b="1" dirty="0">
                <a:solidFill>
                  <a:schemeClr val="accent2"/>
                </a:solidFill>
              </a:rPr>
              <a:t>Très puissant pour la modularité</a:t>
            </a:r>
          </a:p>
        </p:txBody>
      </p:sp>
    </p:spTree>
    <p:extLst>
      <p:ext uri="{BB962C8B-B14F-4D97-AF65-F5344CB8AC3E}">
        <p14:creationId xmlns:p14="http://schemas.microsoft.com/office/powerpoint/2010/main" val="18251308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marL="457200" indent="-457200" algn="ctr">
              <a:lnSpc>
                <a:spcPct val="150000"/>
              </a:lnSpc>
            </a:pPr>
            <a:r>
              <a:rPr lang="fr-FR" b="1" dirty="0"/>
              <a:t>Base des </a:t>
            </a:r>
            <a:r>
              <a:rPr lang="fr-FR" b="1" dirty="0" err="1"/>
              <a:t>Streams</a:t>
            </a:r>
            <a:r>
              <a:rPr lang="fr-FR" b="1" dirty="0"/>
              <a:t> (très utilisé en entreprise)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50602" y="2453833"/>
            <a:ext cx="6967959" cy="19689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840375" y="5005989"/>
            <a:ext cx="86115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1" i="0" u="none" strike="noStrike" cap="none" normalizeH="0" baseline="0" smtClean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Derrière </a:t>
            </a:r>
            <a:r>
              <a:rPr kumimoji="0" lang="fr-FR" altLang="fr-FR" sz="2400" b="1" i="0" u="none" strike="noStrike" cap="none" normalizeH="0" baseline="0" smtClean="0">
                <a:ln>
                  <a:noFill/>
                </a:ln>
                <a:solidFill>
                  <a:schemeClr val="accent2"/>
                </a:solidFill>
                <a:effectLst/>
                <a:latin typeface="Arial Unicode MS"/>
              </a:rPr>
              <a:t>filter</a:t>
            </a:r>
            <a:r>
              <a:rPr kumimoji="0" lang="fr-FR" altLang="fr-FR" sz="2400" b="1" i="0" u="none" strike="noStrike" cap="none" normalizeH="0" baseline="0" smtClean="0">
                <a:ln>
                  <a:noFill/>
                </a:ln>
                <a:solidFill>
                  <a:schemeClr val="accent2"/>
                </a:solidFill>
                <a:effectLst/>
              </a:rPr>
              <a:t> → interface fonctionnelle (</a:t>
            </a:r>
            <a:r>
              <a:rPr kumimoji="0" lang="fr-FR" altLang="fr-FR" sz="2400" b="1" i="0" u="none" strike="noStrike" cap="none" normalizeH="0" baseline="0" smtClean="0">
                <a:ln>
                  <a:noFill/>
                </a:ln>
                <a:solidFill>
                  <a:schemeClr val="accent2"/>
                </a:solidFill>
                <a:effectLst/>
                <a:latin typeface="Arial Unicode MS"/>
              </a:rPr>
              <a:t>Predicate</a:t>
            </a:r>
            <a:r>
              <a:rPr kumimoji="0" lang="fr-FR" altLang="fr-FR" sz="2400" b="1" i="0" u="none" strike="noStrike" cap="none" normalizeH="0" baseline="0" smtClean="0">
                <a:ln>
                  <a:noFill/>
                </a:ln>
                <a:solidFill>
                  <a:schemeClr val="accent2"/>
                </a:solidFill>
                <a:effectLst/>
              </a:rPr>
              <a:t>) </a:t>
            </a:r>
            <a:endParaRPr kumimoji="0" lang="fr-FR" altLang="fr-FR" sz="2400" b="1" i="0" u="none" strike="noStrike" cap="none" normalizeH="0" baseline="0" smtClean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1096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457200" indent="-457200" algn="ctr">
              <a:lnSpc>
                <a:spcPct val="150000"/>
              </a:lnSpc>
            </a:pPr>
            <a:r>
              <a:rPr lang="fr-FR" b="1" dirty="0"/>
              <a:t>Facilite la programmation concurrente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5405376"/>
            <a:ext cx="10058400" cy="463717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solidFill>
                  <a:schemeClr val="accent2"/>
                </a:solidFill>
              </a:rPr>
              <a:t>Plus besoin de créer des classes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46430" y="2268637"/>
            <a:ext cx="7072132" cy="28242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750863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Réduction du code </a:t>
            </a:r>
            <a:r>
              <a:rPr lang="fr-FR" b="1" dirty="0" err="1"/>
              <a:t>boilerplate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973056"/>
            <a:ext cx="10058400" cy="402336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600" dirty="0"/>
              <a:t> Moins de classes </a:t>
            </a:r>
            <a:r>
              <a:rPr lang="fr-FR" sz="3600" dirty="0" smtClean="0"/>
              <a:t>anonymes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600" dirty="0"/>
              <a:t> </a:t>
            </a:r>
            <a:r>
              <a:rPr lang="fr-FR" sz="3600" dirty="0" smtClean="0"/>
              <a:t>Moins </a:t>
            </a:r>
            <a:r>
              <a:rPr lang="fr-FR" sz="3600" dirty="0"/>
              <a:t>de </a:t>
            </a:r>
            <a:r>
              <a:rPr lang="fr-FR" sz="3600" dirty="0" smtClean="0"/>
              <a:t>fichiers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600" dirty="0"/>
              <a:t> </a:t>
            </a:r>
            <a:r>
              <a:rPr lang="fr-FR" sz="3600" dirty="0" smtClean="0"/>
              <a:t>Code </a:t>
            </a:r>
            <a:r>
              <a:rPr lang="fr-FR" sz="3600" dirty="0"/>
              <a:t>plus moderne</a:t>
            </a:r>
          </a:p>
        </p:txBody>
      </p:sp>
    </p:spTree>
    <p:extLst>
      <p:ext uri="{BB962C8B-B14F-4D97-AF65-F5344CB8AC3E}">
        <p14:creationId xmlns:p14="http://schemas.microsoft.com/office/powerpoint/2010/main" val="2315805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b="1" dirty="0" smtClean="0"/>
              <a:t>Les interfaces </a:t>
            </a:r>
            <a:r>
              <a:rPr lang="fr-FR" b="1" dirty="0"/>
              <a:t>fonctionnelles prédéfinies</a:t>
            </a:r>
            <a:r>
              <a:rPr lang="fr-FR" b="1" dirty="0" smtClean="0"/>
              <a:t> </a:t>
            </a:r>
            <a:r>
              <a:rPr lang="fr-FR" b="1" dirty="0"/>
              <a:t>(Java 8 et plus</a:t>
            </a:r>
            <a:r>
              <a:rPr lang="fr-FR" b="1" dirty="0" smtClean="0"/>
              <a:t>)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4133" y="1845734"/>
            <a:ext cx="11040533" cy="40233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Java fournit un ensemble d’interfaces fonctionnelles prêtes à l’emploi dans le package </a:t>
            </a:r>
            <a:r>
              <a:rPr lang="fr-FR" sz="2800" b="1" dirty="0" err="1" smtClean="0"/>
              <a:t>java.util.function</a:t>
            </a:r>
            <a:r>
              <a:rPr lang="fr-FR" sz="2800" dirty="0" smtClean="0"/>
              <a:t> :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25898" y="3396368"/>
            <a:ext cx="8137002" cy="24727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116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Interfaces fonctionnelles prédéfinies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84790" y="2176041"/>
            <a:ext cx="9870890" cy="3634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30555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err="1"/>
              <a:t>Predicate</a:t>
            </a:r>
            <a:r>
              <a:rPr lang="fr-FR" b="1" dirty="0"/>
              <a:t>&lt;T&gt;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>
              <a:lnSpc>
                <a:spcPct val="150000"/>
              </a:lnSpc>
            </a:pPr>
            <a:r>
              <a:rPr lang="fr-FR" sz="2800" dirty="0" smtClean="0"/>
              <a:t> </a:t>
            </a:r>
            <a:r>
              <a:rPr lang="fr-FR" sz="2800" dirty="0"/>
              <a:t>Représente une fonction qui prend un argument et renvoie un </a:t>
            </a:r>
            <a:r>
              <a:rPr lang="fr-FR" sz="2800" dirty="0" err="1"/>
              <a:t>boolean</a:t>
            </a:r>
            <a:r>
              <a:rPr lang="fr-FR" sz="2800" dirty="0"/>
              <a:t>.</a:t>
            </a:r>
            <a:endParaRPr lang="fr-FR" sz="2000" dirty="0"/>
          </a:p>
          <a:p>
            <a:pPr lvl="1" algn="just">
              <a:lnSpc>
                <a:spcPct val="150000"/>
              </a:lnSpc>
            </a:pPr>
            <a:r>
              <a:rPr lang="fr-FR" sz="2800" dirty="0"/>
              <a:t>Méthode : </a:t>
            </a:r>
            <a:r>
              <a:rPr lang="fr-FR" sz="2800" dirty="0" err="1"/>
              <a:t>boolean</a:t>
            </a:r>
            <a:r>
              <a:rPr lang="fr-FR" sz="2800" dirty="0"/>
              <a:t> test(T t)</a:t>
            </a:r>
            <a:endParaRPr lang="fr-FR" sz="2000" dirty="0"/>
          </a:p>
          <a:p>
            <a:pPr lvl="1" algn="just">
              <a:lnSpc>
                <a:spcPct val="150000"/>
              </a:lnSpc>
            </a:pPr>
            <a:r>
              <a:rPr lang="fr-FR" sz="2800" dirty="0"/>
              <a:t>Exemple :</a:t>
            </a:r>
            <a:endParaRPr lang="fr-FR" sz="20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32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468" y="4228570"/>
            <a:ext cx="6956212" cy="142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756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Consumer&lt;T&gt;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>
              <a:lnSpc>
                <a:spcPct val="150000"/>
              </a:lnSpc>
            </a:pPr>
            <a:r>
              <a:rPr lang="fr-FR" sz="3600" dirty="0" smtClean="0"/>
              <a:t> </a:t>
            </a:r>
            <a:r>
              <a:rPr lang="fr-FR" sz="3600" dirty="0"/>
              <a:t>Accepte un argument et ne renvoie rien.</a:t>
            </a:r>
            <a:endParaRPr lang="fr-FR" sz="2800" dirty="0"/>
          </a:p>
          <a:p>
            <a:pPr lvl="1" algn="just">
              <a:lnSpc>
                <a:spcPct val="150000"/>
              </a:lnSpc>
            </a:pPr>
            <a:r>
              <a:rPr lang="fr-FR" sz="3600" dirty="0"/>
              <a:t>Méthode : </a:t>
            </a:r>
            <a:r>
              <a:rPr lang="fr-FR" sz="3600" dirty="0" err="1"/>
              <a:t>void</a:t>
            </a:r>
            <a:r>
              <a:rPr lang="fr-FR" sz="3600" dirty="0"/>
              <a:t> </a:t>
            </a:r>
            <a:r>
              <a:rPr lang="fr-FR" sz="3600" dirty="0" err="1"/>
              <a:t>accept</a:t>
            </a:r>
            <a:r>
              <a:rPr lang="fr-FR" sz="3600" dirty="0"/>
              <a:t>(T t)</a:t>
            </a:r>
            <a:endParaRPr lang="fr-FR" sz="2800" dirty="0"/>
          </a:p>
          <a:p>
            <a:pPr lvl="1" algn="just">
              <a:lnSpc>
                <a:spcPct val="150000"/>
              </a:lnSpc>
            </a:pPr>
            <a:r>
              <a:rPr lang="fr-FR" sz="3600" dirty="0"/>
              <a:t>Exemple :</a:t>
            </a:r>
            <a:endParaRPr lang="fr-FR" sz="28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40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575" y="4020608"/>
            <a:ext cx="7317105" cy="129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956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err="1"/>
              <a:t>Function</a:t>
            </a:r>
            <a:r>
              <a:rPr lang="fr-FR" b="1" dirty="0"/>
              <a:t>&lt;T, R&gt;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>
              <a:lnSpc>
                <a:spcPct val="150000"/>
              </a:lnSpc>
            </a:pPr>
            <a:r>
              <a:rPr lang="fr-FR" sz="4000" dirty="0" smtClean="0"/>
              <a:t> </a:t>
            </a:r>
            <a:r>
              <a:rPr lang="fr-FR" sz="4000" dirty="0"/>
              <a:t>Transforme un type en un autre.</a:t>
            </a:r>
            <a:endParaRPr lang="fr-FR" sz="3200" dirty="0"/>
          </a:p>
          <a:p>
            <a:pPr lvl="1" algn="just">
              <a:lnSpc>
                <a:spcPct val="150000"/>
              </a:lnSpc>
            </a:pPr>
            <a:r>
              <a:rPr lang="fr-FR" sz="4000" dirty="0"/>
              <a:t>Méthode : R </a:t>
            </a:r>
            <a:r>
              <a:rPr lang="fr-FR" sz="4000" dirty="0" err="1"/>
              <a:t>apply</a:t>
            </a:r>
            <a:r>
              <a:rPr lang="fr-FR" sz="4000" dirty="0"/>
              <a:t>(T t)</a:t>
            </a:r>
            <a:endParaRPr lang="fr-FR" sz="3200" dirty="0"/>
          </a:p>
          <a:p>
            <a:pPr lvl="1" algn="just">
              <a:lnSpc>
                <a:spcPct val="150000"/>
              </a:lnSpc>
            </a:pPr>
            <a:r>
              <a:rPr lang="fr-FR" sz="4000" dirty="0"/>
              <a:t>Exemple :</a:t>
            </a:r>
            <a:endParaRPr lang="fr-FR" sz="32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4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032" y="3988857"/>
            <a:ext cx="7163648" cy="14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140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lvl="2" algn="ctr" rtl="0">
              <a:lnSpc>
                <a:spcPct val="85000"/>
              </a:lnSpc>
              <a:spcBef>
                <a:spcPct val="0"/>
              </a:spcBef>
            </a:pPr>
            <a:r>
              <a:rPr lang="fr-FR" sz="4400" b="1" dirty="0" smtClean="0"/>
              <a:t>Supplier&lt;T&gt; </a:t>
            </a:r>
            <a:endParaRPr lang="fr-FR" sz="4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>
              <a:lnSpc>
                <a:spcPct val="150000"/>
              </a:lnSpc>
            </a:pPr>
            <a:r>
              <a:rPr lang="fr-FR" sz="4000" dirty="0" smtClean="0"/>
              <a:t> </a:t>
            </a:r>
            <a:r>
              <a:rPr lang="fr-FR" sz="4000" dirty="0"/>
              <a:t>Fournit un objet sans argument.</a:t>
            </a:r>
            <a:endParaRPr lang="fr-FR" sz="3200" dirty="0"/>
          </a:p>
          <a:p>
            <a:pPr lvl="1" algn="just">
              <a:lnSpc>
                <a:spcPct val="150000"/>
              </a:lnSpc>
            </a:pPr>
            <a:r>
              <a:rPr lang="fr-FR" sz="4000" dirty="0"/>
              <a:t>Méthode : T </a:t>
            </a:r>
            <a:r>
              <a:rPr lang="fr-FR" sz="4000" dirty="0" err="1"/>
              <a:t>get</a:t>
            </a:r>
            <a:r>
              <a:rPr lang="fr-FR" sz="4000" dirty="0"/>
              <a:t>()</a:t>
            </a:r>
            <a:endParaRPr lang="fr-FR" sz="3200" dirty="0"/>
          </a:p>
          <a:p>
            <a:pPr lvl="1" algn="just">
              <a:lnSpc>
                <a:spcPct val="150000"/>
              </a:lnSpc>
            </a:pPr>
            <a:r>
              <a:rPr lang="fr-FR" sz="4000" dirty="0"/>
              <a:t>Exemple :</a:t>
            </a:r>
            <a:endParaRPr lang="fr-FR" sz="32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4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603" y="4086225"/>
            <a:ext cx="6993997" cy="12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282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lvl="2" algn="ctr" rtl="0">
              <a:lnSpc>
                <a:spcPct val="85000"/>
              </a:lnSpc>
              <a:spcBef>
                <a:spcPct val="0"/>
              </a:spcBef>
            </a:pPr>
            <a:r>
              <a:rPr lang="fr-FR" sz="4000" b="1" dirty="0" err="1" smtClean="0"/>
              <a:t>BiFunction</a:t>
            </a:r>
            <a:r>
              <a:rPr lang="fr-FR" sz="4000" b="1" dirty="0" smtClean="0"/>
              <a:t>&lt;T, U, R&gt; </a:t>
            </a:r>
            <a:endParaRPr lang="fr-FR" sz="4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 algn="just">
              <a:lnSpc>
                <a:spcPct val="150000"/>
              </a:lnSpc>
            </a:pPr>
            <a:r>
              <a:rPr lang="fr-FR" sz="4000" dirty="0" smtClean="0"/>
              <a:t> </a:t>
            </a:r>
            <a:r>
              <a:rPr lang="fr-FR" sz="4000" dirty="0"/>
              <a:t>Prend deux arguments et renvoie une valeur.</a:t>
            </a:r>
            <a:endParaRPr lang="fr-FR" sz="3200" dirty="0"/>
          </a:p>
          <a:p>
            <a:pPr lvl="1" algn="just">
              <a:lnSpc>
                <a:spcPct val="150000"/>
              </a:lnSpc>
            </a:pPr>
            <a:r>
              <a:rPr lang="fr-FR" sz="4000" dirty="0"/>
              <a:t>Méthode : R </a:t>
            </a:r>
            <a:r>
              <a:rPr lang="fr-FR" sz="4000" dirty="0" err="1"/>
              <a:t>apply</a:t>
            </a:r>
            <a:r>
              <a:rPr lang="fr-FR" sz="4000" dirty="0"/>
              <a:t>(T </a:t>
            </a:r>
            <a:r>
              <a:rPr lang="fr-FR" sz="4000" dirty="0" err="1"/>
              <a:t>t</a:t>
            </a:r>
            <a:r>
              <a:rPr lang="fr-FR" sz="4000" dirty="0"/>
              <a:t>, U </a:t>
            </a:r>
            <a:r>
              <a:rPr lang="fr-FR" sz="4000" dirty="0" err="1"/>
              <a:t>u</a:t>
            </a:r>
            <a:r>
              <a:rPr lang="fr-FR" sz="4000" dirty="0"/>
              <a:t>)</a:t>
            </a:r>
            <a:endParaRPr lang="fr-FR" sz="3200" dirty="0"/>
          </a:p>
          <a:p>
            <a:pPr lvl="1" algn="just">
              <a:lnSpc>
                <a:spcPct val="150000"/>
              </a:lnSpc>
            </a:pPr>
            <a:r>
              <a:rPr lang="fr-FR" sz="4000" dirty="0"/>
              <a:t>Exemple :</a:t>
            </a:r>
            <a:endParaRPr lang="fr-FR" sz="32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4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367" y="4199466"/>
            <a:ext cx="7209366" cy="128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260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7200" b="1" dirty="0" smtClean="0"/>
              <a:t>À noter</a:t>
            </a:r>
            <a:endParaRPr lang="fr-FR" sz="7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600" dirty="0"/>
              <a:t> Les interfaces fonctionnelles permettent de passer du comportement comme une donnée, ce qui rend le code plus flexible, plus modulaire et plus moderne.</a:t>
            </a:r>
          </a:p>
        </p:txBody>
      </p:sp>
    </p:spTree>
    <p:extLst>
      <p:ext uri="{BB962C8B-B14F-4D97-AF65-F5344CB8AC3E}">
        <p14:creationId xmlns:p14="http://schemas.microsoft.com/office/powerpoint/2010/main" val="7556031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Paramètres d’une lambda expression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778002"/>
            <a:ext cx="10058400" cy="402336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fr-FR" sz="1600" b="1" dirty="0" smtClean="0"/>
              <a:t> </a:t>
            </a:r>
            <a:r>
              <a:rPr lang="fr-FR" b="1" dirty="0" smtClean="0"/>
              <a:t>Cas </a:t>
            </a:r>
            <a:r>
              <a:rPr lang="fr-FR" b="1" dirty="0"/>
              <a:t>simples :</a:t>
            </a:r>
            <a:endParaRPr lang="fr-FR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fr-FR" sz="2000" dirty="0" smtClean="0"/>
              <a:t> Si </a:t>
            </a:r>
            <a:r>
              <a:rPr lang="fr-FR" sz="2000" dirty="0"/>
              <a:t>une lambda a un seul paramètre, les parenthèses peuvent être omises </a:t>
            </a:r>
            <a:r>
              <a:rPr lang="fr-FR" sz="2000" dirty="0" smtClean="0"/>
              <a:t>: </a:t>
            </a:r>
            <a:r>
              <a:rPr lang="fr-FR" sz="2000" b="1" dirty="0" smtClean="0"/>
              <a:t>s </a:t>
            </a:r>
            <a:r>
              <a:rPr lang="fr-FR" sz="2000" b="1" dirty="0"/>
              <a:t>-&gt; </a:t>
            </a:r>
            <a:r>
              <a:rPr lang="fr-FR" sz="2000" b="1" dirty="0" err="1"/>
              <a:t>s.length</a:t>
            </a:r>
            <a:r>
              <a:rPr lang="fr-FR" sz="2000" b="1" dirty="0" smtClean="0"/>
              <a:t>();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b="1" dirty="0"/>
              <a:t>Cas avec plusieurs paramètres </a:t>
            </a:r>
            <a:r>
              <a:rPr lang="fr-FR" b="1" dirty="0" smtClean="0"/>
              <a:t>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fr-FR" sz="2000" dirty="0" smtClean="0"/>
              <a:t> Lorsque </a:t>
            </a:r>
            <a:r>
              <a:rPr lang="fr-FR" sz="2000" dirty="0"/>
              <a:t>plusieurs paramètres sont présents, ils doivent être entourés de parenthèses :</a:t>
            </a:r>
          </a:p>
          <a:p>
            <a:pPr algn="just"/>
            <a:r>
              <a:rPr lang="fr-FR" dirty="0"/>
              <a:t> </a:t>
            </a:r>
            <a:r>
              <a:rPr lang="fr-FR" dirty="0" smtClean="0"/>
              <a:t>	</a:t>
            </a:r>
            <a:r>
              <a:rPr lang="fr-FR" b="1" dirty="0" smtClean="0"/>
              <a:t>(</a:t>
            </a:r>
            <a:r>
              <a:rPr lang="fr-FR" b="1" dirty="0"/>
              <a:t>a, b) -&gt; a + b</a:t>
            </a:r>
            <a:r>
              <a:rPr lang="fr-FR" b="1" dirty="0" smtClean="0"/>
              <a:t>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dirty="0"/>
              <a:t> </a:t>
            </a:r>
            <a:r>
              <a:rPr lang="fr-FR" b="1" dirty="0"/>
              <a:t>Cas sans paramètres :</a:t>
            </a:r>
            <a:endParaRPr lang="fr-FR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fr-FR" sz="2000" dirty="0" smtClean="0"/>
              <a:t> Si </a:t>
            </a:r>
            <a:r>
              <a:rPr lang="fr-FR" sz="2000" dirty="0"/>
              <a:t>aucun paramètre n’est requis, utilisez une paire vide de parenthèses :</a:t>
            </a:r>
          </a:p>
          <a:p>
            <a:pPr lvl="2" algn="just"/>
            <a:r>
              <a:rPr lang="fr-FR" b="1" dirty="0"/>
              <a:t> () -&gt; </a:t>
            </a:r>
            <a:r>
              <a:rPr lang="fr-FR" b="1" dirty="0" err="1"/>
              <a:t>System.out.println</a:t>
            </a:r>
            <a:r>
              <a:rPr lang="fr-FR" b="1" dirty="0"/>
              <a:t>("Pas de paramètres </a:t>
            </a:r>
            <a:r>
              <a:rPr lang="fr-FR" b="1" dirty="0" smtClean="0"/>
              <a:t>!");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dirty="0"/>
              <a:t> </a:t>
            </a:r>
            <a:r>
              <a:rPr lang="fr-FR" b="1" dirty="0"/>
              <a:t>Déclaration des types :</a:t>
            </a:r>
            <a:endParaRPr lang="fr-FR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fr-FR" sz="2000" dirty="0"/>
              <a:t>Les types peuvent être explicites ou inférés par le compilateur :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fr-FR" sz="2000" dirty="0"/>
              <a:t> </a:t>
            </a:r>
            <a:r>
              <a:rPr lang="fr-FR" sz="2000" b="1" dirty="0"/>
              <a:t>(</a:t>
            </a:r>
            <a:r>
              <a:rPr lang="fr-FR" sz="2000" b="1" dirty="0" err="1"/>
              <a:t>int</a:t>
            </a:r>
            <a:r>
              <a:rPr lang="fr-FR" sz="2000" b="1" dirty="0"/>
              <a:t> a, </a:t>
            </a:r>
            <a:r>
              <a:rPr lang="fr-FR" sz="2000" b="1" dirty="0" err="1"/>
              <a:t>int</a:t>
            </a:r>
            <a:r>
              <a:rPr lang="fr-FR" sz="2000" b="1" dirty="0"/>
              <a:t> b) -&gt; a + b;  // Typage explicite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fr-FR" sz="2000" b="1" dirty="0"/>
              <a:t>(a, b) -&gt; a + b;          // Typage </a:t>
            </a:r>
            <a:r>
              <a:rPr lang="fr-FR" sz="2000" b="1" dirty="0" smtClean="0"/>
              <a:t>implicite</a:t>
            </a:r>
            <a:endParaRPr lang="fr-FR" sz="2000" b="1" dirty="0"/>
          </a:p>
          <a:p>
            <a:pPr lvl="1" algn="just">
              <a:buFont typeface="Wingdings" panose="05000000000000000000" pitchFamily="2" charset="2"/>
              <a:buChar char="Ø"/>
            </a:pPr>
            <a:endParaRPr lang="fr-FR" sz="1400" dirty="0"/>
          </a:p>
          <a:p>
            <a:pPr algn="just">
              <a:buFont typeface="Wingdings" panose="05000000000000000000" pitchFamily="2" charset="2"/>
              <a:buChar char="Ø"/>
            </a:pPr>
            <a:endParaRPr lang="fr-FR" sz="1200" dirty="0"/>
          </a:p>
          <a:p>
            <a:pPr lvl="1" algn="just">
              <a:buFont typeface="Wingdings" panose="05000000000000000000" pitchFamily="2" charset="2"/>
              <a:buChar char="Ø"/>
            </a:pPr>
            <a:endParaRPr lang="fr-FR" sz="1400" dirty="0"/>
          </a:p>
          <a:p>
            <a:pPr lvl="1" algn="just">
              <a:buFont typeface="Wingdings" panose="05000000000000000000" pitchFamily="2" charset="2"/>
              <a:buChar char="Ø"/>
            </a:pPr>
            <a:endParaRPr lang="fr-FR" sz="1400" b="1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481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Cas d’utilisation des lambda expressions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4800" dirty="0" smtClean="0"/>
              <a:t> </a:t>
            </a:r>
            <a:r>
              <a:rPr lang="fr-FR" sz="4800" b="1" dirty="0"/>
              <a:t>Tri simplifié </a:t>
            </a:r>
            <a:endParaRPr lang="fr-FR" sz="4800" b="1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fr-FR" sz="4800" b="1" dirty="0"/>
              <a:t> Parcourir et afficher </a:t>
            </a:r>
            <a:endParaRPr lang="fr-FR" sz="4800" b="1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fr-FR" sz="4800" b="1" dirty="0"/>
              <a:t> Filtrage</a:t>
            </a:r>
            <a:endParaRPr lang="fr-FR" sz="4800" dirty="0"/>
          </a:p>
        </p:txBody>
      </p:sp>
    </p:spTree>
    <p:extLst>
      <p:ext uri="{BB962C8B-B14F-4D97-AF65-F5344CB8AC3E}">
        <p14:creationId xmlns:p14="http://schemas.microsoft.com/office/powerpoint/2010/main" val="2488881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 Tri simplifié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3600" dirty="0" smtClean="0"/>
              <a:t> </a:t>
            </a:r>
            <a:r>
              <a:rPr lang="fr-FR" sz="3600" dirty="0"/>
              <a:t>Avec Java 8, trier une liste devient plus lisible :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36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667" y="2785532"/>
            <a:ext cx="7789333" cy="170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492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Parcourir et afficher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7867" y="3022599"/>
            <a:ext cx="9597813" cy="158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600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Filtrage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760134"/>
            <a:ext cx="10058400" cy="215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530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Les références de méthode dans les lambda expressions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600" dirty="0" smtClean="0"/>
              <a:t> </a:t>
            </a:r>
            <a:r>
              <a:rPr lang="fr-FR" sz="3600" dirty="0"/>
              <a:t>Les </a:t>
            </a:r>
            <a:r>
              <a:rPr lang="fr-FR" sz="3600" b="1" dirty="0"/>
              <a:t>références de méthode</a:t>
            </a:r>
            <a:r>
              <a:rPr lang="fr-FR" sz="3600" dirty="0"/>
              <a:t> sont une forme raccourcie des </a:t>
            </a:r>
            <a:r>
              <a:rPr lang="fr-FR" sz="3600" b="1" dirty="0" err="1"/>
              <a:t>lambdas</a:t>
            </a:r>
            <a:r>
              <a:rPr lang="fr-FR" sz="3600" dirty="0"/>
              <a:t> pour appeler directement une méthode existante.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1216545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Types de références de méthode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b="1" dirty="0"/>
              <a:t>Référence à une méthode </a:t>
            </a:r>
            <a:r>
              <a:rPr lang="fr-FR" sz="2800" b="1" dirty="0" smtClean="0"/>
              <a:t>statique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b="1" dirty="0"/>
              <a:t> Référence à une méthode d’instance d’un objet </a:t>
            </a:r>
            <a:r>
              <a:rPr lang="fr-FR" sz="2800" b="1" dirty="0" smtClean="0"/>
              <a:t>particulier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b="1" dirty="0"/>
              <a:t> Référence à une méthode d’instance d’un objet </a:t>
            </a:r>
            <a:r>
              <a:rPr lang="fr-FR" sz="2800" b="1" dirty="0" smtClean="0"/>
              <a:t>arbitraire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b="1" dirty="0"/>
              <a:t> Référence à un constructeur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77173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Référence à une méthode statique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8000" y="2794000"/>
            <a:ext cx="8822267" cy="176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166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b="1" dirty="0"/>
              <a:t> Référence à une méthode d’instance d’un objet </a:t>
            </a:r>
            <a:r>
              <a:rPr lang="fr-FR" b="1" dirty="0" smtClean="0"/>
              <a:t>particulier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3048000"/>
            <a:ext cx="10058400" cy="17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913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b="1" dirty="0"/>
              <a:t> Référence à une méthode d’instance d’un objet </a:t>
            </a:r>
            <a:r>
              <a:rPr lang="fr-FR" b="1" dirty="0" smtClean="0"/>
              <a:t>arbitraire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794001"/>
            <a:ext cx="10058400" cy="193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87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 Référence à un </a:t>
            </a:r>
            <a:r>
              <a:rPr lang="fr-FR" b="1" dirty="0" smtClean="0"/>
              <a:t>constructeur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945872"/>
            <a:ext cx="10058399" cy="171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245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Conclusion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4000" dirty="0" smtClean="0"/>
              <a:t> </a:t>
            </a:r>
            <a:r>
              <a:rPr lang="fr-FR" sz="4000" dirty="0"/>
              <a:t>Les </a:t>
            </a:r>
            <a:r>
              <a:rPr lang="fr-FR" sz="4000" b="1" dirty="0" err="1"/>
              <a:t>lambdas</a:t>
            </a:r>
            <a:r>
              <a:rPr lang="fr-FR" sz="4000" dirty="0"/>
              <a:t> révolutionnent la manière d’écrire du code en Java, rendant les développements plus expressifs et concis. </a:t>
            </a:r>
          </a:p>
        </p:txBody>
      </p:sp>
    </p:spTree>
    <p:extLst>
      <p:ext uri="{BB962C8B-B14F-4D97-AF65-F5344CB8AC3E}">
        <p14:creationId xmlns:p14="http://schemas.microsoft.com/office/powerpoint/2010/main" val="924788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Atelier 2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b="1" dirty="0">
                <a:solidFill>
                  <a:srgbClr val="FF0000"/>
                </a:solidFill>
              </a:rPr>
              <a:t>Étape 1</a:t>
            </a:r>
            <a:r>
              <a:rPr lang="fr-FR" sz="2400" b="1" dirty="0"/>
              <a:t> : Création d'une liste de </a:t>
            </a:r>
            <a:r>
              <a:rPr lang="fr-FR" sz="2400" b="1" dirty="0" smtClean="0"/>
              <a:t>nombres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rgbClr val="FF0000"/>
                </a:solidFill>
              </a:rPr>
              <a:t> </a:t>
            </a:r>
            <a:r>
              <a:rPr lang="fr-FR" sz="2400" b="1" dirty="0" smtClean="0">
                <a:solidFill>
                  <a:srgbClr val="FF0000"/>
                </a:solidFill>
              </a:rPr>
              <a:t>Etape 2</a:t>
            </a:r>
            <a:r>
              <a:rPr lang="fr-FR" sz="2400" b="1" dirty="0" smtClean="0"/>
              <a:t>: Développement des fonctions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/>
              <a:t> </a:t>
            </a:r>
            <a:r>
              <a:rPr lang="fr-FR" sz="2400" b="1" dirty="0">
                <a:solidFill>
                  <a:srgbClr val="FF0000"/>
                </a:solidFill>
              </a:rPr>
              <a:t>Étape </a:t>
            </a:r>
            <a:r>
              <a:rPr lang="fr-FR" sz="2400" b="1" dirty="0" smtClean="0">
                <a:solidFill>
                  <a:srgbClr val="FF0000"/>
                </a:solidFill>
              </a:rPr>
              <a:t>3</a:t>
            </a:r>
            <a:r>
              <a:rPr lang="fr-FR" sz="2400" b="1" dirty="0" smtClean="0"/>
              <a:t> </a:t>
            </a:r>
            <a:r>
              <a:rPr lang="fr-FR" sz="2400" b="1" dirty="0"/>
              <a:t>: Utilisation des interfaces fonctionnelles </a:t>
            </a:r>
            <a:r>
              <a:rPr lang="fr-FR" sz="2400" b="1" dirty="0" smtClean="0"/>
              <a:t>fournies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rgbClr val="FF0000"/>
                </a:solidFill>
              </a:rPr>
              <a:t> Étape </a:t>
            </a:r>
            <a:r>
              <a:rPr lang="fr-FR" sz="2400" b="1" dirty="0" smtClean="0">
                <a:solidFill>
                  <a:srgbClr val="FF0000"/>
                </a:solidFill>
              </a:rPr>
              <a:t>4 </a:t>
            </a:r>
            <a:r>
              <a:rPr lang="fr-FR" sz="2400" b="1" dirty="0"/>
              <a:t>: Création d'une interface fonctionnelle </a:t>
            </a:r>
            <a:r>
              <a:rPr lang="fr-FR" sz="2400" b="1" dirty="0" smtClean="0"/>
              <a:t>personnalisée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/>
              <a:t> </a:t>
            </a:r>
            <a:r>
              <a:rPr lang="fr-FR" sz="2400" b="1" dirty="0">
                <a:solidFill>
                  <a:srgbClr val="FF0000"/>
                </a:solidFill>
              </a:rPr>
              <a:t>Étape </a:t>
            </a:r>
            <a:r>
              <a:rPr lang="fr-FR" sz="2400" b="1" dirty="0" smtClean="0">
                <a:solidFill>
                  <a:srgbClr val="FF0000"/>
                </a:solidFill>
              </a:rPr>
              <a:t>5</a:t>
            </a:r>
            <a:r>
              <a:rPr lang="fr-FR" sz="2400" b="1" dirty="0" smtClean="0"/>
              <a:t> </a:t>
            </a:r>
            <a:r>
              <a:rPr lang="fr-FR" sz="2400" b="1" dirty="0"/>
              <a:t>: Utilisation des lambda expressions sous différentes </a:t>
            </a:r>
            <a:r>
              <a:rPr lang="fr-FR" sz="2400" b="1" dirty="0" smtClean="0"/>
              <a:t>formes 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607586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ctr"/>
            <a:r>
              <a:rPr lang="fr-FR" sz="6000" b="1" dirty="0" smtClean="0"/>
              <a:t>Etape 1</a:t>
            </a:r>
            <a:br>
              <a:rPr lang="fr-FR" sz="6000" b="1" dirty="0" smtClean="0"/>
            </a:br>
            <a:r>
              <a:rPr lang="fr-FR" sz="3600" b="1" dirty="0" smtClean="0">
                <a:solidFill>
                  <a:srgbClr val="00B0F0"/>
                </a:solidFill>
              </a:rPr>
              <a:t>Création d’une interface fonctionnelle et </a:t>
            </a:r>
            <a:r>
              <a:rPr lang="fr-FR" sz="3600" b="1" dirty="0">
                <a:solidFill>
                  <a:srgbClr val="00B0F0"/>
                </a:solidFill>
              </a:rPr>
              <a:t>d'une liste de nombres</a:t>
            </a:r>
            <a:endParaRPr lang="fr-FR" sz="4400" b="1" dirty="0">
              <a:solidFill>
                <a:srgbClr val="00B0F0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267" y="2011362"/>
            <a:ext cx="7366000" cy="16801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529" y="4411662"/>
            <a:ext cx="7991475" cy="12779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6966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b="1" dirty="0" smtClean="0"/>
              <a:t>Etape 2:</a:t>
            </a:r>
            <a:br>
              <a:rPr lang="fr-FR" b="1" dirty="0" smtClean="0"/>
            </a:br>
            <a:r>
              <a:rPr lang="fr-FR" b="1" dirty="0"/>
              <a:t>Développement des </a:t>
            </a:r>
            <a:r>
              <a:rPr lang="fr-FR" b="1" dirty="0" smtClean="0"/>
              <a:t>fonctions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dirty="0" smtClean="0"/>
              <a:t> </a:t>
            </a:r>
            <a:r>
              <a:rPr lang="fr-FR" sz="3200" b="1" dirty="0"/>
              <a:t>Méthode pour filtrer une liste avec un </a:t>
            </a:r>
            <a:r>
              <a:rPr lang="fr-FR" sz="3200" b="1" dirty="0" err="1" smtClean="0">
                <a:solidFill>
                  <a:srgbClr val="FF0000"/>
                </a:solidFill>
              </a:rPr>
              <a:t>Predicate</a:t>
            </a:r>
            <a:endParaRPr lang="fr-FR" sz="3200" b="1" dirty="0" smtClean="0">
              <a:solidFill>
                <a:srgbClr val="FF0000"/>
              </a:solidFill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b="1" dirty="0"/>
              <a:t> Méthode pour transformer une liste avec une </a:t>
            </a:r>
            <a:r>
              <a:rPr lang="fr-FR" sz="3200" b="1" dirty="0" err="1" smtClean="0">
                <a:solidFill>
                  <a:srgbClr val="FF0000"/>
                </a:solidFill>
              </a:rPr>
              <a:t>Function</a:t>
            </a:r>
            <a:endParaRPr lang="fr-FR" sz="3200" b="1" dirty="0" smtClean="0">
              <a:solidFill>
                <a:srgbClr val="FF0000"/>
              </a:solidFill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b="1" dirty="0"/>
              <a:t> Méthode pour traiter une liste avec un </a:t>
            </a:r>
            <a:r>
              <a:rPr lang="fr-FR" sz="3200" b="1" dirty="0">
                <a:solidFill>
                  <a:srgbClr val="FF0000"/>
                </a:solidFill>
              </a:rPr>
              <a:t>Consumer</a:t>
            </a:r>
            <a:endParaRPr lang="fr-FR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228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000" b="1" dirty="0"/>
              <a:t>Méthode pour filtrer une liste avec un </a:t>
            </a:r>
            <a:r>
              <a:rPr lang="fr-FR" sz="4000" b="1" dirty="0" err="1">
                <a:solidFill>
                  <a:srgbClr val="FF0000"/>
                </a:solidFill>
              </a:rPr>
              <a:t>Predicate</a:t>
            </a:r>
            <a:endParaRPr lang="fr-FR" sz="40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353733"/>
            <a:ext cx="10058400" cy="29125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59169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3600" b="1" dirty="0"/>
              <a:t>Méthode pour transformer une liste avec une </a:t>
            </a:r>
            <a:r>
              <a:rPr lang="fr-FR" sz="3600" b="1" dirty="0" err="1">
                <a:solidFill>
                  <a:srgbClr val="FF0000"/>
                </a:solidFill>
              </a:rPr>
              <a:t>Function</a:t>
            </a:r>
            <a:endParaRPr lang="fr-FR" sz="36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319868"/>
            <a:ext cx="10058399" cy="25569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515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000" b="1" dirty="0"/>
              <a:t>Méthode pour traiter une liste avec un </a:t>
            </a:r>
            <a:r>
              <a:rPr lang="fr-FR" sz="4000" b="1" dirty="0">
                <a:solidFill>
                  <a:srgbClr val="FF0000"/>
                </a:solidFill>
              </a:rPr>
              <a:t>Consumer</a:t>
            </a:r>
            <a:endParaRPr lang="fr-FR" sz="40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438401"/>
            <a:ext cx="10197253" cy="24214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7817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b="1" dirty="0"/>
              <a:t>Etape </a:t>
            </a:r>
            <a:r>
              <a:rPr lang="fr-FR" b="1" dirty="0" smtClean="0"/>
              <a:t>3</a:t>
            </a:r>
            <a:br>
              <a:rPr lang="fr-FR" b="1" dirty="0" smtClean="0"/>
            </a:br>
            <a:r>
              <a:rPr lang="fr-FR" sz="4000" b="1" dirty="0">
                <a:solidFill>
                  <a:srgbClr val="00B0F0"/>
                </a:solidFill>
              </a:rPr>
              <a:t>Utilisation des interfaces fonctionnelles fournies</a:t>
            </a:r>
            <a:endParaRPr lang="fr-FR" sz="2700" dirty="0">
              <a:solidFill>
                <a:srgbClr val="00B0F0"/>
              </a:solidFill>
            </a:endParaRP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846263"/>
            <a:ext cx="10058400" cy="43513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0358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b="1" dirty="0"/>
              <a:t>Etape </a:t>
            </a:r>
            <a:r>
              <a:rPr lang="fr-FR" b="1" dirty="0" smtClean="0"/>
              <a:t>4</a:t>
            </a:r>
            <a:br>
              <a:rPr lang="fr-FR" b="1" dirty="0" smtClean="0"/>
            </a:br>
            <a:r>
              <a:rPr lang="fr-FR" sz="3600" b="1" dirty="0">
                <a:solidFill>
                  <a:srgbClr val="00B0F0"/>
                </a:solidFill>
              </a:rPr>
              <a:t>Création d'une interface fonctionnelle personnalisée</a:t>
            </a:r>
            <a:endParaRPr lang="fr-FR" sz="2700" dirty="0">
              <a:solidFill>
                <a:srgbClr val="00B0F0"/>
              </a:solidFill>
            </a:endParaRP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8267" y="2302933"/>
            <a:ext cx="10207413" cy="2336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0162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b="1" dirty="0" smtClean="0"/>
              <a:t>Etape 5</a:t>
            </a:r>
            <a:endParaRPr lang="fr-FR" sz="1800" dirty="0">
              <a:solidFill>
                <a:srgbClr val="00B0F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b="1" dirty="0">
                <a:solidFill>
                  <a:srgbClr val="00B0F0"/>
                </a:solidFill>
              </a:rPr>
              <a:t>Utilisation des lambda expressions sous différentes </a:t>
            </a:r>
            <a:r>
              <a:rPr lang="fr-FR" sz="2800" b="1" dirty="0" smtClean="0">
                <a:solidFill>
                  <a:srgbClr val="00B0F0"/>
                </a:solidFill>
              </a:rPr>
              <a:t>formes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 smtClean="0">
                <a:solidFill>
                  <a:srgbClr val="00B0F0"/>
                </a:solidFill>
              </a:rPr>
              <a:t> </a:t>
            </a:r>
            <a:r>
              <a:rPr lang="fr-FR" sz="2400" b="1" dirty="0"/>
              <a:t>Lambda </a:t>
            </a:r>
            <a:r>
              <a:rPr lang="fr-FR" sz="2400" b="1" dirty="0" smtClean="0"/>
              <a:t>concise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/>
              <a:t> Lambda </a:t>
            </a:r>
            <a:r>
              <a:rPr lang="fr-FR" sz="2400" b="1" dirty="0" smtClean="0"/>
              <a:t>complète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/>
              <a:t> Méthode de </a:t>
            </a:r>
            <a:r>
              <a:rPr lang="fr-FR" sz="2400" b="1" dirty="0" smtClean="0"/>
              <a:t>référence</a:t>
            </a:r>
          </a:p>
        </p:txBody>
      </p:sp>
    </p:spTree>
    <p:extLst>
      <p:ext uri="{BB962C8B-B14F-4D97-AF65-F5344CB8AC3E}">
        <p14:creationId xmlns:p14="http://schemas.microsoft.com/office/powerpoint/2010/main" val="1586103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Lambda concise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895600"/>
            <a:ext cx="10058399" cy="15070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7966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lvl="1" algn="ctr" rtl="0">
              <a:lnSpc>
                <a:spcPct val="85000"/>
              </a:lnSpc>
              <a:spcBef>
                <a:spcPct val="0"/>
              </a:spcBef>
            </a:pPr>
            <a:r>
              <a:rPr lang="fr-FR" sz="4400" b="1" dirty="0" smtClean="0"/>
              <a:t>Lambda complète</a:t>
            </a:r>
            <a:endParaRPr lang="fr-FR" sz="36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709333"/>
            <a:ext cx="10058399" cy="22013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7881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Méthode de référence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8266" y="2895600"/>
            <a:ext cx="10207413" cy="1473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1410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Conclusion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Les </a:t>
            </a:r>
            <a:r>
              <a:rPr lang="fr-FR" sz="2800" b="1" dirty="0" err="1" smtClean="0"/>
              <a:t>Lambdas</a:t>
            </a:r>
            <a:r>
              <a:rPr lang="fr-FR" sz="2800" dirty="0" smtClean="0"/>
              <a:t> </a:t>
            </a:r>
            <a:r>
              <a:rPr lang="fr-FR" sz="2800" dirty="0"/>
              <a:t>apportent une </a:t>
            </a:r>
            <a:r>
              <a:rPr lang="fr-FR" sz="2800" b="1" dirty="0"/>
              <a:t>syntaxe concise</a:t>
            </a:r>
            <a:r>
              <a:rPr lang="fr-FR" sz="2800" dirty="0"/>
              <a:t>, améliorent la </a:t>
            </a:r>
            <a:r>
              <a:rPr lang="fr-FR" sz="2800" b="1" dirty="0"/>
              <a:t>lisibilité</a:t>
            </a:r>
            <a:r>
              <a:rPr lang="fr-FR" sz="2800" dirty="0"/>
              <a:t> et facilitent la </a:t>
            </a:r>
            <a:r>
              <a:rPr lang="fr-FR" sz="2800" b="1" dirty="0"/>
              <a:t>programmation fonctionnelle</a:t>
            </a:r>
            <a:r>
              <a:rPr lang="fr-FR" sz="2800" dirty="0"/>
              <a:t> en Java. Associées aux </a:t>
            </a:r>
            <a:r>
              <a:rPr lang="fr-FR" sz="2800" b="1" dirty="0"/>
              <a:t>interfaces fonctionnelles</a:t>
            </a:r>
            <a:r>
              <a:rPr lang="fr-FR" sz="2800" dirty="0"/>
              <a:t>, elles ouvrent la voie à une programmation plus expressive, modulaire et moderne.</a:t>
            </a:r>
          </a:p>
        </p:txBody>
      </p:sp>
    </p:spTree>
    <p:extLst>
      <p:ext uri="{BB962C8B-B14F-4D97-AF65-F5344CB8AC3E}">
        <p14:creationId xmlns:p14="http://schemas.microsoft.com/office/powerpoint/2010/main" val="3546274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Exercice 1 Trier une liste avec lambda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600" dirty="0"/>
              <a:t> Créez une liste de chaînes (ex : </a:t>
            </a:r>
            <a:r>
              <a:rPr lang="fr-FR" sz="3600" b="1" dirty="0"/>
              <a:t>noms</a:t>
            </a:r>
            <a:r>
              <a:rPr lang="fr-FR" sz="3600" dirty="0"/>
              <a:t> </a:t>
            </a:r>
            <a:r>
              <a:rPr lang="fr-FR" sz="3600" b="1" dirty="0"/>
              <a:t>de</a:t>
            </a:r>
            <a:r>
              <a:rPr lang="fr-FR" sz="3600" dirty="0"/>
              <a:t> </a:t>
            </a:r>
            <a:r>
              <a:rPr lang="fr-FR" sz="3600" b="1" dirty="0"/>
              <a:t>personnes</a:t>
            </a:r>
            <a:r>
              <a:rPr lang="fr-FR" sz="3600" dirty="0"/>
              <a:t>), puis utilisez une expression lambda pour trier cette liste par ordre alphabétique inverse.</a:t>
            </a:r>
          </a:p>
        </p:txBody>
      </p:sp>
    </p:spTree>
    <p:extLst>
      <p:ext uri="{BB962C8B-B14F-4D97-AF65-F5344CB8AC3E}">
        <p14:creationId xmlns:p14="http://schemas.microsoft.com/office/powerpoint/2010/main" val="417283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Correction</a:t>
            </a:r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4302" y="2181339"/>
            <a:ext cx="6764356" cy="27872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5030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Exercice 2</a:t>
            </a:r>
            <a:r>
              <a:rPr lang="fr-FR" b="1" dirty="0" smtClean="0"/>
              <a:t> </a:t>
            </a:r>
            <a:r>
              <a:rPr lang="fr-FR" b="1" dirty="0"/>
              <a:t>Référence de méthode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 Utilisez une référence de méthode pour imprimer chaque élément dune liste de chaînes (au lieu de </a:t>
            </a:r>
            <a:r>
              <a:rPr lang="fr-FR" sz="3200" b="1" dirty="0" err="1"/>
              <a:t>System.out.println</a:t>
            </a:r>
            <a:r>
              <a:rPr lang="fr-FR" sz="3200" dirty="0"/>
              <a:t> dans une lambda).</a:t>
            </a:r>
          </a:p>
        </p:txBody>
      </p:sp>
    </p:spTree>
    <p:extLst>
      <p:ext uri="{BB962C8B-B14F-4D97-AF65-F5344CB8AC3E}">
        <p14:creationId xmlns:p14="http://schemas.microsoft.com/office/powerpoint/2010/main" val="191502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Correction</a:t>
            </a:r>
            <a:endParaRPr lang="fr-FR" b="1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0665" y="2831335"/>
            <a:ext cx="8317735" cy="18067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9891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000" b="1" dirty="0"/>
              <a:t>Exercice 3 Utiliser </a:t>
            </a:r>
            <a:r>
              <a:rPr lang="fr-FR" sz="4000" b="1" dirty="0" err="1"/>
              <a:t>Predicate</a:t>
            </a:r>
            <a:r>
              <a:rPr lang="fr-FR" sz="4000" b="1" dirty="0"/>
              <a:t> pour filtrer une liste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 Utilisez un </a:t>
            </a:r>
            <a:r>
              <a:rPr lang="fr-FR" sz="3200" b="1" dirty="0" err="1"/>
              <a:t>Predicate</a:t>
            </a:r>
            <a:r>
              <a:rPr lang="fr-FR" sz="3200" dirty="0"/>
              <a:t> pour filtrer une liste de chaînes et conserver uniquement celles de </a:t>
            </a:r>
            <a:r>
              <a:rPr lang="fr-FR" sz="3200" b="1" dirty="0"/>
              <a:t>longueur &gt; 3</a:t>
            </a:r>
            <a:r>
              <a:rPr lang="fr-FR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360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Correction</a:t>
            </a:r>
            <a:endParaRPr lang="fr-FR" b="1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0839" y="2181340"/>
            <a:ext cx="9954841" cy="35804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34751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b="1" dirty="0"/>
              <a:t>Les </a:t>
            </a:r>
            <a:r>
              <a:rPr lang="fr-FR" b="1" dirty="0" err="1"/>
              <a:t>streams</a:t>
            </a:r>
            <a:r>
              <a:rPr lang="fr-FR" b="1" dirty="0"/>
              <a:t>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(</a:t>
            </a:r>
            <a:r>
              <a:rPr lang="fr-FR" b="1" dirty="0"/>
              <a:t>JDK 8 et plus)</a:t>
            </a:r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5412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Présentation générale des </a:t>
            </a:r>
            <a:r>
              <a:rPr lang="fr-FR" b="1" dirty="0" err="1"/>
              <a:t>streams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3200" dirty="0" smtClean="0"/>
              <a:t> </a:t>
            </a:r>
            <a:r>
              <a:rPr lang="fr-FR" sz="3200" dirty="0"/>
              <a:t>Les </a:t>
            </a:r>
            <a:r>
              <a:rPr lang="fr-FR" sz="3200" b="1" dirty="0" err="1"/>
              <a:t>streams</a:t>
            </a:r>
            <a:r>
              <a:rPr lang="fr-FR" sz="3200" dirty="0"/>
              <a:t> sont une nouvelle abstraction introduite en </a:t>
            </a:r>
            <a:r>
              <a:rPr lang="fr-FR" sz="3200" b="1" dirty="0"/>
              <a:t>Java 8</a:t>
            </a:r>
            <a:r>
              <a:rPr lang="fr-FR" sz="3200" dirty="0"/>
              <a:t> pour manipuler des collections de données. Contrairement aux collections classiques, un </a:t>
            </a:r>
            <a:r>
              <a:rPr lang="fr-FR" sz="3200" b="1" dirty="0" err="1"/>
              <a:t>stream</a:t>
            </a:r>
            <a:r>
              <a:rPr lang="fr-FR" sz="3200" dirty="0"/>
              <a:t> permet d’effectuer des opérations enchaînées et souvent paresseuses (</a:t>
            </a:r>
            <a:r>
              <a:rPr lang="fr-FR" sz="3200" b="1" dirty="0" err="1"/>
              <a:t>lazy</a:t>
            </a:r>
            <a:r>
              <a:rPr lang="fr-FR" sz="3200" dirty="0"/>
              <a:t>) sur les données, tout en respectant une approche fonctionnelle.</a:t>
            </a:r>
          </a:p>
        </p:txBody>
      </p:sp>
    </p:spTree>
    <p:extLst>
      <p:ext uri="{BB962C8B-B14F-4D97-AF65-F5344CB8AC3E}">
        <p14:creationId xmlns:p14="http://schemas.microsoft.com/office/powerpoint/2010/main" val="3930686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Caractéristiques principales des </a:t>
            </a:r>
            <a:r>
              <a:rPr lang="fr-FR" b="1" dirty="0" err="1"/>
              <a:t>streams</a:t>
            </a:r>
            <a:r>
              <a:rPr lang="fr-FR" b="1" dirty="0"/>
              <a:t>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781973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 </a:t>
            </a:r>
            <a:r>
              <a:rPr lang="fr-FR" sz="2400" b="1" dirty="0" smtClean="0"/>
              <a:t>Pas </a:t>
            </a:r>
            <a:r>
              <a:rPr lang="fr-FR" sz="2400" b="1" dirty="0"/>
              <a:t>de stockage de données </a:t>
            </a:r>
            <a:r>
              <a:rPr lang="fr-FR" sz="2400" dirty="0"/>
              <a:t>: Un </a:t>
            </a:r>
            <a:r>
              <a:rPr lang="fr-FR" sz="2400" dirty="0" err="1"/>
              <a:t>stream</a:t>
            </a:r>
            <a:r>
              <a:rPr lang="fr-FR" sz="2400" dirty="0"/>
              <a:t> ne stocke pas de données, il traite les données d’une source (liste, tableau, fichier, etc.).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b="1" dirty="0" smtClean="0"/>
              <a:t>Opérations </a:t>
            </a:r>
            <a:r>
              <a:rPr lang="fr-FR" sz="2400" b="1" dirty="0"/>
              <a:t>paresseuses </a:t>
            </a:r>
            <a:r>
              <a:rPr lang="fr-FR" sz="2400" dirty="0"/>
              <a:t>: Les opérations intermédiaires ne sont exécutées que lorsqu’une opération terminale est appelée.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b="1" dirty="0" smtClean="0"/>
              <a:t>Immutabilité</a:t>
            </a:r>
            <a:r>
              <a:rPr lang="fr-FR" sz="2400" dirty="0" smtClean="0"/>
              <a:t> </a:t>
            </a:r>
            <a:r>
              <a:rPr lang="fr-FR" sz="2400" dirty="0"/>
              <a:t>: Les </a:t>
            </a:r>
            <a:r>
              <a:rPr lang="fr-FR" sz="2400" dirty="0" err="1"/>
              <a:t>streams</a:t>
            </a:r>
            <a:r>
              <a:rPr lang="fr-FR" sz="2400" dirty="0"/>
              <a:t> ne modifient pas la source des données.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b="1" dirty="0" smtClean="0"/>
              <a:t>Support </a:t>
            </a:r>
            <a:r>
              <a:rPr lang="fr-FR" sz="2400" b="1" dirty="0"/>
              <a:t>pour le parallélisme </a:t>
            </a:r>
            <a:r>
              <a:rPr lang="fr-FR" sz="2400" dirty="0"/>
              <a:t>: Les </a:t>
            </a:r>
            <a:r>
              <a:rPr lang="fr-FR" sz="2400" dirty="0" err="1"/>
              <a:t>streams</a:t>
            </a:r>
            <a:r>
              <a:rPr lang="fr-FR" sz="2400" dirty="0"/>
              <a:t> peuvent être parallèles pour tirer parti des processeurs </a:t>
            </a:r>
            <a:r>
              <a:rPr lang="fr-FR" sz="2400" dirty="0" err="1"/>
              <a:t>multicœurs</a:t>
            </a:r>
            <a:r>
              <a:rPr lang="fr-FR" sz="2400" dirty="0"/>
              <a:t>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b="1" dirty="0" smtClean="0"/>
              <a:t>Traitement </a:t>
            </a:r>
            <a:r>
              <a:rPr lang="fr-FR" sz="2400" b="1" dirty="0"/>
              <a:t>fonctionnel </a:t>
            </a:r>
            <a:r>
              <a:rPr lang="fr-FR" sz="2400" dirty="0"/>
              <a:t>: Les </a:t>
            </a:r>
            <a:r>
              <a:rPr lang="fr-FR" sz="2400" dirty="0" err="1"/>
              <a:t>streams</a:t>
            </a:r>
            <a:r>
              <a:rPr lang="fr-FR" sz="2400" dirty="0"/>
              <a:t> utilisent des </a:t>
            </a:r>
            <a:r>
              <a:rPr lang="fr-FR" sz="2400" dirty="0" err="1"/>
              <a:t>lambdas</a:t>
            </a:r>
            <a:r>
              <a:rPr lang="fr-FR" sz="2400" dirty="0"/>
              <a:t> et des interfaces fonctionnelles pour effectuer des tâches comme le filtrage, le tri, ou la transformation.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190104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Créer des </a:t>
            </a:r>
            <a:r>
              <a:rPr lang="fr-FR" b="1" dirty="0" err="1"/>
              <a:t>streams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524000"/>
            <a:ext cx="10058400" cy="4023360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dirty="0" smtClean="0"/>
              <a:t> </a:t>
            </a:r>
            <a:r>
              <a:rPr lang="fr-FR" sz="3200" dirty="0"/>
              <a:t>Un </a:t>
            </a:r>
            <a:r>
              <a:rPr lang="fr-FR" sz="3200" b="1" dirty="0" err="1"/>
              <a:t>stream</a:t>
            </a:r>
            <a:r>
              <a:rPr lang="fr-FR" sz="3200" dirty="0"/>
              <a:t> peut être créé à partir de plusieurs sources :</a:t>
            </a: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dirty="0" smtClean="0"/>
              <a:t> À </a:t>
            </a:r>
            <a:r>
              <a:rPr lang="fr-FR" sz="2800" dirty="0"/>
              <a:t>partir d’une collection </a:t>
            </a:r>
            <a:endParaRPr lang="fr-FR" sz="2800" dirty="0" smtClean="0"/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À partir d’un tableau </a:t>
            </a:r>
            <a:endParaRPr lang="fr-FR" sz="2800" dirty="0" smtClean="0"/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À partir de nombres (</a:t>
            </a:r>
            <a:r>
              <a:rPr lang="fr-FR" sz="2800" b="1" dirty="0" err="1"/>
              <a:t>Streams</a:t>
            </a:r>
            <a:r>
              <a:rPr lang="fr-FR" sz="2800" dirty="0"/>
              <a:t> infinis) </a:t>
            </a:r>
            <a:endParaRPr lang="fr-FR" sz="2800" dirty="0" smtClean="0"/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À partir de fichiers </a:t>
            </a:r>
            <a:r>
              <a:rPr lang="fr-FR" sz="2800" b="1" dirty="0"/>
              <a:t>(I/O) </a:t>
            </a:r>
          </a:p>
        </p:txBody>
      </p:sp>
    </p:spTree>
    <p:extLst>
      <p:ext uri="{BB962C8B-B14F-4D97-AF65-F5344CB8AC3E}">
        <p14:creationId xmlns:p14="http://schemas.microsoft.com/office/powerpoint/2010/main" val="2660674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Création de Stream à partir </a:t>
            </a:r>
            <a:r>
              <a:rPr lang="fr-FR" b="1" dirty="0"/>
              <a:t>d’une collection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400" dirty="0"/>
              <a:t> Les collections en Java (List, Set, etc.) supportent la méthode </a:t>
            </a:r>
            <a:r>
              <a:rPr lang="fr-FR" sz="2400" b="1" dirty="0" err="1"/>
              <a:t>stream</a:t>
            </a:r>
            <a:r>
              <a:rPr lang="fr-FR" sz="2400" dirty="0"/>
              <a:t>() 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540001"/>
            <a:ext cx="10058400" cy="313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452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Création de Stream à partir </a:t>
            </a:r>
            <a:r>
              <a:rPr lang="fr-FR" b="1" dirty="0"/>
              <a:t>d’un tableau 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319867"/>
            <a:ext cx="10058400" cy="347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269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Création de Stream à partir </a:t>
            </a:r>
            <a:r>
              <a:rPr lang="fr-FR" b="1" dirty="0"/>
              <a:t>de nombres (</a:t>
            </a:r>
            <a:r>
              <a:rPr lang="fr-FR" b="1" dirty="0" err="1"/>
              <a:t>Streams</a:t>
            </a:r>
            <a:r>
              <a:rPr lang="fr-FR" b="1" dirty="0"/>
              <a:t> infinis) 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286000"/>
            <a:ext cx="10058399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13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Création de Stream à partir </a:t>
            </a:r>
            <a:r>
              <a:rPr lang="fr-FR" b="1" dirty="0"/>
              <a:t>de fichiers (I/O) 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048934"/>
            <a:ext cx="10058400" cy="374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487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b="1" dirty="0"/>
              <a:t>Opérations intermédiaires sur les </a:t>
            </a:r>
            <a:r>
              <a:rPr lang="fr-FR" b="1" dirty="0" err="1" smtClean="0"/>
              <a:t>streams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dirty="0" smtClean="0"/>
              <a:t> </a:t>
            </a:r>
            <a:r>
              <a:rPr lang="fr-FR" sz="3200" dirty="0"/>
              <a:t>Les </a:t>
            </a:r>
            <a:r>
              <a:rPr lang="fr-FR" sz="3200" b="1" dirty="0"/>
              <a:t>opérations intermédiaires</a:t>
            </a:r>
            <a:r>
              <a:rPr lang="fr-FR" sz="3200" dirty="0"/>
              <a:t> transforment ou filtrent un </a:t>
            </a:r>
            <a:r>
              <a:rPr lang="fr-FR" sz="3200" b="1" dirty="0" err="1"/>
              <a:t>stream</a:t>
            </a:r>
            <a:r>
              <a:rPr lang="fr-FR" sz="3200" dirty="0"/>
              <a:t> en un autre. Elles sont </a:t>
            </a:r>
            <a:r>
              <a:rPr lang="fr-FR" sz="3200" b="1" dirty="0"/>
              <a:t>paresseuses</a:t>
            </a:r>
            <a:r>
              <a:rPr lang="fr-FR" sz="3200" dirty="0"/>
              <a:t>, c’est-à-dire qu’elles ne s’exécutent que lorsqu’une opération terminale est appelée.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903660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Liste des principales opérations intermédiaires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896534"/>
            <a:ext cx="10823787" cy="4023360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fr-FR" sz="3200" b="1" dirty="0" err="1" smtClean="0"/>
              <a:t>filter</a:t>
            </a:r>
            <a:r>
              <a:rPr lang="fr-FR" sz="3200" b="1" dirty="0"/>
              <a:t>() </a:t>
            </a:r>
            <a:r>
              <a:rPr lang="fr-FR" sz="3200" dirty="0"/>
              <a:t>: Filtre les éléments d’un </a:t>
            </a:r>
            <a:r>
              <a:rPr lang="fr-FR" sz="3200" b="1" dirty="0" err="1"/>
              <a:t>stream</a:t>
            </a:r>
            <a:r>
              <a:rPr lang="fr-FR" sz="3200" dirty="0"/>
              <a:t> selon une condition.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fr-FR" sz="3200" b="1" dirty="0" err="1" smtClean="0"/>
              <a:t>map</a:t>
            </a:r>
            <a:r>
              <a:rPr lang="fr-FR" sz="3200" b="1" dirty="0"/>
              <a:t>() </a:t>
            </a:r>
            <a:r>
              <a:rPr lang="fr-FR" sz="3200" dirty="0"/>
              <a:t>: Transforme chaque élément d’un </a:t>
            </a:r>
            <a:r>
              <a:rPr lang="fr-FR" sz="3200" b="1" dirty="0" err="1"/>
              <a:t>stream</a:t>
            </a:r>
            <a:r>
              <a:rPr lang="fr-FR" sz="3200" dirty="0"/>
              <a:t> en un autre.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fr-FR" sz="3200" b="1" dirty="0" err="1" smtClean="0"/>
              <a:t>sorted</a:t>
            </a:r>
            <a:r>
              <a:rPr lang="fr-FR" sz="3200" b="1" dirty="0"/>
              <a:t>() </a:t>
            </a:r>
            <a:r>
              <a:rPr lang="fr-FR" sz="3200" dirty="0"/>
              <a:t>: Trie les éléments d’un </a:t>
            </a:r>
            <a:r>
              <a:rPr lang="fr-FR" sz="3200" b="1" dirty="0" err="1"/>
              <a:t>stream</a:t>
            </a:r>
            <a:r>
              <a:rPr lang="fr-FR" sz="3200" dirty="0"/>
              <a:t>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fr-FR" sz="3200" b="1" dirty="0" smtClean="0"/>
              <a:t>distinct</a:t>
            </a:r>
            <a:r>
              <a:rPr lang="fr-FR" sz="3200" b="1" dirty="0"/>
              <a:t>() </a:t>
            </a:r>
            <a:r>
              <a:rPr lang="fr-FR" sz="3200" dirty="0"/>
              <a:t>: Supprime les doublons.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fr-FR" sz="3200" b="1" dirty="0" err="1" smtClean="0"/>
              <a:t>limit</a:t>
            </a:r>
            <a:r>
              <a:rPr lang="fr-FR" sz="3200" b="1" dirty="0"/>
              <a:t>() </a:t>
            </a:r>
            <a:r>
              <a:rPr lang="fr-FR" sz="3200" dirty="0"/>
              <a:t>: Limite le nombre d’éléments dans le </a:t>
            </a:r>
            <a:r>
              <a:rPr lang="fr-FR" sz="3200" b="1" dirty="0" err="1"/>
              <a:t>stream</a:t>
            </a:r>
            <a:r>
              <a:rPr lang="fr-FR" sz="3200" dirty="0"/>
              <a:t>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fr-FR" sz="3200" b="1" dirty="0" smtClean="0"/>
              <a:t>skip</a:t>
            </a:r>
            <a:r>
              <a:rPr lang="fr-FR" sz="3200" b="1" dirty="0"/>
              <a:t>() </a:t>
            </a:r>
            <a:r>
              <a:rPr lang="fr-FR" sz="3200" dirty="0"/>
              <a:t>: Ignore un certain nombre d’éléments au début.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420586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dirty="0"/>
              <a:t>Filtrer une liste pour ne garder que les éléments qui répondent à une condition.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dirty="0"/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Filtrage (</a:t>
            </a:r>
            <a:r>
              <a:rPr lang="fr-FR" b="1" dirty="0" err="1"/>
              <a:t>filter</a:t>
            </a:r>
            <a:r>
              <a:rPr lang="fr-FR" b="1" dirty="0"/>
              <a:t>)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146" y="2638214"/>
            <a:ext cx="7865534" cy="333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Transformation (</a:t>
            </a:r>
            <a:r>
              <a:rPr lang="fr-FR" b="1" dirty="0" err="1"/>
              <a:t>map</a:t>
            </a:r>
            <a:r>
              <a:rPr lang="fr-FR" b="1" dirty="0"/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dirty="0"/>
              <a:t>Transformer chaque élément en un autre (par exemple, convertir en majuscules).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930" y="2685838"/>
            <a:ext cx="7905750" cy="329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702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Tri (</a:t>
            </a:r>
            <a:r>
              <a:rPr lang="fr-FR" b="1" dirty="0" err="1"/>
              <a:t>sorted</a:t>
            </a:r>
            <a:r>
              <a:rPr lang="fr-FR" b="1" dirty="0"/>
              <a:t>)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286001"/>
            <a:ext cx="10058399" cy="3589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6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Suppression des doublons (distinct)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3200" dirty="0" smtClean="0"/>
              <a:t> </a:t>
            </a:r>
            <a:r>
              <a:rPr lang="fr-FR" sz="3200" dirty="0"/>
              <a:t>Supprimer les éléments en double dans un </a:t>
            </a:r>
            <a:r>
              <a:rPr lang="fr-FR" sz="3200" b="1" dirty="0" err="1"/>
              <a:t>stream</a:t>
            </a:r>
            <a:r>
              <a:rPr lang="fr-FR" sz="3200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32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0" y="2495550"/>
            <a:ext cx="8310879" cy="348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39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Limitation (</a:t>
            </a:r>
            <a:r>
              <a:rPr lang="fr-FR" b="1" dirty="0" err="1"/>
              <a:t>limit</a:t>
            </a:r>
            <a:r>
              <a:rPr lang="fr-FR" b="1" dirty="0"/>
              <a:t>)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150533"/>
            <a:ext cx="10058400" cy="34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05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Ignorer des éléments (skip)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3200" dirty="0" smtClean="0"/>
              <a:t> </a:t>
            </a:r>
            <a:r>
              <a:rPr lang="fr-FR" sz="3200" dirty="0"/>
              <a:t>Ignorer un certain nombre d’éléments au début.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32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725208"/>
            <a:ext cx="10058399" cy="314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312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Conclusion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4000" dirty="0" smtClean="0"/>
              <a:t> </a:t>
            </a:r>
            <a:r>
              <a:rPr lang="fr-FR" sz="4000" dirty="0"/>
              <a:t>Les </a:t>
            </a:r>
            <a:r>
              <a:rPr lang="fr-FR" sz="4000" b="1" dirty="0" err="1"/>
              <a:t>streams</a:t>
            </a:r>
            <a:r>
              <a:rPr lang="fr-FR" sz="4000" dirty="0"/>
              <a:t> permettent d’écrire du code plus concis, lisible et performant. </a:t>
            </a:r>
          </a:p>
        </p:txBody>
      </p:sp>
    </p:spTree>
    <p:extLst>
      <p:ext uri="{BB962C8B-B14F-4D97-AF65-F5344CB8AC3E}">
        <p14:creationId xmlns:p14="http://schemas.microsoft.com/office/powerpoint/2010/main" val="3989301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Atelier 3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628987"/>
            <a:ext cx="10058400" cy="40233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/>
              <a:t> Créer une classe Produit qui contient les informations du produit</a:t>
            </a:r>
            <a:r>
              <a:rPr lang="fr-FR" sz="2400" b="1" dirty="0" smtClean="0"/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/>
              <a:t> Créer une liste de produits pour simuler un flux de données</a:t>
            </a:r>
            <a:r>
              <a:rPr lang="fr-FR" sz="2400" b="1" dirty="0" smtClean="0"/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/>
              <a:t> Appliquer les opérations de création, intermédiaires, et finales pour </a:t>
            </a:r>
            <a:r>
              <a:rPr lang="fr-FR" sz="2400" b="1" dirty="0" smtClean="0"/>
              <a:t>: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b="1" dirty="0"/>
              <a:t> Filtrer les produits par catégorie</a:t>
            </a:r>
            <a:r>
              <a:rPr lang="fr-FR" sz="2000" b="1" dirty="0" smtClean="0"/>
              <a:t>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b="1" dirty="0"/>
              <a:t> Modifier les noms des produits en ajoutant un préfixe</a:t>
            </a:r>
            <a:r>
              <a:rPr lang="fr-FR" sz="2000" b="1" dirty="0" smtClean="0"/>
              <a:t>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b="1" dirty="0"/>
              <a:t> Trier les produits par prix</a:t>
            </a:r>
            <a:r>
              <a:rPr lang="fr-FR" sz="2000" b="1" dirty="0" smtClean="0"/>
              <a:t>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b="1" dirty="0"/>
              <a:t> Calculer des statistiques comme le prix total des produits</a:t>
            </a:r>
            <a:r>
              <a:rPr lang="fr-FR" sz="2000" b="1" dirty="0" smtClean="0"/>
              <a:t>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b="1" dirty="0"/>
              <a:t> Collecter les résultats dans une nouvelle collection.</a:t>
            </a:r>
          </a:p>
        </p:txBody>
      </p:sp>
    </p:spTree>
    <p:extLst>
      <p:ext uri="{BB962C8B-B14F-4D97-AF65-F5344CB8AC3E}">
        <p14:creationId xmlns:p14="http://schemas.microsoft.com/office/powerpoint/2010/main" val="2306868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Classe Produit</a:t>
            </a:r>
            <a:endParaRPr lang="fr-FR" b="1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846263"/>
            <a:ext cx="10058400" cy="43513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4075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Étape 1 : Créer une liste de produits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150533"/>
            <a:ext cx="10058400" cy="34882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5977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000" b="1" dirty="0" smtClean="0"/>
              <a:t>Étape </a:t>
            </a:r>
            <a:r>
              <a:rPr lang="fr-FR" sz="4000" b="1" dirty="0"/>
              <a:t>2 : </a:t>
            </a:r>
            <a:r>
              <a:rPr lang="fr-FR" sz="4000" b="1" dirty="0" smtClean="0"/>
              <a:t/>
            </a:r>
            <a:br>
              <a:rPr lang="fr-FR" sz="4000" b="1" dirty="0" smtClean="0"/>
            </a:br>
            <a:r>
              <a:rPr lang="fr-FR" sz="4000" b="1" dirty="0" smtClean="0"/>
              <a:t>Filtrer </a:t>
            </a:r>
            <a:r>
              <a:rPr lang="fr-FR" sz="4000" b="1" dirty="0"/>
              <a:t>les produits de la catégorie "Électronique"</a:t>
            </a:r>
            <a:endParaRPr lang="fr-FR" sz="40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1" y="2235200"/>
            <a:ext cx="10058400" cy="304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8024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97280" y="394977"/>
            <a:ext cx="10058400" cy="1450757"/>
          </a:xfrm>
        </p:spPr>
        <p:txBody>
          <a:bodyPr anchor="ctr">
            <a:noAutofit/>
          </a:bodyPr>
          <a:lstStyle/>
          <a:p>
            <a:pPr algn="ctr"/>
            <a:r>
              <a:rPr lang="fr-FR" sz="3600" b="1" dirty="0"/>
              <a:t>Étape 3 : </a:t>
            </a:r>
            <a:r>
              <a:rPr lang="fr-FR" sz="3600" b="1" dirty="0" smtClean="0"/>
              <a:t/>
            </a:r>
            <a:br>
              <a:rPr lang="fr-FR" sz="3600" b="1" dirty="0" smtClean="0"/>
            </a:br>
            <a:r>
              <a:rPr lang="fr-FR" sz="3600" b="1" dirty="0" smtClean="0"/>
              <a:t>Ajouter </a:t>
            </a:r>
            <a:r>
              <a:rPr lang="fr-FR" sz="3600" b="1" dirty="0"/>
              <a:t>un préfixe au nom de chaque produit et afficher</a:t>
            </a:r>
            <a:endParaRPr lang="fr-FR" sz="36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438400"/>
            <a:ext cx="10058400" cy="2184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4145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Étape 4 :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Trier </a:t>
            </a:r>
            <a:r>
              <a:rPr lang="fr-FR" b="1" dirty="0"/>
              <a:t>les produits par prix croissant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2556933"/>
            <a:ext cx="9936480" cy="23706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912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Étape 5 :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Calculer </a:t>
            </a:r>
            <a:r>
              <a:rPr lang="fr-FR" b="1" dirty="0"/>
              <a:t>le prix total des produits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2489201"/>
            <a:ext cx="9567333" cy="2387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9913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ctr"/>
            <a:r>
              <a:rPr lang="fr-FR" b="1" dirty="0"/>
              <a:t>Étape 6 :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Collecter </a:t>
            </a:r>
            <a:r>
              <a:rPr lang="fr-FR" b="1" dirty="0"/>
              <a:t>les noms des produits dans une liste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7068" y="2489201"/>
            <a:ext cx="9465732" cy="24722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6944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Atelier de </a:t>
            </a:r>
            <a:r>
              <a:rPr lang="fr-FR" b="1" dirty="0" err="1"/>
              <a:t>Refactoring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4000" dirty="0"/>
              <a:t> Impératif vers Stream </a:t>
            </a:r>
            <a:r>
              <a:rPr lang="fr-FR" sz="4000" dirty="0" smtClean="0"/>
              <a:t>API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4000" dirty="0"/>
          </a:p>
          <a:p>
            <a:pPr>
              <a:buFont typeface="Wingdings" panose="05000000000000000000" pitchFamily="2" charset="2"/>
              <a:buChar char="Ø"/>
            </a:pPr>
            <a:endParaRPr lang="fr-FR" sz="4000" dirty="0"/>
          </a:p>
        </p:txBody>
      </p:sp>
    </p:spTree>
    <p:extLst>
      <p:ext uri="{BB962C8B-B14F-4D97-AF65-F5344CB8AC3E}">
        <p14:creationId xmlns:p14="http://schemas.microsoft.com/office/powerpoint/2010/main" val="59580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CAS 1: Filtrage et transformation sur une liste de chaînes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600" dirty="0"/>
              <a:t> Objectif </a:t>
            </a:r>
            <a:r>
              <a:rPr lang="fr-FR" sz="3600" dirty="0" smtClean="0"/>
              <a:t>:</a:t>
            </a: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 Filtrer les noms qui commencent par "J" ou "A", les convertir en majuscules, et les trier</a:t>
            </a:r>
          </a:p>
        </p:txBody>
      </p:sp>
    </p:spTree>
    <p:extLst>
      <p:ext uri="{BB962C8B-B14F-4D97-AF65-F5344CB8AC3E}">
        <p14:creationId xmlns:p14="http://schemas.microsoft.com/office/powerpoint/2010/main" val="396296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Version impérative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7280" y="1861848"/>
            <a:ext cx="10058400" cy="34813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1781622" y="5646736"/>
            <a:ext cx="86897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b="1" dirty="0"/>
              <a:t>Tâche à faire : </a:t>
            </a:r>
            <a:r>
              <a:rPr lang="fr-FR" sz="2800" b="1" dirty="0" err="1"/>
              <a:t>Refactorer</a:t>
            </a:r>
            <a:r>
              <a:rPr lang="fr-FR" sz="2800" b="1" dirty="0"/>
              <a:t> ce code avec des </a:t>
            </a:r>
            <a:r>
              <a:rPr lang="fr-FR" sz="2800" b="1" dirty="0" err="1"/>
              <a:t>Streams</a:t>
            </a:r>
            <a:r>
              <a:rPr lang="fr-FR" sz="2800" b="1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10542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Solution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11856" y="2302524"/>
            <a:ext cx="9943824" cy="34372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5626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Cas 2: Agrégation numérique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4000" dirty="0"/>
              <a:t> Objectif </a:t>
            </a:r>
            <a:r>
              <a:rPr lang="fr-FR" sz="4000" dirty="0" smtClean="0"/>
              <a:t>:</a:t>
            </a: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600" dirty="0"/>
              <a:t> Calculer la </a:t>
            </a:r>
            <a:r>
              <a:rPr lang="fr-FR" sz="3600" b="1" dirty="0"/>
              <a:t>somme des entiers pairs</a:t>
            </a:r>
            <a:r>
              <a:rPr lang="fr-FR" sz="3600" dirty="0"/>
              <a:t> d’une liste.</a:t>
            </a:r>
          </a:p>
        </p:txBody>
      </p:sp>
    </p:spTree>
    <p:extLst>
      <p:ext uri="{BB962C8B-B14F-4D97-AF65-F5344CB8AC3E}">
        <p14:creationId xmlns:p14="http://schemas.microsoft.com/office/powerpoint/2010/main" val="3863869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Version impérative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7280" y="1916933"/>
            <a:ext cx="10058400" cy="34482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2562704" y="5646011"/>
            <a:ext cx="80370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400" b="1" dirty="0"/>
              <a:t>Tâche à faire : Transformer en une seule chaîne Stream fluide.</a:t>
            </a:r>
          </a:p>
        </p:txBody>
      </p:sp>
    </p:spTree>
    <p:extLst>
      <p:ext uri="{BB962C8B-B14F-4D97-AF65-F5344CB8AC3E}">
        <p14:creationId xmlns:p14="http://schemas.microsoft.com/office/powerpoint/2010/main" val="187304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Solution</a:t>
            </a:r>
            <a:endParaRPr lang="fr-FR" b="1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26256" y="2236423"/>
            <a:ext cx="7755874" cy="33381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54947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Cas 3: Regroupement et comptage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 Objectif </a:t>
            </a:r>
            <a:r>
              <a:rPr lang="fr-FR" sz="3200" dirty="0" smtClean="0"/>
              <a:t>:</a:t>
            </a: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Compter le nombre de personnes par première lettre du prénom.</a:t>
            </a:r>
          </a:p>
        </p:txBody>
      </p:sp>
    </p:spTree>
    <p:extLst>
      <p:ext uri="{BB962C8B-B14F-4D97-AF65-F5344CB8AC3E}">
        <p14:creationId xmlns:p14="http://schemas.microsoft.com/office/powerpoint/2010/main" val="4127665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Version impérative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93458" y="1839817"/>
            <a:ext cx="7866043" cy="38338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2426305" y="5746399"/>
            <a:ext cx="77202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/>
              <a:t>Tâche à faire :Utiliser les </a:t>
            </a:r>
            <a:r>
              <a:rPr lang="fr-FR" sz="2400" b="1" dirty="0" err="1"/>
              <a:t>Streams</a:t>
            </a:r>
            <a:r>
              <a:rPr lang="fr-FR" sz="2400" b="1" dirty="0"/>
              <a:t> et </a:t>
            </a:r>
            <a:r>
              <a:rPr lang="fr-FR" sz="2400" b="1" dirty="0" err="1"/>
              <a:t>Collectors.groupingBy</a:t>
            </a:r>
            <a:r>
              <a:rPr lang="fr-FR" sz="2400" b="1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59237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Solution</a:t>
            </a:r>
            <a:endParaRPr lang="fr-FR" b="1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72867" y="2159306"/>
            <a:ext cx="9055866" cy="35364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8369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400" b="1" dirty="0"/>
              <a:t>Tableau comparatif : Impératif vs Stream API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4996342"/>
              </p:ext>
            </p:extLst>
          </p:nvPr>
        </p:nvGraphicFramePr>
        <p:xfrm>
          <a:off x="808479" y="2022533"/>
          <a:ext cx="106360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9458">
                  <a:extLst>
                    <a:ext uri="{9D8B030D-6E8A-4147-A177-3AD203B41FA5}">
                      <a16:colId xmlns:a16="http://schemas.microsoft.com/office/drawing/2014/main" val="168128555"/>
                    </a:ext>
                  </a:extLst>
                </a:gridCol>
                <a:gridCol w="3755163">
                  <a:extLst>
                    <a:ext uri="{9D8B030D-6E8A-4147-A177-3AD203B41FA5}">
                      <a16:colId xmlns:a16="http://schemas.microsoft.com/office/drawing/2014/main" val="1194031721"/>
                    </a:ext>
                  </a:extLst>
                </a:gridCol>
                <a:gridCol w="3811380">
                  <a:extLst>
                    <a:ext uri="{9D8B030D-6E8A-4147-A177-3AD203B41FA5}">
                      <a16:colId xmlns:a16="http://schemas.microsoft.com/office/drawing/2014/main" val="1417451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Critère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Solution impérative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Solution avec </a:t>
                      </a:r>
                      <a:r>
                        <a:rPr lang="fr-FR" b="1" dirty="0" err="1" smtClean="0"/>
                        <a:t>Streams</a:t>
                      </a:r>
                      <a:r>
                        <a:rPr lang="fr-FR" b="1" dirty="0" smtClean="0"/>
                        <a:t> (fonctionnelle)</a:t>
                      </a:r>
                      <a:endParaRPr lang="fr-F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438095"/>
                  </a:ext>
                </a:extLst>
              </a:tr>
            </a:tbl>
          </a:graphicData>
        </a:graphic>
      </p:graphicFrame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418" y="2589121"/>
            <a:ext cx="10519062" cy="278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89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400" b="1" dirty="0"/>
              <a:t>Tableau comparatif : Impératif vs Stream API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808479" y="2022533"/>
          <a:ext cx="106360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9458">
                  <a:extLst>
                    <a:ext uri="{9D8B030D-6E8A-4147-A177-3AD203B41FA5}">
                      <a16:colId xmlns:a16="http://schemas.microsoft.com/office/drawing/2014/main" val="168128555"/>
                    </a:ext>
                  </a:extLst>
                </a:gridCol>
                <a:gridCol w="3755163">
                  <a:extLst>
                    <a:ext uri="{9D8B030D-6E8A-4147-A177-3AD203B41FA5}">
                      <a16:colId xmlns:a16="http://schemas.microsoft.com/office/drawing/2014/main" val="1194031721"/>
                    </a:ext>
                  </a:extLst>
                </a:gridCol>
                <a:gridCol w="3811380">
                  <a:extLst>
                    <a:ext uri="{9D8B030D-6E8A-4147-A177-3AD203B41FA5}">
                      <a16:colId xmlns:a16="http://schemas.microsoft.com/office/drawing/2014/main" val="1417451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Critère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Solution impérative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Solution avec </a:t>
                      </a:r>
                      <a:r>
                        <a:rPr lang="fr-FR" b="1" dirty="0" err="1" smtClean="0"/>
                        <a:t>Streams</a:t>
                      </a:r>
                      <a:r>
                        <a:rPr lang="fr-FR" b="1" dirty="0" smtClean="0"/>
                        <a:t> (fonctionnelle)</a:t>
                      </a:r>
                      <a:endParaRPr lang="fr-F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438095"/>
                  </a:ext>
                </a:extLst>
              </a:tr>
            </a:tbl>
          </a:graphicData>
        </a:graphic>
      </p:graphicFrame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79" y="2678546"/>
            <a:ext cx="10636001" cy="328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00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b="1" dirty="0"/>
              <a:t>L'API </a:t>
            </a:r>
            <a:r>
              <a:rPr lang="fr-FR" b="1" dirty="0" err="1"/>
              <a:t>DateTime</a:t>
            </a:r>
            <a:r>
              <a:rPr lang="fr-FR" b="1" dirty="0"/>
              <a:t>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(</a:t>
            </a:r>
            <a:r>
              <a:rPr lang="fr-FR" b="1" dirty="0"/>
              <a:t>JDK 8 et plus)</a:t>
            </a:r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414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Présentation de l’API </a:t>
            </a:r>
            <a:r>
              <a:rPr lang="fr-FR" b="1" dirty="0" err="1"/>
              <a:t>DateTime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3200" dirty="0" smtClean="0"/>
              <a:t> </a:t>
            </a:r>
            <a:r>
              <a:rPr lang="fr-FR" sz="3200" dirty="0"/>
              <a:t>Avant </a:t>
            </a:r>
            <a:r>
              <a:rPr lang="fr-FR" sz="3200" b="1" dirty="0"/>
              <a:t>Java 8</a:t>
            </a:r>
            <a:r>
              <a:rPr lang="fr-FR" sz="3200" dirty="0"/>
              <a:t>, la gestion des dates et heures se faisait principalement à l’aide des classes </a:t>
            </a:r>
            <a:r>
              <a:rPr lang="fr-FR" sz="3200" b="1" dirty="0"/>
              <a:t>Date</a:t>
            </a:r>
            <a:r>
              <a:rPr lang="fr-FR" sz="3200" dirty="0"/>
              <a:t> et </a:t>
            </a:r>
            <a:r>
              <a:rPr lang="fr-FR" sz="3200" b="1" dirty="0" err="1"/>
              <a:t>Calendar</a:t>
            </a:r>
            <a:r>
              <a:rPr lang="fr-FR" sz="3200" dirty="0"/>
              <a:t>, qui étaient souvent jugées peu intuitives et sujettes à des erreurs. Java 8 a introduit un nouveau package, </a:t>
            </a:r>
            <a:r>
              <a:rPr lang="fr-FR" sz="3200" b="1" dirty="0" err="1"/>
              <a:t>java.time</a:t>
            </a:r>
            <a:r>
              <a:rPr lang="fr-FR" sz="3200" dirty="0"/>
              <a:t>, qui apporte une API moderne, fluide et t</a:t>
            </a:r>
            <a:r>
              <a:rPr lang="fr-FR" sz="3200" b="1" dirty="0"/>
              <a:t>hread-</a:t>
            </a:r>
            <a:r>
              <a:rPr lang="fr-FR" sz="3200" b="1" dirty="0" err="1"/>
              <a:t>safe</a:t>
            </a:r>
            <a:r>
              <a:rPr lang="fr-FR" sz="3200" dirty="0"/>
              <a:t> pour gérer les dates, heures, et durées.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81577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Avantages principaux de l’API </a:t>
            </a:r>
            <a:r>
              <a:rPr lang="fr-FR" b="1" dirty="0" err="1"/>
              <a:t>DateTime</a:t>
            </a:r>
            <a:r>
              <a:rPr lang="fr-FR" b="1" dirty="0"/>
              <a:t>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b="1" dirty="0"/>
              <a:t>Immutabilité :</a:t>
            </a:r>
            <a:r>
              <a:rPr lang="fr-FR" sz="2800" dirty="0"/>
              <a:t> Toutes les classes sont immuables et thread-</a:t>
            </a:r>
            <a:r>
              <a:rPr lang="fr-FR" sz="2800" dirty="0" err="1"/>
              <a:t>safe</a:t>
            </a:r>
            <a:r>
              <a:rPr lang="fr-FR" sz="2800" dirty="0"/>
              <a:t>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b="1" dirty="0"/>
              <a:t>Lisibilité :</a:t>
            </a:r>
            <a:r>
              <a:rPr lang="fr-FR" sz="2800" dirty="0"/>
              <a:t> Une syntaxe fluide et expressive.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b="1" dirty="0"/>
              <a:t>Zones horaires intégrées :</a:t>
            </a:r>
            <a:r>
              <a:rPr lang="fr-FR" sz="2800" dirty="0"/>
              <a:t> Une prise en charge native des zones horaires (via </a:t>
            </a:r>
            <a:r>
              <a:rPr lang="fr-FR" sz="2800" dirty="0" err="1"/>
              <a:t>ZoneId</a:t>
            </a:r>
            <a:r>
              <a:rPr lang="fr-FR" sz="2800" dirty="0"/>
              <a:t> et </a:t>
            </a:r>
            <a:r>
              <a:rPr lang="fr-FR" sz="2800" dirty="0" err="1"/>
              <a:t>ZonedDateTime</a:t>
            </a:r>
            <a:r>
              <a:rPr lang="fr-FR" sz="2800" dirty="0"/>
              <a:t>).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b="1" dirty="0"/>
              <a:t>Manipulation et calculs simplifiés :</a:t>
            </a:r>
            <a:r>
              <a:rPr lang="fr-FR" sz="2800" dirty="0"/>
              <a:t> Opérations comme l'ajout, la soustraction ou le calcul de différences simplifiées.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54621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Classes importantes de </a:t>
            </a:r>
            <a:r>
              <a:rPr lang="fr-FR" b="1" dirty="0" err="1"/>
              <a:t>DateTime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4400" b="1" dirty="0" err="1" smtClean="0"/>
              <a:t>LocalDate</a:t>
            </a:r>
            <a:endParaRPr lang="fr-FR" sz="4400" b="1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4400" b="1" dirty="0" err="1" smtClean="0"/>
              <a:t>LocalTime</a:t>
            </a:r>
            <a:endParaRPr lang="fr-FR" sz="4400" b="1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4400" b="1" dirty="0" err="1" smtClean="0"/>
              <a:t>LocalDateTime</a:t>
            </a:r>
            <a:endParaRPr lang="fr-FR" sz="4400" b="1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4400" b="1" dirty="0" err="1" smtClean="0"/>
              <a:t>ZonedDateTime</a:t>
            </a:r>
            <a:endParaRPr lang="fr-FR" sz="4400" b="1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4400" b="1" dirty="0" err="1"/>
              <a:t>Period</a:t>
            </a:r>
            <a:r>
              <a:rPr lang="fr-FR" sz="4400" b="1" dirty="0"/>
              <a:t> et Duration</a:t>
            </a:r>
            <a:endParaRPr lang="fr-FR" sz="4400" dirty="0"/>
          </a:p>
        </p:txBody>
      </p:sp>
    </p:spTree>
    <p:extLst>
      <p:ext uri="{BB962C8B-B14F-4D97-AF65-F5344CB8AC3E}">
        <p14:creationId xmlns:p14="http://schemas.microsoft.com/office/powerpoint/2010/main" val="170641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97280" y="394977"/>
            <a:ext cx="10058400" cy="1450757"/>
          </a:xfrm>
        </p:spPr>
        <p:txBody>
          <a:bodyPr anchor="ctr"/>
          <a:lstStyle/>
          <a:p>
            <a:pPr algn="ctr"/>
            <a:r>
              <a:rPr lang="fr-FR" b="1" dirty="0" err="1" smtClean="0"/>
              <a:t>LocalDate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dirty="0"/>
              <a:t>Représente une date sans information de temps (année, mois, jour).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066" y="2833476"/>
            <a:ext cx="9668933" cy="303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463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err="1"/>
              <a:t>LocalTime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3200" dirty="0" smtClean="0"/>
              <a:t> </a:t>
            </a:r>
            <a:r>
              <a:rPr lang="fr-FR" sz="3200" dirty="0"/>
              <a:t>Représente une heure sans information de date.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32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133" y="2673349"/>
            <a:ext cx="9411547" cy="305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846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err="1"/>
              <a:t>LocalDateTime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3200" dirty="0" smtClean="0"/>
              <a:t> </a:t>
            </a:r>
            <a:r>
              <a:rPr lang="fr-FR" sz="3200" dirty="0"/>
              <a:t>Combine une date et une heure, mais sans zone horaire.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32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84437"/>
            <a:ext cx="10180319" cy="338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338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err="1" smtClean="0"/>
              <a:t>ZonedDateTime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dirty="0"/>
              <a:t>Représente une date et une heure avec une zone horaire spécifique.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733674"/>
            <a:ext cx="10058400" cy="324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904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err="1"/>
              <a:t>Period</a:t>
            </a:r>
            <a:r>
              <a:rPr lang="fr-FR" b="1" dirty="0"/>
              <a:t> et </a:t>
            </a:r>
            <a:r>
              <a:rPr lang="fr-FR" b="1" dirty="0" smtClean="0"/>
              <a:t>Duration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b="1" dirty="0" err="1"/>
              <a:t>Period</a:t>
            </a:r>
            <a:r>
              <a:rPr lang="fr-FR" sz="2400" b="1" dirty="0"/>
              <a:t> :</a:t>
            </a:r>
            <a:r>
              <a:rPr lang="fr-FR" sz="2400" dirty="0"/>
              <a:t> Représente une durée basée sur les années, mois et jours.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400" b="1" dirty="0"/>
              <a:t>Duration :</a:t>
            </a:r>
            <a:r>
              <a:rPr lang="fr-FR" sz="2400" dirty="0"/>
              <a:t> Représente une durée basée sur les secondes et nanosecondes.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792412"/>
            <a:ext cx="10058400" cy="340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561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Utilisation de </a:t>
            </a:r>
            <a:r>
              <a:rPr lang="fr-FR" b="1" dirty="0" err="1"/>
              <a:t>DateTime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3600" b="1" dirty="0"/>
              <a:t>Manipuler les dates et </a:t>
            </a:r>
            <a:r>
              <a:rPr lang="fr-FR" sz="3600" b="1" dirty="0" smtClean="0"/>
              <a:t>heures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3600" b="1" dirty="0"/>
              <a:t>Formatage et </a:t>
            </a:r>
            <a:r>
              <a:rPr lang="fr-FR" sz="3600" b="1" dirty="0" err="1"/>
              <a:t>parsing</a:t>
            </a:r>
            <a:r>
              <a:rPr lang="fr-FR" sz="3600" b="1" dirty="0"/>
              <a:t> des </a:t>
            </a:r>
            <a:r>
              <a:rPr lang="fr-FR" sz="3600" b="1" dirty="0" smtClean="0"/>
              <a:t>dates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3600" b="1" dirty="0"/>
              <a:t>Comparer les dates</a:t>
            </a:r>
            <a:endParaRPr lang="fr-FR" sz="36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3600" b="1" dirty="0"/>
              <a:t>Gérer les zones horaires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50022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Manipuler les dates et </a:t>
            </a:r>
            <a:r>
              <a:rPr lang="fr-FR" b="1" dirty="0" smtClean="0"/>
              <a:t>heures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3200" dirty="0" smtClean="0"/>
              <a:t> </a:t>
            </a:r>
            <a:r>
              <a:rPr lang="fr-FR" sz="3200" dirty="0"/>
              <a:t>Ajout ou soustraction de jours, mois, ou années.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32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1" y="2585826"/>
            <a:ext cx="10058400" cy="359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141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Formatage et </a:t>
            </a:r>
            <a:r>
              <a:rPr lang="fr-FR" b="1" dirty="0" err="1"/>
              <a:t>parsing</a:t>
            </a:r>
            <a:r>
              <a:rPr lang="fr-FR" b="1" dirty="0"/>
              <a:t> des </a:t>
            </a:r>
            <a:r>
              <a:rPr lang="fr-FR" b="1" dirty="0" smtClean="0"/>
              <a:t>dates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02336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Utilisation de </a:t>
            </a:r>
            <a:r>
              <a:rPr lang="fr-FR" sz="2800" b="1" dirty="0" err="1"/>
              <a:t>DateTimeFormatter</a:t>
            </a:r>
            <a:r>
              <a:rPr lang="fr-FR" sz="2800" dirty="0"/>
              <a:t> pour afficher ou analyser les dates dans des formats spécifiques.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8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216" y="2997729"/>
            <a:ext cx="7427384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156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Comparer les </a:t>
            </a:r>
            <a:r>
              <a:rPr lang="fr-FR" b="1" dirty="0" smtClean="0"/>
              <a:t>dates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3600" dirty="0" smtClean="0"/>
              <a:t> </a:t>
            </a:r>
            <a:r>
              <a:rPr lang="fr-FR" sz="3600" dirty="0"/>
              <a:t>Comparer deux dates pour déterminer leur ordre.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36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1" y="2594293"/>
            <a:ext cx="10058400" cy="368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89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Gérer les zones </a:t>
            </a:r>
            <a:r>
              <a:rPr lang="fr-FR" b="1" dirty="0" smtClean="0"/>
              <a:t>horaires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3600" dirty="0" smtClean="0"/>
              <a:t> </a:t>
            </a:r>
            <a:r>
              <a:rPr lang="fr-FR" sz="3600" dirty="0"/>
              <a:t>Travailler avec des zones horaires différentes.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36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66788"/>
            <a:ext cx="10058400" cy="353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626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CONCLUSION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600" dirty="0" smtClean="0"/>
              <a:t> </a:t>
            </a:r>
            <a:r>
              <a:rPr lang="fr-FR" sz="3600" dirty="0"/>
              <a:t>L'API </a:t>
            </a:r>
            <a:r>
              <a:rPr lang="fr-FR" sz="3600" b="1" dirty="0" err="1"/>
              <a:t>DateTime</a:t>
            </a:r>
            <a:r>
              <a:rPr lang="fr-FR" sz="3600" dirty="0"/>
              <a:t> est puissante et adaptée aux besoins modernes, simplifiant considérablement le travail avec les dates et heures. </a:t>
            </a:r>
          </a:p>
        </p:txBody>
      </p:sp>
    </p:spTree>
    <p:extLst>
      <p:ext uri="{BB962C8B-B14F-4D97-AF65-F5344CB8AC3E}">
        <p14:creationId xmlns:p14="http://schemas.microsoft.com/office/powerpoint/2010/main" val="3077298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Atelier 4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dirty="0"/>
              <a:t>Vous allez développer une petite application qui gère un calendrier d'événements. Chaque événement a </a:t>
            </a:r>
            <a:r>
              <a:rPr lang="fr-FR" sz="2400" dirty="0" smtClean="0"/>
              <a:t>: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 Un nom</a:t>
            </a:r>
            <a:r>
              <a:rPr lang="fr-FR" sz="2000" dirty="0" smtClean="0"/>
              <a:t>,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 Une date et une heure</a:t>
            </a:r>
            <a:r>
              <a:rPr lang="fr-FR" sz="2000" dirty="0" smtClean="0"/>
              <a:t>,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 Une durée.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400" dirty="0" smtClean="0"/>
              <a:t> </a:t>
            </a:r>
            <a:r>
              <a:rPr lang="fr-FR" sz="2400" dirty="0"/>
              <a:t>Vous effectuerez des tâches comme :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 Créer et afficher des événements</a:t>
            </a:r>
            <a:r>
              <a:rPr lang="fr-FR" sz="2000" dirty="0" smtClean="0"/>
              <a:t>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 Calculer le temps restant avant un événement</a:t>
            </a:r>
            <a:r>
              <a:rPr lang="fr-FR" sz="2000" dirty="0" smtClean="0"/>
              <a:t>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 Lister les événements à venir</a:t>
            </a:r>
            <a:r>
              <a:rPr lang="fr-FR" sz="2000" dirty="0" smtClean="0"/>
              <a:t>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 Formater les dates selon différents styles.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742630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Étape 1 : Modèle des événements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 Créer une classe </a:t>
            </a:r>
            <a:r>
              <a:rPr lang="fr-FR" sz="3200" dirty="0" smtClean="0"/>
              <a:t>Evènement </a:t>
            </a:r>
            <a:r>
              <a:rPr lang="fr-FR" sz="3200" dirty="0"/>
              <a:t>qui contient les informations suivantes </a:t>
            </a:r>
            <a:r>
              <a:rPr lang="fr-FR" sz="3200" dirty="0" smtClean="0"/>
              <a:t>: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</a:t>
            </a:r>
            <a:r>
              <a:rPr lang="fr-FR" sz="2800" b="1" dirty="0"/>
              <a:t>nom</a:t>
            </a:r>
            <a:r>
              <a:rPr lang="fr-FR" sz="2800" dirty="0"/>
              <a:t> : Nom de l’événement</a:t>
            </a:r>
            <a:r>
              <a:rPr lang="fr-FR" sz="2800" dirty="0" smtClean="0"/>
              <a:t>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</a:t>
            </a:r>
            <a:r>
              <a:rPr lang="fr-FR" sz="2800" b="1" dirty="0" err="1"/>
              <a:t>dateHeure</a:t>
            </a:r>
            <a:r>
              <a:rPr lang="fr-FR" sz="2800" dirty="0"/>
              <a:t> : La date et l’heure de l’événement (</a:t>
            </a:r>
            <a:r>
              <a:rPr lang="fr-FR" sz="2800" b="1" dirty="0" err="1"/>
              <a:t>LocalDateTime</a:t>
            </a:r>
            <a:r>
              <a:rPr lang="fr-FR" sz="2800" dirty="0" smtClean="0"/>
              <a:t>).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</a:t>
            </a:r>
            <a:r>
              <a:rPr lang="fr-FR" sz="2800" b="1" dirty="0" err="1"/>
              <a:t>duree</a:t>
            </a:r>
            <a:r>
              <a:rPr lang="fr-FR" sz="2800" dirty="0"/>
              <a:t> : La durée de l’événement (</a:t>
            </a:r>
            <a:r>
              <a:rPr lang="fr-FR" sz="2800" b="1" dirty="0"/>
              <a:t>Duration</a:t>
            </a:r>
            <a:r>
              <a:rPr lang="fr-FR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08925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Étape 2 : </a:t>
            </a:r>
            <a:r>
              <a:rPr lang="fr-FR" b="1" dirty="0" smtClean="0"/>
              <a:t>Tâches Du Projet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dirty="0"/>
              <a:t>Créer des objets </a:t>
            </a:r>
            <a:r>
              <a:rPr lang="fr-FR" sz="2400" dirty="0" smtClean="0"/>
              <a:t>Evènement </a:t>
            </a:r>
            <a:r>
              <a:rPr lang="fr-FR" sz="2400" dirty="0"/>
              <a:t>avec des dates et heures précises</a:t>
            </a:r>
            <a:r>
              <a:rPr lang="fr-FR" sz="2400" dirty="0" smtClean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dirty="0"/>
              <a:t>Lister les événements à venir par rapport à la date actuelle</a:t>
            </a:r>
            <a:r>
              <a:rPr lang="fr-FR" sz="2400" dirty="0" smtClean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dirty="0"/>
              <a:t>Calculer le temps restant avant un événement particulier</a:t>
            </a:r>
            <a:r>
              <a:rPr lang="fr-FR" sz="2400" dirty="0" smtClean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dirty="0"/>
              <a:t>Formatage des dates selon différents styles (ex : français, ISO, etc</a:t>
            </a:r>
            <a:r>
              <a:rPr lang="fr-FR" sz="2400" dirty="0" smtClean="0"/>
              <a:t>.).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dirty="0"/>
              <a:t>Ajouter des heures ou jours à un événement pour planifier un rappel.</a:t>
            </a:r>
          </a:p>
        </p:txBody>
      </p:sp>
    </p:spTree>
    <p:extLst>
      <p:ext uri="{BB962C8B-B14F-4D97-AF65-F5344CB8AC3E}">
        <p14:creationId xmlns:p14="http://schemas.microsoft.com/office/powerpoint/2010/main" val="328085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Classe représentant un événement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133601"/>
            <a:ext cx="10058400" cy="37761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287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Étape 1 :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Création </a:t>
            </a:r>
            <a:r>
              <a:rPr lang="fr-FR" b="1" dirty="0"/>
              <a:t>d'événements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6933" y="2235200"/>
            <a:ext cx="9313334" cy="27601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0159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Étape 2 :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Afficher </a:t>
            </a:r>
            <a:r>
              <a:rPr lang="fr-FR" b="1" dirty="0"/>
              <a:t>tous les événements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1467" y="2810934"/>
            <a:ext cx="6993466" cy="9493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47792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Étape 3 :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Lister </a:t>
            </a:r>
            <a:r>
              <a:rPr lang="fr-FR" b="1" dirty="0"/>
              <a:t>les événements à venir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5733" y="2387599"/>
            <a:ext cx="8686800" cy="24214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71366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 algn="ctr"/>
            <a:r>
              <a:rPr lang="fr-FR" sz="3600" b="1" dirty="0"/>
              <a:t>Étape 4 : </a:t>
            </a:r>
            <a:r>
              <a:rPr lang="fr-FR" sz="3600" b="1" dirty="0" smtClean="0"/>
              <a:t/>
            </a:r>
            <a:br>
              <a:rPr lang="fr-FR" sz="3600" b="1" dirty="0" smtClean="0"/>
            </a:br>
            <a:r>
              <a:rPr lang="fr-FR" sz="3600" b="1" dirty="0" smtClean="0"/>
              <a:t>Calculer </a:t>
            </a:r>
            <a:r>
              <a:rPr lang="fr-FR" sz="3600" b="1" dirty="0"/>
              <a:t>le temps restant avant le prochain événement</a:t>
            </a:r>
            <a:endParaRPr lang="fr-FR" sz="36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1" y="2472268"/>
            <a:ext cx="9858586" cy="26585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7052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Étape 5 :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Formatage </a:t>
            </a:r>
            <a:r>
              <a:rPr lang="fr-FR" b="1" dirty="0"/>
              <a:t>des dates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607733"/>
            <a:ext cx="10058400" cy="21166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7072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000" b="1" dirty="0"/>
              <a:t>Étape 6 : </a:t>
            </a:r>
            <a:r>
              <a:rPr lang="fr-FR" sz="4000" b="1" dirty="0" smtClean="0"/>
              <a:t/>
            </a:r>
            <a:br>
              <a:rPr lang="fr-FR" sz="4000" b="1" dirty="0" smtClean="0"/>
            </a:br>
            <a:r>
              <a:rPr lang="fr-FR" sz="4000" b="1" dirty="0" smtClean="0"/>
              <a:t>Ajouter </a:t>
            </a:r>
            <a:r>
              <a:rPr lang="fr-FR" sz="4000" b="1" dirty="0"/>
              <a:t>1 jour et 1 heure à tous les événements</a:t>
            </a:r>
            <a:endParaRPr lang="fr-FR" sz="40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472267"/>
            <a:ext cx="10058399" cy="2489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6367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Exercice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 Ajouter les fonctionnalités suivantes :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Afficher les événements passés</a:t>
            </a:r>
            <a:r>
              <a:rPr lang="fr-FR" sz="2800" dirty="0" smtClean="0"/>
              <a:t>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Calculer la durée totale de tous les événements</a:t>
            </a:r>
            <a:r>
              <a:rPr lang="fr-FR" sz="2800" dirty="0" smtClean="0"/>
              <a:t>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Formater les dates selon une autre locale (ex : </a:t>
            </a:r>
            <a:r>
              <a:rPr lang="fr-FR" sz="2800" dirty="0" err="1"/>
              <a:t>Locale.FRANCE</a:t>
            </a:r>
            <a:r>
              <a:rPr lang="fr-FR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580991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Afficher les événements passés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777068"/>
            <a:ext cx="10058399" cy="19981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4654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4000" b="1" dirty="0"/>
              <a:t>Calculer la durée totale de tous les événements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675467"/>
            <a:ext cx="10058400" cy="21166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0655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3200" b="1" dirty="0"/>
              <a:t>Formater les dates selon une autre locale (ex : </a:t>
            </a:r>
            <a:r>
              <a:rPr lang="fr-FR" sz="3200" b="1" dirty="0" err="1"/>
              <a:t>Locale.FRANCE</a:t>
            </a:r>
            <a:r>
              <a:rPr lang="fr-FR" sz="3200" b="1" dirty="0"/>
              <a:t>)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607733"/>
            <a:ext cx="10058400" cy="2286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1090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Conclusion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 En résumé, cette première partie a mis en lumière les fondations modernes de Java, avec des outils puissants comme les </a:t>
            </a:r>
            <a:r>
              <a:rPr lang="fr-FR" sz="3200" b="1" dirty="0" err="1"/>
              <a:t>lambdas</a:t>
            </a:r>
            <a:r>
              <a:rPr lang="fr-FR" sz="3200" dirty="0"/>
              <a:t>, les </a:t>
            </a:r>
            <a:r>
              <a:rPr lang="fr-FR" sz="3200" b="1" dirty="0" err="1"/>
              <a:t>streams</a:t>
            </a:r>
            <a:r>
              <a:rPr lang="fr-FR" sz="3200" dirty="0"/>
              <a:t>, et </a:t>
            </a:r>
            <a:r>
              <a:rPr lang="fr-FR" sz="3200" b="1" dirty="0"/>
              <a:t>l'API </a:t>
            </a:r>
            <a:r>
              <a:rPr lang="fr-FR" sz="3200" b="1" dirty="0" err="1"/>
              <a:t>DateTime</a:t>
            </a:r>
            <a:r>
              <a:rPr lang="fr-FR" sz="3200" dirty="0"/>
              <a:t>, tout en renforçant la maîtrise des concepts de </a:t>
            </a:r>
            <a:r>
              <a:rPr lang="fr-FR" sz="3200" b="1" dirty="0"/>
              <a:t>programmation concurrente</a:t>
            </a:r>
            <a:r>
              <a:rPr lang="fr-FR" sz="3200" dirty="0"/>
              <a:t> introduits depuis </a:t>
            </a:r>
            <a:r>
              <a:rPr lang="fr-FR" sz="3200" b="1" dirty="0"/>
              <a:t>JDK 7</a:t>
            </a:r>
            <a:r>
              <a:rPr lang="fr-FR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71743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Conclusion – Jour </a:t>
            </a:r>
            <a:r>
              <a:rPr lang="fr-FR" b="1" dirty="0" smtClean="0"/>
              <a:t>1</a:t>
            </a:r>
            <a:br>
              <a:rPr lang="fr-FR" b="1" dirty="0" smtClean="0"/>
            </a:br>
            <a:r>
              <a:rPr lang="fr-FR" b="1" dirty="0" smtClean="0"/>
              <a:t>Fondations </a:t>
            </a:r>
            <a:r>
              <a:rPr lang="fr-FR" b="1" dirty="0"/>
              <a:t>modernes de Java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 Au terme de cette première journée, nous avons posé les </a:t>
            </a:r>
            <a:r>
              <a:rPr lang="fr-FR" sz="3200" b="1" dirty="0"/>
              <a:t>bases essentielles de la programmation moderne en Java</a:t>
            </a:r>
            <a:r>
              <a:rPr lang="fr-FR" sz="3200" dirty="0"/>
              <a:t>, telles qu'introduites à partir du JDK 7 et JDK 8. Ces évolutions ont apporté un tournant décisif dans la manière d'écrire du code plus </a:t>
            </a:r>
            <a:r>
              <a:rPr lang="fr-FR" sz="3200" b="1" dirty="0"/>
              <a:t>expressif</a:t>
            </a:r>
            <a:r>
              <a:rPr lang="fr-FR" sz="3200" dirty="0"/>
              <a:t>, </a:t>
            </a:r>
            <a:r>
              <a:rPr lang="fr-FR" sz="3200" b="1" dirty="0"/>
              <a:t>performant</a:t>
            </a:r>
            <a:r>
              <a:rPr lang="fr-FR" sz="3200" dirty="0"/>
              <a:t> et </a:t>
            </a:r>
            <a:r>
              <a:rPr lang="fr-FR" sz="3200" b="1" dirty="0"/>
              <a:t>maintenable</a:t>
            </a:r>
            <a:r>
              <a:rPr lang="fr-FR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8122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Ce que vous avez retenu aujourd’hui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fr-FR" sz="2800" dirty="0"/>
              <a:t>Programmation concurrente (JDK 7</a:t>
            </a:r>
            <a:r>
              <a:rPr lang="fr-FR" sz="2800" dirty="0" smtClean="0"/>
              <a:t>+)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fr-FR" sz="2800" dirty="0"/>
              <a:t>Les expressions lambda &amp; interfaces fonctionnelles (JDK 8</a:t>
            </a:r>
            <a:r>
              <a:rPr lang="fr-FR" sz="2800" dirty="0" smtClean="0"/>
              <a:t>)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fr-FR" sz="2800" dirty="0"/>
              <a:t>L’API Stream (JDK 8</a:t>
            </a:r>
            <a:r>
              <a:rPr lang="fr-FR" sz="2800" dirty="0" smtClean="0"/>
              <a:t>)</a:t>
            </a:r>
          </a:p>
          <a:p>
            <a:pPr marL="457200" indent="-457200" algn="just">
              <a:lnSpc>
                <a:spcPct val="200000"/>
              </a:lnSpc>
              <a:buFont typeface="+mj-lt"/>
              <a:buAutoNum type="arabicPeriod"/>
            </a:pPr>
            <a:r>
              <a:rPr lang="fr-FR" sz="2800" dirty="0"/>
              <a:t>L’API </a:t>
            </a:r>
            <a:r>
              <a:rPr lang="fr-FR" sz="2800" dirty="0" err="1"/>
              <a:t>DateTime</a:t>
            </a:r>
            <a:r>
              <a:rPr lang="fr-FR" sz="2800" dirty="0"/>
              <a:t> (JDK 8)</a:t>
            </a:r>
          </a:p>
        </p:txBody>
      </p:sp>
    </p:spTree>
    <p:extLst>
      <p:ext uri="{BB962C8B-B14F-4D97-AF65-F5344CB8AC3E}">
        <p14:creationId xmlns:p14="http://schemas.microsoft.com/office/powerpoint/2010/main" val="3532397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Programmation concurrente (JDK 7</a:t>
            </a:r>
            <a:r>
              <a:rPr lang="fr-FR" b="1" dirty="0" smtClean="0"/>
              <a:t>+)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Introduction de </a:t>
            </a:r>
            <a:r>
              <a:rPr lang="fr-FR" sz="2800" b="1" dirty="0" err="1"/>
              <a:t>ForkJoinPool</a:t>
            </a:r>
            <a:r>
              <a:rPr lang="fr-FR" sz="2800" dirty="0"/>
              <a:t> et du modèle </a:t>
            </a:r>
            <a:r>
              <a:rPr lang="fr-FR" sz="2800" b="1" dirty="0" err="1"/>
              <a:t>Work-Stealing</a:t>
            </a:r>
            <a:r>
              <a:rPr lang="fr-FR" sz="2800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/>
              <a:t> Meilleure </a:t>
            </a:r>
            <a:r>
              <a:rPr lang="fr-FR" sz="2800" dirty="0" err="1"/>
              <a:t>scalabilité</a:t>
            </a:r>
            <a:r>
              <a:rPr lang="fr-FR" sz="2800" dirty="0"/>
              <a:t> avec </a:t>
            </a:r>
            <a:r>
              <a:rPr lang="fr-FR" sz="2800" b="1" dirty="0" err="1"/>
              <a:t>ExecutorService</a:t>
            </a:r>
            <a:r>
              <a:rPr lang="fr-FR" sz="2800" dirty="0"/>
              <a:t>, </a:t>
            </a:r>
            <a:r>
              <a:rPr lang="fr-FR" sz="2800" b="1" dirty="0" err="1"/>
              <a:t>Callable</a:t>
            </a:r>
            <a:r>
              <a:rPr lang="fr-FR" sz="2800" dirty="0"/>
              <a:t>, </a:t>
            </a:r>
            <a:r>
              <a:rPr lang="fr-FR" sz="2800" b="1" dirty="0"/>
              <a:t>Future</a:t>
            </a:r>
            <a:r>
              <a:rPr lang="fr-FR" sz="2800" dirty="0"/>
              <a:t>, etc</a:t>
            </a:r>
            <a:r>
              <a:rPr lang="fr-FR" sz="2800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/>
              <a:t> TP : </a:t>
            </a:r>
            <a:r>
              <a:rPr lang="fr-FR" sz="2800" b="1" dirty="0" err="1"/>
              <a:t>parallélisation</a:t>
            </a:r>
            <a:r>
              <a:rPr lang="fr-FR" sz="2800" dirty="0"/>
              <a:t> simple</a:t>
            </a:r>
          </a:p>
        </p:txBody>
      </p:sp>
    </p:spTree>
    <p:extLst>
      <p:ext uri="{BB962C8B-B14F-4D97-AF65-F5344CB8AC3E}">
        <p14:creationId xmlns:p14="http://schemas.microsoft.com/office/powerpoint/2010/main" val="778293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b="1" dirty="0"/>
              <a:t>Les expressions lambda &amp; interfaces fonctionnelles (JDK 8</a:t>
            </a:r>
            <a:r>
              <a:rPr lang="fr-FR" b="1" dirty="0" smtClean="0"/>
              <a:t>)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Introduction à la programmation fonctionnelle</a:t>
            </a:r>
            <a:r>
              <a:rPr lang="fr-FR" sz="2800" dirty="0" smtClean="0"/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Syntaxe simplifiée pour des traitements plus lisibles</a:t>
            </a:r>
            <a:r>
              <a:rPr lang="fr-FR" sz="2800" dirty="0" smtClean="0"/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Interfaces </a:t>
            </a:r>
            <a:r>
              <a:rPr lang="fr-FR" sz="2800" b="1" dirty="0" err="1"/>
              <a:t>Predicate</a:t>
            </a:r>
            <a:r>
              <a:rPr lang="fr-FR" sz="2800" dirty="0"/>
              <a:t>, Consumer, </a:t>
            </a:r>
            <a:r>
              <a:rPr lang="fr-FR" sz="2800" b="1" dirty="0" err="1"/>
              <a:t>Function</a:t>
            </a:r>
            <a:r>
              <a:rPr lang="fr-FR" sz="2800" dirty="0"/>
              <a:t>, Supplier, etc</a:t>
            </a:r>
            <a:r>
              <a:rPr lang="fr-FR" sz="2800" dirty="0" smtClean="0"/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Méthodes de référence et expressions lambda complexes</a:t>
            </a:r>
            <a:r>
              <a:rPr lang="fr-FR" sz="2800" dirty="0" smtClean="0"/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</a:t>
            </a:r>
            <a:r>
              <a:rPr lang="fr-FR" sz="2800" b="1" dirty="0"/>
              <a:t>TP</a:t>
            </a:r>
            <a:r>
              <a:rPr lang="fr-FR" sz="2800" dirty="0"/>
              <a:t> : implémentations de traitements fonctionnels modernes.</a:t>
            </a:r>
          </a:p>
        </p:txBody>
      </p:sp>
    </p:spTree>
    <p:extLst>
      <p:ext uri="{BB962C8B-B14F-4D97-AF65-F5344CB8AC3E}">
        <p14:creationId xmlns:p14="http://schemas.microsoft.com/office/powerpoint/2010/main" val="222005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L’API Stream (JDK 8</a:t>
            </a:r>
            <a:r>
              <a:rPr lang="fr-FR" b="1" dirty="0" smtClean="0"/>
              <a:t>)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Traitement fluide et déclaratif des collections</a:t>
            </a:r>
            <a:r>
              <a:rPr lang="fr-FR" sz="2800" dirty="0" smtClean="0"/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Opérations intermédiaires (</a:t>
            </a:r>
            <a:r>
              <a:rPr lang="fr-FR" sz="2800" b="1" dirty="0" err="1"/>
              <a:t>filter</a:t>
            </a:r>
            <a:r>
              <a:rPr lang="fr-FR" sz="2800" dirty="0"/>
              <a:t>, </a:t>
            </a:r>
            <a:r>
              <a:rPr lang="fr-FR" sz="2800" b="1" dirty="0" err="1"/>
              <a:t>map</a:t>
            </a:r>
            <a:r>
              <a:rPr lang="fr-FR" sz="2800" dirty="0"/>
              <a:t>, </a:t>
            </a:r>
            <a:r>
              <a:rPr lang="fr-FR" sz="2800" b="1" dirty="0" err="1"/>
              <a:t>sorted</a:t>
            </a:r>
            <a:r>
              <a:rPr lang="fr-FR" sz="2800" dirty="0"/>
              <a:t>) et terminales (</a:t>
            </a:r>
            <a:r>
              <a:rPr lang="fr-FR" sz="2800" b="1" dirty="0" err="1"/>
              <a:t>collect</a:t>
            </a:r>
            <a:r>
              <a:rPr lang="fr-FR" sz="2800" dirty="0"/>
              <a:t>, </a:t>
            </a:r>
            <a:r>
              <a:rPr lang="fr-FR" sz="2800" b="1" dirty="0" err="1"/>
              <a:t>reduce</a:t>
            </a:r>
            <a:r>
              <a:rPr lang="fr-FR" sz="2800" dirty="0"/>
              <a:t>, etc</a:t>
            </a:r>
            <a:r>
              <a:rPr lang="fr-FR" sz="2800" dirty="0" smtClean="0"/>
              <a:t>.).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 Possibilité de paralléliser facilement les traitements avec </a:t>
            </a:r>
            <a:r>
              <a:rPr lang="fr-FR" sz="2800" b="1" dirty="0" err="1"/>
              <a:t>parallelStream</a:t>
            </a:r>
            <a:r>
              <a:rPr lang="fr-F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6169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dirty="0"/>
              <a:t>L’API </a:t>
            </a:r>
            <a:r>
              <a:rPr lang="fr-FR" dirty="0" err="1"/>
              <a:t>DateTime</a:t>
            </a:r>
            <a:r>
              <a:rPr lang="fr-FR" dirty="0"/>
              <a:t> (JDK 8</a:t>
            </a:r>
            <a:r>
              <a:rPr lang="fr-FR" dirty="0" smtClean="0"/>
              <a:t>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 Remplacement efficace de </a:t>
            </a:r>
            <a:r>
              <a:rPr lang="fr-FR" sz="3200" b="1" dirty="0"/>
              <a:t>Date/</a:t>
            </a:r>
            <a:r>
              <a:rPr lang="fr-FR" sz="3200" b="1" dirty="0" err="1"/>
              <a:t>Calendar</a:t>
            </a:r>
            <a:r>
              <a:rPr lang="fr-FR" sz="3200" dirty="0" smtClean="0"/>
              <a:t>.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 Classes </a:t>
            </a:r>
            <a:r>
              <a:rPr lang="fr-FR" sz="3200" b="1" dirty="0" err="1"/>
              <a:t>LocalDate</a:t>
            </a:r>
            <a:r>
              <a:rPr lang="fr-FR" sz="3200" dirty="0"/>
              <a:t>, </a:t>
            </a:r>
            <a:r>
              <a:rPr lang="fr-FR" sz="3200" b="1" dirty="0" err="1"/>
              <a:t>LocalDateTime</a:t>
            </a:r>
            <a:r>
              <a:rPr lang="fr-FR" sz="3200" dirty="0"/>
              <a:t>, </a:t>
            </a:r>
            <a:r>
              <a:rPr lang="fr-FR" sz="3200" b="1" dirty="0" err="1"/>
              <a:t>Period</a:t>
            </a:r>
            <a:r>
              <a:rPr lang="fr-FR" sz="3200" dirty="0"/>
              <a:t>, </a:t>
            </a:r>
            <a:r>
              <a:rPr lang="fr-FR" sz="3200" b="1" dirty="0"/>
              <a:t>Duration</a:t>
            </a:r>
            <a:r>
              <a:rPr lang="fr-FR" sz="3200" dirty="0"/>
              <a:t>, etc</a:t>
            </a:r>
            <a:r>
              <a:rPr lang="fr-FR" sz="3200" dirty="0" smtClean="0"/>
              <a:t>.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sz="3200" dirty="0"/>
              <a:t> </a:t>
            </a:r>
            <a:r>
              <a:rPr lang="fr-FR" sz="3200" b="1" dirty="0"/>
              <a:t>TP</a:t>
            </a:r>
            <a:r>
              <a:rPr lang="fr-FR" sz="3200" dirty="0"/>
              <a:t> : manipulation de dates dans un contexte métier.</a:t>
            </a:r>
          </a:p>
        </p:txBody>
      </p:sp>
    </p:spTree>
    <p:extLst>
      <p:ext uri="{BB962C8B-B14F-4D97-AF65-F5344CB8AC3E}">
        <p14:creationId xmlns:p14="http://schemas.microsoft.com/office/powerpoint/2010/main" val="294823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Bonnes pratiques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905918"/>
            <a:ext cx="10058400" cy="426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443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2347</TotalTime>
  <Words>3800</Words>
  <Application>Microsoft Office PowerPoint</Application>
  <PresentationFormat>Grand écran</PresentationFormat>
  <Paragraphs>476</Paragraphs>
  <Slides>174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174</vt:i4>
      </vt:variant>
    </vt:vector>
  </HeadingPairs>
  <TitlesOfParts>
    <vt:vector size="180" baseType="lpstr">
      <vt:lpstr>Arial</vt:lpstr>
      <vt:lpstr>Arial Unicode MS</vt:lpstr>
      <vt:lpstr>Calibri</vt:lpstr>
      <vt:lpstr>Calibri Light</vt:lpstr>
      <vt:lpstr>Wingdings</vt:lpstr>
      <vt:lpstr>Rétrospective</vt:lpstr>
      <vt:lpstr>Java - Nouveautés des versions 8 à 26</vt:lpstr>
      <vt:lpstr>Introduction</vt:lpstr>
      <vt:lpstr>Objectif de la formation</vt:lpstr>
      <vt:lpstr>Concepts Jour 1</vt:lpstr>
      <vt:lpstr>Rappels des apports en programmation concurrente (JDK 7 et plus)</vt:lpstr>
      <vt:lpstr>Rappels des apports en programmation concurrente (JDK 7 et plus) </vt:lpstr>
      <vt:lpstr>Fork/Join Framework (JDK 7)</vt:lpstr>
      <vt:lpstr>Fork/Join Framework (JDK 7) Calcul de la somme d'un tableau</vt:lpstr>
      <vt:lpstr>Améliorations des collections concurrentes </vt:lpstr>
      <vt:lpstr>ConcurrentLinkedDeque</vt:lpstr>
      <vt:lpstr>Exemple d'utilisation : traitement partagé FIFO/LIFO</vt:lpstr>
      <vt:lpstr>LinkedTransferQueue</vt:lpstr>
      <vt:lpstr>Exemple producteur-consommateur avec transfer()</vt:lpstr>
      <vt:lpstr>Résumé des avantages</vt:lpstr>
      <vt:lpstr>Parallel Streams (JDK 8)</vt:lpstr>
      <vt:lpstr>Exemple 1 : Somme parallèle</vt:lpstr>
      <vt:lpstr>Exemple 2 : Traitement d’une liste de chaînes</vt:lpstr>
      <vt:lpstr>Bonnes pratiques et limitations</vt:lpstr>
      <vt:lpstr>Utilisation combinée : tri, filtrage, mapping</vt:lpstr>
      <vt:lpstr>Résumé</vt:lpstr>
      <vt:lpstr>CompletableFuture (JDK 8+) – Programmation asynchrone moderne</vt:lpstr>
      <vt:lpstr>Exemple 1 : tâche asynchrone simple</vt:lpstr>
      <vt:lpstr>Exemple 2 : appel asynchrone + transformation</vt:lpstr>
      <vt:lpstr>Exemple 3 : appels asynchrones parallèles + combinaison</vt:lpstr>
      <vt:lpstr>Java 9 : Nouveautés CompletableFuture</vt:lpstr>
      <vt:lpstr>Exemple avec timeout (Java 9)</vt:lpstr>
      <vt:lpstr>Cas d’usage professionnels</vt:lpstr>
      <vt:lpstr>Bonnes pratiques</vt:lpstr>
      <vt:lpstr>Gestion des Threads améliorée (JDK 10 et plus) </vt:lpstr>
      <vt:lpstr>Gestion des Threads améliorée (JDK 10 et plus) Cas réel : Gestion de milliers de connexions simultanées</vt:lpstr>
      <vt:lpstr>Virtual Threads (Project Loom)</vt:lpstr>
      <vt:lpstr>Structured Concurrency (JDK 21)</vt:lpstr>
      <vt:lpstr>Structured Concurrency (JDK 21) Cas réel : Recherche parallèle de données distribuées</vt:lpstr>
      <vt:lpstr>Comparatif : ExecutorService vs ForkJoinPool vs Virtual Threads (JDK 21+)</vt:lpstr>
      <vt:lpstr>Benchmark synthétique  (exécution de 10 000 tâches courtes)</vt:lpstr>
      <vt:lpstr>Recommandations pratiques</vt:lpstr>
      <vt:lpstr>Modèle Work-Stealing – ForkJoinPool (Java 7+)</vt:lpstr>
      <vt:lpstr>Principe de fonctionnement</vt:lpstr>
      <vt:lpstr>Illustration schématique</vt:lpstr>
      <vt:lpstr>Exemple Java avec RecursiveTask</vt:lpstr>
      <vt:lpstr>Avantages du Work-Stealing</vt:lpstr>
      <vt:lpstr>Conclusion</vt:lpstr>
      <vt:lpstr>Atelier 1</vt:lpstr>
      <vt:lpstr>Présentation PowerPoint</vt:lpstr>
      <vt:lpstr>Les lambda en Java  (JDK 8 et plus)</vt:lpstr>
      <vt:lpstr>Introduction</vt:lpstr>
      <vt:lpstr>Exemple sans lambda (Java 7) </vt:lpstr>
      <vt:lpstr>Exemple 2</vt:lpstr>
      <vt:lpstr>Limites</vt:lpstr>
      <vt:lpstr>Les lambda expressions</vt:lpstr>
      <vt:lpstr>Exemples simples</vt:lpstr>
      <vt:lpstr>Les interfaces fonctionnelles</vt:lpstr>
      <vt:lpstr>Les interfaces fonctionnelles</vt:lpstr>
      <vt:lpstr>Exemple</vt:lpstr>
      <vt:lpstr>Pourquoi elles sont importantes ?</vt:lpstr>
      <vt:lpstr>Valeur ajoutée en entreprise</vt:lpstr>
      <vt:lpstr>Code plus court et lisible</vt:lpstr>
      <vt:lpstr>Passage de comportement en paramètre</vt:lpstr>
      <vt:lpstr>Base des Streams (très utilisé en entreprise)</vt:lpstr>
      <vt:lpstr>Facilite la programmation concurrente</vt:lpstr>
      <vt:lpstr>Réduction du code boilerplate</vt:lpstr>
      <vt:lpstr>Les interfaces fonctionnelles prédéfinies (Java 8 et plus)</vt:lpstr>
      <vt:lpstr>Interfaces fonctionnelles prédéfinies</vt:lpstr>
      <vt:lpstr>Predicate&lt;T&gt;</vt:lpstr>
      <vt:lpstr>Consumer&lt;T&gt;</vt:lpstr>
      <vt:lpstr>Function&lt;T, R&gt;</vt:lpstr>
      <vt:lpstr>Supplier&lt;T&gt; </vt:lpstr>
      <vt:lpstr>BiFunction&lt;T, U, R&gt; </vt:lpstr>
      <vt:lpstr>À noter</vt:lpstr>
      <vt:lpstr>Paramètres d’une lambda expression</vt:lpstr>
      <vt:lpstr>Cas d’utilisation des lambda expressions</vt:lpstr>
      <vt:lpstr> Tri simplifié </vt:lpstr>
      <vt:lpstr>Parcourir et afficher</vt:lpstr>
      <vt:lpstr>Filtrage</vt:lpstr>
      <vt:lpstr>Les références de méthode dans les lambda expressions</vt:lpstr>
      <vt:lpstr>Types de références de méthode</vt:lpstr>
      <vt:lpstr>Référence à une méthode statique</vt:lpstr>
      <vt:lpstr> Référence à une méthode d’instance d’un objet particulier</vt:lpstr>
      <vt:lpstr> Référence à une méthode d’instance d’un objet arbitraire</vt:lpstr>
      <vt:lpstr> Référence à un constructeur</vt:lpstr>
      <vt:lpstr>Conclusion</vt:lpstr>
      <vt:lpstr>Atelier 2</vt:lpstr>
      <vt:lpstr>Etape 1 Création d’une interface fonctionnelle et d'une liste de nombres</vt:lpstr>
      <vt:lpstr>Etape 2: Développement des fonctions</vt:lpstr>
      <vt:lpstr>Méthode pour filtrer une liste avec un Predicate</vt:lpstr>
      <vt:lpstr>Méthode pour transformer une liste avec une Function</vt:lpstr>
      <vt:lpstr>Méthode pour traiter une liste avec un Consumer</vt:lpstr>
      <vt:lpstr>Etape 3 Utilisation des interfaces fonctionnelles fournies</vt:lpstr>
      <vt:lpstr>Etape 4 Création d'une interface fonctionnelle personnalisée</vt:lpstr>
      <vt:lpstr>Etape 5</vt:lpstr>
      <vt:lpstr>Lambda concise</vt:lpstr>
      <vt:lpstr>Lambda complète</vt:lpstr>
      <vt:lpstr>Méthode de référence</vt:lpstr>
      <vt:lpstr>Conclusion</vt:lpstr>
      <vt:lpstr>Exercice 1 Trier une liste avec lambda</vt:lpstr>
      <vt:lpstr>Correction</vt:lpstr>
      <vt:lpstr>Exercice 2 Référence de méthode</vt:lpstr>
      <vt:lpstr>Correction</vt:lpstr>
      <vt:lpstr>Exercice 3 Utiliser Predicate pour filtrer une liste</vt:lpstr>
      <vt:lpstr>Correction</vt:lpstr>
      <vt:lpstr>Les streams  (JDK 8 et plus)</vt:lpstr>
      <vt:lpstr>Présentation générale des streams</vt:lpstr>
      <vt:lpstr>Caractéristiques principales des streams </vt:lpstr>
      <vt:lpstr>Créer des streams</vt:lpstr>
      <vt:lpstr>Création de Stream à partir d’une collection </vt:lpstr>
      <vt:lpstr>Création de Stream à partir d’un tableau </vt:lpstr>
      <vt:lpstr>Création de Stream à partir de nombres (Streams infinis) </vt:lpstr>
      <vt:lpstr>Création de Stream à partir de fichiers (I/O) </vt:lpstr>
      <vt:lpstr>Opérations intermédiaires sur les streams</vt:lpstr>
      <vt:lpstr>Liste des principales opérations intermédiaires </vt:lpstr>
      <vt:lpstr>Filtrage (filter)</vt:lpstr>
      <vt:lpstr>Transformation (map)</vt:lpstr>
      <vt:lpstr>Tri (sorted)</vt:lpstr>
      <vt:lpstr>Suppression des doublons (distinct)</vt:lpstr>
      <vt:lpstr>Limitation (limit)</vt:lpstr>
      <vt:lpstr>Ignorer des éléments (skip)</vt:lpstr>
      <vt:lpstr>Conclusion</vt:lpstr>
      <vt:lpstr>Atelier 3</vt:lpstr>
      <vt:lpstr>Classe Produit</vt:lpstr>
      <vt:lpstr>Étape 1 : Créer une liste de produits</vt:lpstr>
      <vt:lpstr>Étape 2 :  Filtrer les produits de la catégorie "Électronique"</vt:lpstr>
      <vt:lpstr>Étape 3 :  Ajouter un préfixe au nom de chaque produit et afficher</vt:lpstr>
      <vt:lpstr>Étape 4 :  Trier les produits par prix croissant</vt:lpstr>
      <vt:lpstr>Étape 5 :  Calculer le prix total des produits</vt:lpstr>
      <vt:lpstr>Étape 6 :  Collecter les noms des produits dans une liste</vt:lpstr>
      <vt:lpstr>Atelier de Refactoring</vt:lpstr>
      <vt:lpstr>CAS 1: Filtrage et transformation sur une liste de chaînes</vt:lpstr>
      <vt:lpstr>Version impérative</vt:lpstr>
      <vt:lpstr>Solution</vt:lpstr>
      <vt:lpstr>Cas 2: Agrégation numérique</vt:lpstr>
      <vt:lpstr>Version impérative</vt:lpstr>
      <vt:lpstr>Solution</vt:lpstr>
      <vt:lpstr>Cas 3: Regroupement et comptage</vt:lpstr>
      <vt:lpstr>Version impérative</vt:lpstr>
      <vt:lpstr>Solution</vt:lpstr>
      <vt:lpstr>Tableau comparatif : Impératif vs Stream API</vt:lpstr>
      <vt:lpstr>Tableau comparatif : Impératif vs Stream API</vt:lpstr>
      <vt:lpstr>L'API DateTime  (JDK 8 et plus)</vt:lpstr>
      <vt:lpstr>Présentation de l’API DateTime</vt:lpstr>
      <vt:lpstr>Avantages principaux de l’API DateTime </vt:lpstr>
      <vt:lpstr>Classes importantes de DateTime</vt:lpstr>
      <vt:lpstr>LocalDate</vt:lpstr>
      <vt:lpstr>LocalTime</vt:lpstr>
      <vt:lpstr>LocalDateTime</vt:lpstr>
      <vt:lpstr>ZonedDateTime</vt:lpstr>
      <vt:lpstr>Period et Duration</vt:lpstr>
      <vt:lpstr>Utilisation de DateTime</vt:lpstr>
      <vt:lpstr>Manipuler les dates et heures</vt:lpstr>
      <vt:lpstr>Formatage et parsing des dates</vt:lpstr>
      <vt:lpstr>Comparer les dates</vt:lpstr>
      <vt:lpstr>Gérer les zones horaires</vt:lpstr>
      <vt:lpstr>CONCLUSION</vt:lpstr>
      <vt:lpstr>Atelier 4</vt:lpstr>
      <vt:lpstr>Étape 1 : Modèle des événements</vt:lpstr>
      <vt:lpstr>Étape 2 : Tâches Du Projet</vt:lpstr>
      <vt:lpstr>Classe représentant un événement</vt:lpstr>
      <vt:lpstr>Étape 1 :  Création d'événements</vt:lpstr>
      <vt:lpstr>Étape 2 :  Afficher tous les événements</vt:lpstr>
      <vt:lpstr>Étape 3 :  Lister les événements à venir</vt:lpstr>
      <vt:lpstr>Étape 4 :  Calculer le temps restant avant le prochain événement</vt:lpstr>
      <vt:lpstr>Étape 5 :  Formatage des dates</vt:lpstr>
      <vt:lpstr>Étape 6 :  Ajouter 1 jour et 1 heure à tous les événements</vt:lpstr>
      <vt:lpstr>Exercice</vt:lpstr>
      <vt:lpstr>Afficher les événements passés</vt:lpstr>
      <vt:lpstr>Calculer la durée totale de tous les événements</vt:lpstr>
      <vt:lpstr>Formater les dates selon une autre locale (ex : Locale.FRANCE)</vt:lpstr>
      <vt:lpstr>Conclusion</vt:lpstr>
      <vt:lpstr>Conclusion – Jour 1 Fondations modernes de Java</vt:lpstr>
      <vt:lpstr>Ce que vous avez retenu aujourd’hui</vt:lpstr>
      <vt:lpstr>Programmation concurrente (JDK 7+)</vt:lpstr>
      <vt:lpstr>Les expressions lambda &amp; interfaces fonctionnelles (JDK 8)</vt:lpstr>
      <vt:lpstr>L’API Stream (JDK 8)</vt:lpstr>
      <vt:lpstr>L’API DateTime (JDK 8)</vt:lpstr>
      <vt:lpstr>Bonnes pratiques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- Nouveautés des versions 8 à 22</dc:title>
  <dc:creator>admin</dc:creator>
  <cp:lastModifiedBy>admin</cp:lastModifiedBy>
  <cp:revision>312</cp:revision>
  <dcterms:created xsi:type="dcterms:W3CDTF">2024-12-19T08:53:06Z</dcterms:created>
  <dcterms:modified xsi:type="dcterms:W3CDTF">2026-03-25T01:44:07Z</dcterms:modified>
</cp:coreProperties>
</file>