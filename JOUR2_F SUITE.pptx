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8"/>
  </p:notesMasterIdLst>
  <p:sldIdLst>
    <p:sldId id="256" r:id="rId2"/>
    <p:sldId id="279" r:id="rId3"/>
    <p:sldId id="532" r:id="rId4"/>
    <p:sldId id="533" r:id="rId5"/>
    <p:sldId id="447" r:id="rId6"/>
    <p:sldId id="476" r:id="rId7"/>
    <p:sldId id="477" r:id="rId8"/>
    <p:sldId id="529" r:id="rId9"/>
    <p:sldId id="530" r:id="rId10"/>
    <p:sldId id="531" r:id="rId11"/>
    <p:sldId id="478" r:id="rId12"/>
    <p:sldId id="479" r:id="rId13"/>
    <p:sldId id="483" r:id="rId14"/>
    <p:sldId id="484" r:id="rId15"/>
    <p:sldId id="485" r:id="rId16"/>
    <p:sldId id="494" r:id="rId17"/>
    <p:sldId id="495" r:id="rId18"/>
    <p:sldId id="496" r:id="rId19"/>
    <p:sldId id="497" r:id="rId20"/>
    <p:sldId id="499" r:id="rId21"/>
    <p:sldId id="513" r:id="rId22"/>
    <p:sldId id="514" r:id="rId23"/>
    <p:sldId id="515" r:id="rId24"/>
    <p:sldId id="516" r:id="rId25"/>
    <p:sldId id="517" r:id="rId26"/>
    <p:sldId id="518" r:id="rId27"/>
    <p:sldId id="519" r:id="rId28"/>
    <p:sldId id="520" r:id="rId29"/>
    <p:sldId id="521" r:id="rId30"/>
    <p:sldId id="522" r:id="rId31"/>
    <p:sldId id="523" r:id="rId32"/>
    <p:sldId id="524" r:id="rId33"/>
    <p:sldId id="525" r:id="rId34"/>
    <p:sldId id="526" r:id="rId35"/>
    <p:sldId id="527" r:id="rId36"/>
    <p:sldId id="528" r:id="rId3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4" d="100"/>
          <a:sy n="44" d="100"/>
        </p:scale>
        <p:origin x="96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1098FF-0894-40A0-AD14-CF3105397A50}" type="datetimeFigureOut">
              <a:rPr lang="fr-FR" smtClean="0"/>
              <a:t>17/09/2025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DEE988-0DE3-474C-81F3-7EE4CF05D1EB}" type="slidenum">
              <a:rPr lang="fr-FR" smtClean="0"/>
              <a:t>‹N°›</a:t>
            </a:fld>
            <a:endParaRPr lang="fr-FR"/>
          </a:p>
        </p:txBody>
      </p:sp>
    </p:spTree>
    <p:extLst>
      <p:ext uri="{BB962C8B-B14F-4D97-AF65-F5344CB8AC3E}">
        <p14:creationId xmlns:p14="http://schemas.microsoft.com/office/powerpoint/2010/main" val="2211543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smtClean="0"/>
              <a:t>Modifiez le style du titre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17/09/2025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926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17/09/2025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4229738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smtClean="0"/>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E1A177EF-A8B2-4D01-92A9-E9DED3ABB528}" type="datetimeFigureOut">
              <a:rPr lang="fr-FR" smtClean="0"/>
              <a:t>17/09/2025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0601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E1A177EF-A8B2-4D01-92A9-E9DED3ABB528}" type="datetimeFigureOut">
              <a:rPr lang="fr-FR" smtClean="0"/>
              <a:t>17/09/2025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2332289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E1A177EF-A8B2-4D01-92A9-E9DED3ABB528}" type="datetimeFigureOut">
              <a:rPr lang="fr-FR" smtClean="0"/>
              <a:t>17/09/2025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218399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E1A177EF-A8B2-4D01-92A9-E9DED3ABB528}" type="datetimeFigureOut">
              <a:rPr lang="fr-FR" smtClean="0"/>
              <a:t>17/09/2025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80185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1A177EF-A8B2-4D01-92A9-E9DED3ABB528}" type="datetimeFigureOut">
              <a:rPr lang="fr-FR" smtClean="0"/>
              <a:t>17/09/2025</a:t>
            </a:fld>
            <a:endParaRPr lang="fr-F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fr-FR"/>
          </a:p>
        </p:txBody>
      </p:sp>
      <p:sp>
        <p:nvSpPr>
          <p:cNvPr id="9" name="Slide Number Placeholder 8"/>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4071880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smtClean="0"/>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1A177EF-A8B2-4D01-92A9-E9DED3ABB528}" type="datetimeFigureOut">
              <a:rPr lang="fr-FR" smtClean="0"/>
              <a:t>17/09/2025</a:t>
            </a:fld>
            <a:endParaRPr lang="fr-F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fr-F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09CF309-9D65-4C4C-83E1-586A56AD6C78}" type="slidenum">
              <a:rPr lang="fr-FR" smtClean="0"/>
              <a:t>‹N°›</a:t>
            </a:fld>
            <a:endParaRPr lang="fr-FR"/>
          </a:p>
        </p:txBody>
      </p:sp>
    </p:spTree>
    <p:extLst>
      <p:ext uri="{BB962C8B-B14F-4D97-AF65-F5344CB8AC3E}">
        <p14:creationId xmlns:p14="http://schemas.microsoft.com/office/powerpoint/2010/main" val="312741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E1A177EF-A8B2-4D01-92A9-E9DED3ABB528}" type="datetimeFigureOut">
              <a:rPr lang="fr-FR" smtClean="0"/>
              <a:t>17/09/2025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3819550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17/09/2025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1678477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17/09/2025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1526376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smtClean="0"/>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1A177EF-A8B2-4D01-92A9-E9DED3ABB528}" type="datetimeFigureOut">
              <a:rPr lang="fr-FR" smtClean="0"/>
              <a:t>17/09/2025</a:t>
            </a:fld>
            <a:endParaRPr lang="fr-F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fr-F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09CF309-9D65-4C4C-83E1-586A56AD6C78}" type="slidenum">
              <a:rPr lang="fr-FR" smtClean="0"/>
              <a:t>‹N°›</a:t>
            </a:fld>
            <a:endParaRPr lang="fr-F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41179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pPr algn="ctr"/>
            <a:r>
              <a:rPr lang="fr-FR" b="1" dirty="0"/>
              <a:t>Java - Nouveautés des versions 8 à 22</a:t>
            </a:r>
          </a:p>
        </p:txBody>
      </p:sp>
      <p:sp>
        <p:nvSpPr>
          <p:cNvPr id="3" name="Sous-titre 2"/>
          <p:cNvSpPr>
            <a:spLocks noGrp="1"/>
          </p:cNvSpPr>
          <p:nvPr>
            <p:ph type="subTitle" idx="1"/>
          </p:nvPr>
        </p:nvSpPr>
        <p:spPr/>
        <p:txBody>
          <a:bodyPr/>
          <a:lstStyle/>
          <a:p>
            <a:r>
              <a:rPr lang="fr-FR" dirty="0" smtClean="0"/>
              <a:t>M2I</a:t>
            </a:r>
            <a:endParaRPr lang="fr-FR" dirty="0"/>
          </a:p>
        </p:txBody>
      </p:sp>
    </p:spTree>
    <p:extLst>
      <p:ext uri="{BB962C8B-B14F-4D97-AF65-F5344CB8AC3E}">
        <p14:creationId xmlns:p14="http://schemas.microsoft.com/office/powerpoint/2010/main" val="1101700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7200" b="1" dirty="0" smtClean="0"/>
              <a:t>Concepts Jour </a:t>
            </a:r>
            <a:r>
              <a:rPr lang="fr-FR" sz="7200" b="1" dirty="0"/>
              <a:t>2</a:t>
            </a:r>
          </a:p>
        </p:txBody>
      </p:sp>
      <p:sp>
        <p:nvSpPr>
          <p:cNvPr id="3" name="Espace réservé du contenu 2"/>
          <p:cNvSpPr>
            <a:spLocks noGrp="1"/>
          </p:cNvSpPr>
          <p:nvPr>
            <p:ph idx="1"/>
          </p:nvPr>
        </p:nvSpPr>
        <p:spPr>
          <a:xfrm>
            <a:off x="626533" y="1845734"/>
            <a:ext cx="10529147" cy="4023360"/>
          </a:xfrm>
        </p:spPr>
        <p:txBody>
          <a:bodyPr>
            <a:noAutofit/>
          </a:bodyPr>
          <a:lstStyle/>
          <a:p>
            <a:pPr>
              <a:lnSpc>
                <a:spcPct val="150000"/>
              </a:lnSpc>
              <a:buFont typeface="Wingdings" panose="05000000000000000000" pitchFamily="2" charset="2"/>
              <a:buChar char="Ø"/>
            </a:pPr>
            <a:r>
              <a:rPr lang="fr-FR" sz="3600" b="1" dirty="0" err="1" smtClean="0"/>
              <a:t>JShell</a:t>
            </a:r>
            <a:r>
              <a:rPr lang="fr-FR" sz="3600" dirty="0" smtClean="0"/>
              <a:t> </a:t>
            </a:r>
            <a:r>
              <a:rPr lang="fr-FR" sz="3600" dirty="0"/>
              <a:t>(</a:t>
            </a:r>
            <a:r>
              <a:rPr lang="fr-FR" sz="3600" dirty="0">
                <a:solidFill>
                  <a:srgbClr val="FF0000"/>
                </a:solidFill>
              </a:rPr>
              <a:t>JDK 9 et plus</a:t>
            </a:r>
            <a:r>
              <a:rPr lang="fr-FR" sz="3600" dirty="0" smtClean="0"/>
              <a:t>)</a:t>
            </a:r>
          </a:p>
          <a:p>
            <a:pPr>
              <a:lnSpc>
                <a:spcPct val="150000"/>
              </a:lnSpc>
              <a:buFont typeface="Wingdings" panose="05000000000000000000" pitchFamily="2" charset="2"/>
              <a:buChar char="Ø"/>
            </a:pPr>
            <a:r>
              <a:rPr lang="fr-FR" sz="3600" b="1" dirty="0"/>
              <a:t> </a:t>
            </a:r>
            <a:r>
              <a:rPr lang="fr-FR" sz="3600" dirty="0"/>
              <a:t>L'API </a:t>
            </a:r>
            <a:r>
              <a:rPr lang="fr-FR" sz="3600" b="1" dirty="0" err="1"/>
              <a:t>Optional</a:t>
            </a:r>
            <a:r>
              <a:rPr lang="fr-FR" sz="3600" dirty="0"/>
              <a:t> (</a:t>
            </a:r>
            <a:r>
              <a:rPr lang="fr-FR" sz="3600" dirty="0">
                <a:solidFill>
                  <a:srgbClr val="FF0000"/>
                </a:solidFill>
              </a:rPr>
              <a:t>JDK 9 et plus</a:t>
            </a:r>
            <a:r>
              <a:rPr lang="fr-FR" sz="3600" dirty="0" smtClean="0"/>
              <a:t>)</a:t>
            </a:r>
          </a:p>
          <a:p>
            <a:pPr>
              <a:lnSpc>
                <a:spcPct val="150000"/>
              </a:lnSpc>
              <a:buFont typeface="Wingdings" panose="05000000000000000000" pitchFamily="2" charset="2"/>
              <a:buChar char="Ø"/>
            </a:pPr>
            <a:r>
              <a:rPr lang="fr-FR" sz="3600" b="1" dirty="0"/>
              <a:t> </a:t>
            </a:r>
            <a:r>
              <a:rPr lang="fr-FR" sz="3600" dirty="0"/>
              <a:t>L'API </a:t>
            </a:r>
            <a:r>
              <a:rPr lang="fr-FR" sz="3600" b="1" dirty="0" err="1"/>
              <a:t>Process</a:t>
            </a:r>
            <a:r>
              <a:rPr lang="fr-FR" sz="3600" dirty="0"/>
              <a:t> (</a:t>
            </a:r>
            <a:r>
              <a:rPr lang="fr-FR" sz="3600" dirty="0">
                <a:solidFill>
                  <a:srgbClr val="FF0000"/>
                </a:solidFill>
              </a:rPr>
              <a:t>JDK 9 et plus</a:t>
            </a:r>
            <a:r>
              <a:rPr lang="fr-FR" sz="3600" dirty="0" smtClean="0"/>
              <a:t>)</a:t>
            </a:r>
          </a:p>
          <a:p>
            <a:pPr>
              <a:lnSpc>
                <a:spcPct val="150000"/>
              </a:lnSpc>
              <a:buFont typeface="Wingdings" panose="05000000000000000000" pitchFamily="2" charset="2"/>
              <a:buChar char="Ø"/>
            </a:pPr>
            <a:r>
              <a:rPr lang="fr-FR" sz="3600" dirty="0"/>
              <a:t> Le système de modules (</a:t>
            </a:r>
            <a:r>
              <a:rPr lang="fr-FR" sz="3600" dirty="0">
                <a:solidFill>
                  <a:srgbClr val="FF0000"/>
                </a:solidFill>
              </a:rPr>
              <a:t>JDK 9 et plus</a:t>
            </a:r>
            <a:r>
              <a:rPr lang="fr-FR" sz="3600" dirty="0"/>
              <a:t>)</a:t>
            </a:r>
          </a:p>
          <a:p>
            <a:pPr>
              <a:lnSpc>
                <a:spcPct val="150000"/>
              </a:lnSpc>
              <a:buFont typeface="Wingdings" panose="05000000000000000000" pitchFamily="2" charset="2"/>
              <a:buChar char="Ø"/>
            </a:pPr>
            <a:endParaRPr lang="fr-FR" sz="3600" dirty="0" smtClean="0"/>
          </a:p>
          <a:p>
            <a:pPr>
              <a:lnSpc>
                <a:spcPct val="150000"/>
              </a:lnSpc>
              <a:buFont typeface="Wingdings" panose="05000000000000000000" pitchFamily="2" charset="2"/>
              <a:buChar char="Ø"/>
            </a:pPr>
            <a:endParaRPr lang="fr-FR" sz="3600" b="1" dirty="0" smtClean="0"/>
          </a:p>
          <a:p>
            <a:pPr>
              <a:lnSpc>
                <a:spcPct val="150000"/>
              </a:lnSpc>
              <a:buFont typeface="Wingdings" panose="05000000000000000000" pitchFamily="2" charset="2"/>
              <a:buChar char="Ø"/>
            </a:pPr>
            <a:endParaRPr lang="fr-FR" sz="3600" b="1" dirty="0" smtClean="0"/>
          </a:p>
          <a:p>
            <a:pPr>
              <a:lnSpc>
                <a:spcPct val="150000"/>
              </a:lnSpc>
              <a:buFont typeface="Wingdings" panose="05000000000000000000" pitchFamily="2" charset="2"/>
              <a:buChar char="Ø"/>
            </a:pPr>
            <a:endParaRPr lang="fr-FR" sz="3600" b="1" dirty="0"/>
          </a:p>
        </p:txBody>
      </p:sp>
    </p:spTree>
    <p:extLst>
      <p:ext uri="{BB962C8B-B14F-4D97-AF65-F5344CB8AC3E}">
        <p14:creationId xmlns:p14="http://schemas.microsoft.com/office/powerpoint/2010/main" val="1856702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API PROCESS</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Depuis </a:t>
            </a:r>
            <a:r>
              <a:rPr lang="fr-FR" sz="2800" b="1" dirty="0"/>
              <a:t>Windows 10</a:t>
            </a:r>
            <a:r>
              <a:rPr lang="fr-FR" sz="2800" dirty="0"/>
              <a:t>, </a:t>
            </a:r>
            <a:r>
              <a:rPr lang="fr-FR" sz="2800" b="1" dirty="0"/>
              <a:t>calc.exe</a:t>
            </a:r>
            <a:r>
              <a:rPr lang="fr-FR" sz="2800" dirty="0"/>
              <a:t> ne lance plus un vrai processus </a:t>
            </a:r>
            <a:r>
              <a:rPr lang="fr-FR" sz="2800" b="1" dirty="0"/>
              <a:t>Win32</a:t>
            </a:r>
            <a:r>
              <a:rPr lang="fr-FR" sz="2800" dirty="0"/>
              <a:t> classique, mais une application </a:t>
            </a:r>
            <a:r>
              <a:rPr lang="fr-FR" sz="2800" b="1" dirty="0"/>
              <a:t>UWP</a:t>
            </a:r>
            <a:r>
              <a:rPr lang="fr-FR" sz="2800" dirty="0"/>
              <a:t> (</a:t>
            </a:r>
            <a:r>
              <a:rPr lang="fr-FR" sz="2800" b="1" dirty="0"/>
              <a:t>Modern App</a:t>
            </a:r>
            <a:r>
              <a:rPr lang="fr-FR" sz="2800" dirty="0" smtClean="0"/>
              <a:t>).</a:t>
            </a:r>
          </a:p>
          <a:p>
            <a:pPr algn="just">
              <a:lnSpc>
                <a:spcPct val="150000"/>
              </a:lnSpc>
              <a:buFont typeface="Wingdings" panose="05000000000000000000" pitchFamily="2" charset="2"/>
              <a:buChar char="Ø"/>
            </a:pPr>
            <a:r>
              <a:rPr lang="fr-FR" sz="2800" dirty="0"/>
              <a:t> </a:t>
            </a:r>
            <a:r>
              <a:rPr lang="fr-FR" sz="2800" b="1" dirty="0" err="1"/>
              <a:t>ProcessBuilder</a:t>
            </a:r>
            <a:r>
              <a:rPr lang="fr-FR" sz="2800" dirty="0"/>
              <a:t>("</a:t>
            </a:r>
            <a:r>
              <a:rPr lang="fr-FR" sz="2800" b="1" dirty="0"/>
              <a:t>calc.exe</a:t>
            </a:r>
            <a:r>
              <a:rPr lang="fr-FR" sz="2800" dirty="0"/>
              <a:t>") démarre bien la calculatrice </a:t>
            </a:r>
            <a:endParaRPr lang="fr-FR" sz="2800" dirty="0" smtClean="0"/>
          </a:p>
          <a:p>
            <a:pPr algn="just">
              <a:lnSpc>
                <a:spcPct val="150000"/>
              </a:lnSpc>
              <a:buFont typeface="Wingdings" panose="05000000000000000000" pitchFamily="2" charset="2"/>
              <a:buChar char="Ø"/>
            </a:pPr>
            <a:r>
              <a:rPr lang="fr-FR" sz="2800" dirty="0" smtClean="0"/>
              <a:t>mais </a:t>
            </a:r>
            <a:r>
              <a:rPr lang="fr-FR" sz="2800" b="1" dirty="0" err="1"/>
              <a:t>ProcessHandle.destroy</a:t>
            </a:r>
            <a:r>
              <a:rPr lang="fr-FR" sz="2800" b="1" dirty="0"/>
              <a:t>() </a:t>
            </a:r>
            <a:r>
              <a:rPr lang="fr-FR" sz="2800" dirty="0"/>
              <a:t>(ou même </a:t>
            </a:r>
            <a:r>
              <a:rPr lang="fr-FR" sz="2800" b="1" dirty="0" err="1"/>
              <a:t>destroyForcibly</a:t>
            </a:r>
            <a:r>
              <a:rPr lang="fr-FR" sz="2800" b="1" dirty="0"/>
              <a:t>()</a:t>
            </a:r>
            <a:r>
              <a:rPr lang="fr-FR" sz="2800" dirty="0"/>
              <a:t>) n’arrive pas à la fermer </a:t>
            </a:r>
            <a:r>
              <a:rPr lang="fr-FR" sz="2800" dirty="0" smtClean="0"/>
              <a:t>, </a:t>
            </a:r>
            <a:r>
              <a:rPr lang="fr-FR" sz="2800" dirty="0"/>
              <a:t>car Windows gère les </a:t>
            </a:r>
            <a:r>
              <a:rPr lang="fr-FR" sz="2800" b="1" dirty="0" err="1"/>
              <a:t>apps</a:t>
            </a:r>
            <a:r>
              <a:rPr lang="fr-FR" sz="2800" dirty="0"/>
              <a:t> UWP autrement.</a:t>
            </a:r>
          </a:p>
        </p:txBody>
      </p:sp>
    </p:spTree>
    <p:extLst>
      <p:ext uri="{BB962C8B-B14F-4D97-AF65-F5344CB8AC3E}">
        <p14:creationId xmlns:p14="http://schemas.microsoft.com/office/powerpoint/2010/main" val="3853722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b="1" dirty="0" smtClean="0"/>
              <a:t>Solution : </a:t>
            </a:r>
            <a:br>
              <a:rPr lang="fr-FR" b="1" dirty="0" smtClean="0"/>
            </a:br>
            <a:r>
              <a:rPr lang="fr-FR" b="1" dirty="0" smtClean="0"/>
              <a:t>combiner java avec les commandes Windows</a:t>
            </a:r>
            <a:br>
              <a:rPr lang="fr-FR" b="1" dirty="0" smtClean="0"/>
            </a:br>
            <a:r>
              <a:rPr lang="fr-FR" b="1" dirty="0" smtClean="0"/>
              <a:t>utilisation de </a:t>
            </a:r>
            <a:r>
              <a:rPr lang="fr-FR" b="1" dirty="0" err="1" smtClean="0"/>
              <a:t>taskkill</a:t>
            </a:r>
            <a:endParaRPr lang="fr-FR" b="1"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277257" y="1846263"/>
            <a:ext cx="9878423" cy="44239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724925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noAutofit/>
          </a:bodyPr>
          <a:lstStyle/>
          <a:p>
            <a:pPr algn="ctr">
              <a:lnSpc>
                <a:spcPct val="100000"/>
              </a:lnSpc>
            </a:pPr>
            <a:r>
              <a:rPr lang="fr-FR" b="1" dirty="0"/>
              <a:t>Le système de modules (</a:t>
            </a:r>
            <a:r>
              <a:rPr lang="fr-FR" b="1" dirty="0">
                <a:solidFill>
                  <a:srgbClr val="FF0000"/>
                </a:solidFill>
              </a:rPr>
              <a:t>JDK 9 et plus</a:t>
            </a:r>
            <a:r>
              <a:rPr lang="fr-FR" b="1" dirty="0"/>
              <a:t>)</a:t>
            </a:r>
          </a:p>
        </p:txBody>
      </p:sp>
      <p:pic>
        <p:nvPicPr>
          <p:cNvPr id="2" name="Image 1"/>
          <p:cNvPicPr>
            <a:picLocks noChangeAspect="1"/>
          </p:cNvPicPr>
          <p:nvPr/>
        </p:nvPicPr>
        <p:blipFill>
          <a:blip r:embed="rId2"/>
          <a:stretch>
            <a:fillRect/>
          </a:stretch>
        </p:blipFill>
        <p:spPr>
          <a:xfrm>
            <a:off x="3505200" y="4470400"/>
            <a:ext cx="5486400" cy="1620837"/>
          </a:xfrm>
          <a:prstGeom prst="rect">
            <a:avLst/>
          </a:prstGeom>
        </p:spPr>
      </p:pic>
    </p:spTree>
    <p:extLst>
      <p:ext uri="{BB962C8B-B14F-4D97-AF65-F5344CB8AC3E}">
        <p14:creationId xmlns:p14="http://schemas.microsoft.com/office/powerpoint/2010/main" val="13410927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Facilitation des outils d’analyse et d’optimisation</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 Des outils comme </a:t>
            </a:r>
            <a:r>
              <a:rPr lang="fr-FR" sz="3600" b="1" dirty="0" err="1" smtClean="0"/>
              <a:t>jdeps</a:t>
            </a:r>
            <a:r>
              <a:rPr lang="fr-FR" sz="3600" dirty="0"/>
              <a:t> </a:t>
            </a:r>
            <a:r>
              <a:rPr lang="fr-FR" sz="3600" dirty="0" smtClean="0"/>
              <a:t>«Java </a:t>
            </a:r>
            <a:r>
              <a:rPr lang="fr-FR" sz="3600" dirty="0" err="1"/>
              <a:t>Dependency</a:t>
            </a:r>
            <a:r>
              <a:rPr lang="fr-FR" sz="3600" dirty="0"/>
              <a:t> </a:t>
            </a:r>
            <a:r>
              <a:rPr lang="fr-FR" sz="3600" dirty="0" err="1"/>
              <a:t>Analysis</a:t>
            </a:r>
            <a:r>
              <a:rPr lang="fr-FR" sz="3600" dirty="0"/>
              <a:t> </a:t>
            </a:r>
            <a:r>
              <a:rPr lang="fr-FR" sz="3600" dirty="0" err="1" smtClean="0"/>
              <a:t>Tool</a:t>
            </a:r>
            <a:r>
              <a:rPr lang="fr-FR" sz="3600" dirty="0" smtClean="0"/>
              <a:t> » </a:t>
            </a:r>
            <a:r>
              <a:rPr lang="fr-FR" sz="3600" dirty="0"/>
              <a:t>(inclus dans le JDK) permettent de visualiser et analyser le graph de dépendance, aidant au développement et à l’optimisation.</a:t>
            </a:r>
          </a:p>
        </p:txBody>
      </p:sp>
    </p:spTree>
    <p:extLst>
      <p:ext uri="{BB962C8B-B14F-4D97-AF65-F5344CB8AC3E}">
        <p14:creationId xmlns:p14="http://schemas.microsoft.com/office/powerpoint/2010/main" val="5317973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Graphe de Dépendances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smtClean="0"/>
              <a:t> </a:t>
            </a:r>
            <a:r>
              <a:rPr lang="fr-FR" sz="3200" b="1" dirty="0"/>
              <a:t>Outils</a:t>
            </a:r>
            <a:r>
              <a:rPr lang="fr-FR" sz="3200" dirty="0"/>
              <a:t> </a:t>
            </a:r>
            <a:r>
              <a:rPr lang="fr-FR" sz="3200" dirty="0" smtClean="0"/>
              <a:t>:</a:t>
            </a:r>
          </a:p>
          <a:p>
            <a:pPr lvl="1" algn="just">
              <a:lnSpc>
                <a:spcPct val="150000"/>
              </a:lnSpc>
              <a:buFont typeface="Wingdings" panose="05000000000000000000" pitchFamily="2" charset="2"/>
              <a:buChar char="Ø"/>
            </a:pPr>
            <a:r>
              <a:rPr lang="fr-FR" sz="2800" dirty="0"/>
              <a:t> </a:t>
            </a:r>
            <a:r>
              <a:rPr lang="fr-FR" sz="2800" dirty="0" smtClean="0"/>
              <a:t>Utilisez </a:t>
            </a:r>
            <a:r>
              <a:rPr lang="fr-FR" sz="2800" b="1" dirty="0" err="1"/>
              <a:t>jdeps</a:t>
            </a:r>
            <a:r>
              <a:rPr lang="fr-FR" sz="2800" dirty="0"/>
              <a:t> pour visualiser les dépendances entre modules</a:t>
            </a:r>
            <a:r>
              <a:rPr lang="fr-FR" sz="2800" dirty="0" smtClean="0"/>
              <a:t>.</a:t>
            </a:r>
          </a:p>
          <a:p>
            <a:pPr algn="just">
              <a:lnSpc>
                <a:spcPct val="150000"/>
              </a:lnSpc>
              <a:buFont typeface="Wingdings" panose="05000000000000000000" pitchFamily="2" charset="2"/>
              <a:buChar char="Ø"/>
            </a:pPr>
            <a:r>
              <a:rPr lang="fr-FR" sz="3200" dirty="0"/>
              <a:t> </a:t>
            </a:r>
            <a:r>
              <a:rPr lang="fr-FR" sz="3200" b="1" dirty="0"/>
              <a:t>Commande</a:t>
            </a:r>
            <a:r>
              <a:rPr lang="fr-FR" sz="3200" dirty="0"/>
              <a:t> :</a:t>
            </a:r>
          </a:p>
        </p:txBody>
      </p:sp>
      <p:pic>
        <p:nvPicPr>
          <p:cNvPr id="4" name="Image 3"/>
          <p:cNvPicPr>
            <a:picLocks noChangeAspect="1"/>
          </p:cNvPicPr>
          <p:nvPr/>
        </p:nvPicPr>
        <p:blipFill>
          <a:blip r:embed="rId2"/>
          <a:stretch>
            <a:fillRect/>
          </a:stretch>
        </p:blipFill>
        <p:spPr>
          <a:xfrm>
            <a:off x="1758120" y="4593466"/>
            <a:ext cx="8060267" cy="997480"/>
          </a:xfrm>
          <a:prstGeom prst="rect">
            <a:avLst/>
          </a:prstGeom>
        </p:spPr>
      </p:pic>
    </p:spTree>
    <p:extLst>
      <p:ext uri="{BB962C8B-B14F-4D97-AF65-F5344CB8AC3E}">
        <p14:creationId xmlns:p14="http://schemas.microsoft.com/office/powerpoint/2010/main" val="23917872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Résolution du Problème</a:t>
            </a:r>
            <a:endParaRPr lang="fr-FR" b="1" dirty="0"/>
          </a:p>
        </p:txBody>
      </p:sp>
      <p:sp>
        <p:nvSpPr>
          <p:cNvPr id="3" name="Espace réservé du contenu 2"/>
          <p:cNvSpPr>
            <a:spLocks noGrp="1"/>
          </p:cNvSpPr>
          <p:nvPr>
            <p:ph idx="1"/>
          </p:nvPr>
        </p:nvSpPr>
        <p:spPr/>
        <p:txBody>
          <a:bodyPr/>
          <a:lstStyle/>
          <a:p>
            <a:pPr algn="just">
              <a:lnSpc>
                <a:spcPct val="150000"/>
              </a:lnSpc>
              <a:buFont typeface="Wingdings" panose="05000000000000000000" pitchFamily="2" charset="2"/>
              <a:buChar char="Ø"/>
            </a:pPr>
            <a:r>
              <a:rPr lang="fr-FR" dirty="0" smtClean="0"/>
              <a:t> identifier la version du </a:t>
            </a:r>
            <a:r>
              <a:rPr lang="fr-FR" dirty="0" err="1" smtClean="0"/>
              <a:t>jdeps</a:t>
            </a:r>
            <a:r>
              <a:rPr lang="fr-FR" dirty="0" smtClean="0"/>
              <a:t> : </a:t>
            </a:r>
            <a:r>
              <a:rPr lang="fr-FR" b="1" dirty="0" err="1" smtClean="0"/>
              <a:t>jdeps</a:t>
            </a:r>
            <a:r>
              <a:rPr lang="fr-FR" b="1" dirty="0" smtClean="0"/>
              <a:t> –version</a:t>
            </a:r>
          </a:p>
          <a:p>
            <a:pPr algn="just">
              <a:lnSpc>
                <a:spcPct val="150000"/>
              </a:lnSpc>
              <a:buFont typeface="Wingdings" panose="05000000000000000000" pitchFamily="2" charset="2"/>
              <a:buChar char="Ø"/>
            </a:pPr>
            <a:r>
              <a:rPr lang="fr-FR" dirty="0" smtClean="0"/>
              <a:t>Si la version </a:t>
            </a:r>
            <a:r>
              <a:rPr lang="fr-FR" dirty="0" err="1" smtClean="0"/>
              <a:t>jdeps</a:t>
            </a:r>
            <a:r>
              <a:rPr lang="fr-FR" dirty="0" smtClean="0"/>
              <a:t> n’est pas compatible avec la version </a:t>
            </a:r>
            <a:r>
              <a:rPr lang="fr-FR" dirty="0" err="1" smtClean="0"/>
              <a:t>jdk</a:t>
            </a:r>
            <a:r>
              <a:rPr lang="fr-FR" dirty="0" smtClean="0"/>
              <a:t> vous pouvez exécuter la commande:</a:t>
            </a:r>
          </a:p>
          <a:p>
            <a:pPr lvl="1">
              <a:lnSpc>
                <a:spcPct val="150000"/>
              </a:lnSpc>
              <a:buFont typeface="Wingdings" panose="05000000000000000000" pitchFamily="2" charset="2"/>
              <a:buChar char="Ø"/>
            </a:pPr>
            <a:r>
              <a:rPr lang="fr-FR" dirty="0"/>
              <a:t> </a:t>
            </a:r>
            <a:r>
              <a:rPr lang="fr-FR" sz="2000" b="1" dirty="0"/>
              <a:t>"C:\Program Files\Java\jdk-22\bin\jdeps.exe" --module-</a:t>
            </a:r>
            <a:r>
              <a:rPr lang="fr-FR" sz="2000" b="1" dirty="0" err="1"/>
              <a:t>path</a:t>
            </a:r>
            <a:r>
              <a:rPr lang="fr-FR" sz="2000" b="1" dirty="0"/>
              <a:t> "C:\Users\admin\work\utilProject\bin;C:\Users\admin\work\appProject\bin" --module </a:t>
            </a:r>
            <a:r>
              <a:rPr lang="fr-FR" sz="2000" b="1" dirty="0" err="1" smtClean="0"/>
              <a:t>com.atos.app</a:t>
            </a:r>
            <a:endParaRPr lang="fr-FR" sz="2000" b="1" dirty="0" smtClean="0"/>
          </a:p>
          <a:p>
            <a:pPr lvl="1">
              <a:lnSpc>
                <a:spcPct val="150000"/>
              </a:lnSpc>
              <a:buFont typeface="Wingdings" panose="05000000000000000000" pitchFamily="2" charset="2"/>
              <a:buChar char="Ø"/>
            </a:pPr>
            <a:r>
              <a:rPr lang="fr-FR" sz="2000" dirty="0" smtClean="0"/>
              <a:t>Ou changer les variables </a:t>
            </a:r>
            <a:r>
              <a:rPr lang="fr-FR" sz="2000" dirty="0"/>
              <a:t>d’environnement </a:t>
            </a:r>
            <a:r>
              <a:rPr lang="fr-FR" sz="2000" b="1" dirty="0"/>
              <a:t>(mise à jour de JAVA_HOME et PATH)</a:t>
            </a:r>
          </a:p>
          <a:p>
            <a:pPr lvl="1" algn="just">
              <a:lnSpc>
                <a:spcPct val="150000"/>
              </a:lnSpc>
              <a:buFont typeface="Wingdings" panose="05000000000000000000" pitchFamily="2" charset="2"/>
              <a:buChar char="Ø"/>
            </a:pPr>
            <a:endParaRPr lang="fr-FR" dirty="0"/>
          </a:p>
        </p:txBody>
      </p:sp>
    </p:spTree>
    <p:extLst>
      <p:ext uri="{BB962C8B-B14F-4D97-AF65-F5344CB8AC3E}">
        <p14:creationId xmlns:p14="http://schemas.microsoft.com/office/powerpoint/2010/main" val="4274685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Résultat</a:t>
            </a:r>
            <a:endParaRPr lang="fr-FR" b="1" dirty="0"/>
          </a:p>
        </p:txBody>
      </p:sp>
      <p:pic>
        <p:nvPicPr>
          <p:cNvPr id="4" name="Espace réservé du contenu 3"/>
          <p:cNvPicPr>
            <a:picLocks noGrp="1" noChangeAspect="1"/>
          </p:cNvPicPr>
          <p:nvPr>
            <p:ph idx="1"/>
          </p:nvPr>
        </p:nvPicPr>
        <p:blipFill>
          <a:blip r:embed="rId2"/>
          <a:stretch>
            <a:fillRect/>
          </a:stretch>
        </p:blipFill>
        <p:spPr>
          <a:xfrm>
            <a:off x="537030" y="1737360"/>
            <a:ext cx="11234056" cy="4329611"/>
          </a:xfrm>
          <a:prstGeom prst="rect">
            <a:avLst/>
          </a:prstGeom>
        </p:spPr>
      </p:pic>
    </p:spTree>
    <p:extLst>
      <p:ext uri="{BB962C8B-B14F-4D97-AF65-F5344CB8AC3E}">
        <p14:creationId xmlns:p14="http://schemas.microsoft.com/office/powerpoint/2010/main" val="11674560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Explication</a:t>
            </a:r>
            <a:endParaRPr lang="fr-FR" b="1" dirty="0"/>
          </a:p>
        </p:txBody>
      </p:sp>
      <p:sp>
        <p:nvSpPr>
          <p:cNvPr id="3" name="Espace réservé du contenu 2"/>
          <p:cNvSpPr>
            <a:spLocks noGrp="1"/>
          </p:cNvSpPr>
          <p:nvPr>
            <p:ph idx="1"/>
          </p:nvPr>
        </p:nvSpPr>
        <p:spPr>
          <a:xfrm>
            <a:off x="1097280" y="1497392"/>
            <a:ext cx="10058400" cy="4023360"/>
          </a:xfrm>
        </p:spPr>
        <p:txBody>
          <a:bodyPr>
            <a:noAutofit/>
          </a:bodyPr>
          <a:lstStyle/>
          <a:p>
            <a:pPr algn="just">
              <a:lnSpc>
                <a:spcPct val="200000"/>
              </a:lnSpc>
              <a:buFont typeface="Wingdings" panose="05000000000000000000" pitchFamily="2" charset="2"/>
              <a:buChar char="Ø"/>
            </a:pPr>
            <a:r>
              <a:rPr lang="fr-FR" sz="2800" dirty="0"/>
              <a:t> Ton module </a:t>
            </a:r>
            <a:r>
              <a:rPr lang="fr-FR" sz="2800" b="1" dirty="0" err="1" smtClean="0"/>
              <a:t>com.atos.app</a:t>
            </a:r>
            <a:r>
              <a:rPr lang="fr-FR" sz="2800" dirty="0" smtClean="0"/>
              <a:t> </a:t>
            </a:r>
            <a:r>
              <a:rPr lang="fr-FR" sz="2800" dirty="0"/>
              <a:t>est correctement détecté </a:t>
            </a:r>
            <a:endParaRPr lang="fr-FR" sz="2800" dirty="0" smtClean="0"/>
          </a:p>
          <a:p>
            <a:pPr algn="just">
              <a:lnSpc>
                <a:spcPct val="200000"/>
              </a:lnSpc>
              <a:buFont typeface="Wingdings" panose="05000000000000000000" pitchFamily="2" charset="2"/>
              <a:buChar char="Ø"/>
            </a:pPr>
            <a:r>
              <a:rPr lang="fr-FR" sz="2800" dirty="0" smtClean="0"/>
              <a:t>Il </a:t>
            </a:r>
            <a:r>
              <a:rPr lang="fr-FR" sz="2800" dirty="0"/>
              <a:t>dépend de ton module </a:t>
            </a:r>
            <a:r>
              <a:rPr lang="fr-FR" sz="2800" b="1" dirty="0" err="1"/>
              <a:t>com.atos.util</a:t>
            </a:r>
            <a:r>
              <a:rPr lang="fr-FR" sz="2800" dirty="0"/>
              <a:t> et du module standard </a:t>
            </a:r>
            <a:r>
              <a:rPr lang="fr-FR" sz="2800" b="1" dirty="0" err="1" smtClean="0"/>
              <a:t>java.base</a:t>
            </a:r>
            <a:r>
              <a:rPr lang="fr-FR" sz="2800" dirty="0" smtClean="0"/>
              <a:t>.</a:t>
            </a:r>
          </a:p>
          <a:p>
            <a:pPr algn="just">
              <a:lnSpc>
                <a:spcPct val="200000"/>
              </a:lnSpc>
              <a:buFont typeface="Wingdings" panose="05000000000000000000" pitchFamily="2" charset="2"/>
              <a:buChar char="Ø"/>
            </a:pPr>
            <a:r>
              <a:rPr lang="fr-FR" sz="2800" b="1" dirty="0" err="1" smtClean="0"/>
              <a:t>jdeps</a:t>
            </a:r>
            <a:r>
              <a:rPr lang="fr-FR" sz="2800" dirty="0" smtClean="0"/>
              <a:t> </a:t>
            </a:r>
            <a:r>
              <a:rPr lang="fr-FR" sz="2800" dirty="0"/>
              <a:t>confirme que tes chemins de modules sont bien configurés et que ton projet est compilé correctement en mode modulaire.</a:t>
            </a:r>
          </a:p>
        </p:txBody>
      </p:sp>
    </p:spTree>
    <p:extLst>
      <p:ext uri="{BB962C8B-B14F-4D97-AF65-F5344CB8AC3E}">
        <p14:creationId xmlns:p14="http://schemas.microsoft.com/office/powerpoint/2010/main" val="2374439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Autofit/>
          </a:bodyPr>
          <a:lstStyle/>
          <a:p>
            <a:pPr algn="just">
              <a:lnSpc>
                <a:spcPct val="100000"/>
              </a:lnSpc>
              <a:buFont typeface="Wingdings" panose="05000000000000000000" pitchFamily="2" charset="2"/>
              <a:buChar char="Ø"/>
            </a:pPr>
            <a:r>
              <a:rPr lang="fr-FR" sz="2800" dirty="0"/>
              <a:t> Le graph de dépendance introduit par le système modulaire de Java 9 joue un rôle clé dans </a:t>
            </a:r>
            <a:r>
              <a:rPr lang="fr-FR" sz="2800" dirty="0" smtClean="0"/>
              <a:t>:</a:t>
            </a:r>
          </a:p>
          <a:p>
            <a:pPr lvl="1" algn="just">
              <a:lnSpc>
                <a:spcPct val="100000"/>
              </a:lnSpc>
              <a:buFont typeface="Wingdings" panose="05000000000000000000" pitchFamily="2" charset="2"/>
              <a:buChar char="Ø"/>
            </a:pPr>
            <a:r>
              <a:rPr lang="fr-FR" sz="2400" dirty="0"/>
              <a:t> La gestion des dépendances </a:t>
            </a:r>
            <a:r>
              <a:rPr lang="fr-FR" sz="2400" dirty="0" smtClean="0"/>
              <a:t>explicites.</a:t>
            </a:r>
          </a:p>
          <a:p>
            <a:pPr lvl="1" algn="just">
              <a:lnSpc>
                <a:spcPct val="100000"/>
              </a:lnSpc>
              <a:buFont typeface="Wingdings" panose="05000000000000000000" pitchFamily="2" charset="2"/>
              <a:buChar char="Ø"/>
            </a:pPr>
            <a:r>
              <a:rPr lang="fr-FR" sz="2400" dirty="0" smtClean="0"/>
              <a:t> L’amélioration </a:t>
            </a:r>
            <a:r>
              <a:rPr lang="fr-FR" sz="2400" dirty="0"/>
              <a:t>des performances par le chargement sélectif</a:t>
            </a:r>
            <a:r>
              <a:rPr lang="fr-FR" sz="2400" dirty="0" smtClean="0"/>
              <a:t>.</a:t>
            </a:r>
          </a:p>
          <a:p>
            <a:pPr lvl="1" algn="just">
              <a:lnSpc>
                <a:spcPct val="100000"/>
              </a:lnSpc>
              <a:buFont typeface="Wingdings" panose="05000000000000000000" pitchFamily="2" charset="2"/>
              <a:buChar char="Ø"/>
            </a:pPr>
            <a:r>
              <a:rPr lang="fr-FR" sz="2400" dirty="0" smtClean="0"/>
              <a:t> L’encapsulation </a:t>
            </a:r>
            <a:r>
              <a:rPr lang="fr-FR" sz="2400" dirty="0"/>
              <a:t>et la sécurité du code</a:t>
            </a:r>
            <a:r>
              <a:rPr lang="fr-FR" sz="2400" dirty="0" smtClean="0"/>
              <a:t>.</a:t>
            </a:r>
          </a:p>
          <a:p>
            <a:pPr lvl="1" algn="just">
              <a:lnSpc>
                <a:spcPct val="100000"/>
              </a:lnSpc>
              <a:buFont typeface="Wingdings" panose="05000000000000000000" pitchFamily="2" charset="2"/>
              <a:buChar char="Ø"/>
            </a:pPr>
            <a:r>
              <a:rPr lang="fr-FR" sz="2400" dirty="0" smtClean="0"/>
              <a:t> La </a:t>
            </a:r>
            <a:r>
              <a:rPr lang="fr-FR" sz="2400" dirty="0"/>
              <a:t>détection des erreurs (comme les cycles ou les dépendances manquantes) dès la compilation ou au démarrage</a:t>
            </a:r>
            <a:r>
              <a:rPr lang="fr-FR" sz="2400" dirty="0" smtClean="0"/>
              <a:t>.</a:t>
            </a:r>
          </a:p>
          <a:p>
            <a:pPr algn="just">
              <a:lnSpc>
                <a:spcPct val="100000"/>
              </a:lnSpc>
              <a:buFont typeface="Wingdings" panose="05000000000000000000" pitchFamily="2" charset="2"/>
              <a:buChar char="Ø"/>
            </a:pPr>
            <a:r>
              <a:rPr lang="fr-FR" sz="2800" dirty="0" smtClean="0"/>
              <a:t>Il </a:t>
            </a:r>
            <a:r>
              <a:rPr lang="fr-FR" sz="2800" dirty="0"/>
              <a:t>apporte une meilleure organisation, maintenabilité et robustesse aux grandes applications Java.</a:t>
            </a:r>
          </a:p>
        </p:txBody>
      </p:sp>
    </p:spTree>
    <p:extLst>
      <p:ext uri="{BB962C8B-B14F-4D97-AF65-F5344CB8AC3E}">
        <p14:creationId xmlns:p14="http://schemas.microsoft.com/office/powerpoint/2010/main" val="82304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Étapes pour lancer une application modulaire</a:t>
            </a:r>
          </a:p>
        </p:txBody>
      </p:sp>
      <p:sp>
        <p:nvSpPr>
          <p:cNvPr id="3" name="Espace réservé du contenu 2"/>
          <p:cNvSpPr>
            <a:spLocks noGrp="1"/>
          </p:cNvSpPr>
          <p:nvPr>
            <p:ph idx="1"/>
          </p:nvPr>
        </p:nvSpPr>
        <p:spPr/>
        <p:txBody>
          <a:bodyPr>
            <a:normAutofit/>
          </a:bodyPr>
          <a:lstStyle/>
          <a:p>
            <a:pPr>
              <a:lnSpc>
                <a:spcPct val="200000"/>
              </a:lnSpc>
              <a:buFont typeface="Wingdings" panose="05000000000000000000" pitchFamily="2" charset="2"/>
              <a:buChar char="Ø"/>
            </a:pPr>
            <a:r>
              <a:rPr lang="fr-FR" sz="3600" dirty="0"/>
              <a:t> </a:t>
            </a:r>
            <a:r>
              <a:rPr lang="fr-FR" sz="3600" b="1" dirty="0"/>
              <a:t>Étape 1 </a:t>
            </a:r>
            <a:r>
              <a:rPr lang="fr-FR" sz="3600" dirty="0"/>
              <a:t>: Organisation des </a:t>
            </a:r>
            <a:r>
              <a:rPr lang="fr-FR" sz="3600" dirty="0" smtClean="0"/>
              <a:t>modules</a:t>
            </a:r>
          </a:p>
          <a:p>
            <a:pPr>
              <a:lnSpc>
                <a:spcPct val="200000"/>
              </a:lnSpc>
              <a:buFont typeface="Wingdings" panose="05000000000000000000" pitchFamily="2" charset="2"/>
              <a:buChar char="Ø"/>
            </a:pPr>
            <a:r>
              <a:rPr lang="fr-FR" sz="3600" b="1" dirty="0"/>
              <a:t> Étape 2 </a:t>
            </a:r>
            <a:r>
              <a:rPr lang="fr-FR" sz="3600" dirty="0"/>
              <a:t>: </a:t>
            </a:r>
            <a:r>
              <a:rPr lang="fr-FR" sz="3600" dirty="0" smtClean="0"/>
              <a:t>Compilation</a:t>
            </a:r>
          </a:p>
          <a:p>
            <a:pPr>
              <a:lnSpc>
                <a:spcPct val="200000"/>
              </a:lnSpc>
              <a:buFont typeface="Wingdings" panose="05000000000000000000" pitchFamily="2" charset="2"/>
              <a:buChar char="Ø"/>
            </a:pPr>
            <a:r>
              <a:rPr lang="fr-FR" sz="3600" dirty="0"/>
              <a:t> </a:t>
            </a:r>
            <a:r>
              <a:rPr lang="fr-FR" sz="3600" b="1" dirty="0"/>
              <a:t>Étape 3 </a:t>
            </a:r>
            <a:r>
              <a:rPr lang="fr-FR" sz="3600" dirty="0"/>
              <a:t>: Exécution</a:t>
            </a:r>
          </a:p>
        </p:txBody>
      </p:sp>
    </p:spTree>
    <p:extLst>
      <p:ext uri="{BB962C8B-B14F-4D97-AF65-F5344CB8AC3E}">
        <p14:creationId xmlns:p14="http://schemas.microsoft.com/office/powerpoint/2010/main" val="38329421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Résolution des erreurs courantes</a:t>
            </a:r>
          </a:p>
        </p:txBody>
      </p:sp>
      <p:pic>
        <p:nvPicPr>
          <p:cNvPr id="4" name="Espace réservé du contenu 3"/>
          <p:cNvPicPr>
            <a:picLocks noGrp="1" noChangeAspect="1"/>
          </p:cNvPicPr>
          <p:nvPr>
            <p:ph idx="1"/>
          </p:nvPr>
        </p:nvPicPr>
        <p:blipFill>
          <a:blip r:embed="rId2"/>
          <a:stretch>
            <a:fillRect/>
          </a:stretch>
        </p:blipFill>
        <p:spPr>
          <a:xfrm>
            <a:off x="1097280" y="1964267"/>
            <a:ext cx="10058400" cy="42163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354184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Points clés à retenir</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Le point d'entrée de l'application est défini dans un module spécifique avec une méthode main</a:t>
            </a:r>
            <a:r>
              <a:rPr lang="fr-FR" sz="2800" dirty="0" smtClean="0"/>
              <a:t>.</a:t>
            </a:r>
          </a:p>
          <a:p>
            <a:pPr algn="just">
              <a:lnSpc>
                <a:spcPct val="150000"/>
              </a:lnSpc>
              <a:buFont typeface="Wingdings" panose="05000000000000000000" pitchFamily="2" charset="2"/>
              <a:buChar char="Ø"/>
            </a:pPr>
            <a:r>
              <a:rPr lang="fr-FR" sz="2800" dirty="0"/>
              <a:t> L'option </a:t>
            </a:r>
            <a:r>
              <a:rPr lang="fr-FR" sz="2800" b="1" dirty="0"/>
              <a:t>--module-</a:t>
            </a:r>
            <a:r>
              <a:rPr lang="fr-FR" sz="2800" b="1" dirty="0" err="1"/>
              <a:t>path</a:t>
            </a:r>
            <a:r>
              <a:rPr lang="fr-FR" sz="2800" b="1" dirty="0"/>
              <a:t> </a:t>
            </a:r>
            <a:r>
              <a:rPr lang="fr-FR" sz="2800" dirty="0"/>
              <a:t>remplace l'ancien </a:t>
            </a:r>
            <a:r>
              <a:rPr lang="fr-FR" sz="2800" b="1" dirty="0"/>
              <a:t>-</a:t>
            </a:r>
            <a:r>
              <a:rPr lang="fr-FR" sz="2800" b="1" dirty="0" err="1"/>
              <a:t>classpath</a:t>
            </a:r>
            <a:r>
              <a:rPr lang="fr-FR" sz="2800" b="1" dirty="0"/>
              <a:t> </a:t>
            </a:r>
            <a:r>
              <a:rPr lang="fr-FR" sz="2800" dirty="0"/>
              <a:t>pour spécifier les dépendances</a:t>
            </a:r>
            <a:r>
              <a:rPr lang="fr-FR" sz="2800" dirty="0" smtClean="0"/>
              <a:t>.</a:t>
            </a:r>
          </a:p>
          <a:p>
            <a:pPr algn="just">
              <a:lnSpc>
                <a:spcPct val="150000"/>
              </a:lnSpc>
              <a:buFont typeface="Wingdings" panose="05000000000000000000" pitchFamily="2" charset="2"/>
              <a:buChar char="Ø"/>
            </a:pPr>
            <a:r>
              <a:rPr lang="fr-FR" sz="2800" dirty="0"/>
              <a:t> Le fichier module-info.java contrôle la visibilité et les dépendances, améliorant la sécurité et la maintenabilité.</a:t>
            </a:r>
          </a:p>
        </p:txBody>
      </p:sp>
    </p:spTree>
    <p:extLst>
      <p:ext uri="{BB962C8B-B14F-4D97-AF65-F5344CB8AC3E}">
        <p14:creationId xmlns:p14="http://schemas.microsoft.com/office/powerpoint/2010/main" val="5011674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Packaging des Modules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4000" dirty="0"/>
              <a:t> Le packaging des modules consiste à regrouper le code et ses dépendances sous une forme structurée et prête à être distribuée ou exécutée.</a:t>
            </a:r>
          </a:p>
        </p:txBody>
      </p:sp>
    </p:spTree>
    <p:extLst>
      <p:ext uri="{BB962C8B-B14F-4D97-AF65-F5344CB8AC3E}">
        <p14:creationId xmlns:p14="http://schemas.microsoft.com/office/powerpoint/2010/main" val="39580533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Résolution des dépendances au </a:t>
            </a:r>
            <a:r>
              <a:rPr lang="fr-FR" dirty="0" err="1"/>
              <a:t>runtime</a:t>
            </a:r>
            <a:endParaRPr lang="fr-FR"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Le module loader utilise le fichier </a:t>
            </a:r>
            <a:r>
              <a:rPr lang="fr-FR" sz="3200" b="1" dirty="0" err="1"/>
              <a:t>module-info.class</a:t>
            </a:r>
            <a:r>
              <a:rPr lang="fr-FR" sz="3200" dirty="0"/>
              <a:t> pour construire le graphe de dépendance et charger les modules nécessaires.</a:t>
            </a:r>
          </a:p>
        </p:txBody>
      </p:sp>
    </p:spTree>
    <p:extLst>
      <p:ext uri="{BB962C8B-B14F-4D97-AF65-F5344CB8AC3E}">
        <p14:creationId xmlns:p14="http://schemas.microsoft.com/office/powerpoint/2010/main" val="16899727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smtClean="0"/>
              <a:t>Exécution </a:t>
            </a:r>
            <a:r>
              <a:rPr lang="fr-FR" dirty="0"/>
              <a:t>en mode modulaire</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L’exécution respecte les règles de modularité (encapsulation, accès restreint, etc</a:t>
            </a:r>
            <a:r>
              <a:rPr lang="fr-FR" sz="3200" dirty="0" smtClean="0"/>
              <a:t>.).</a:t>
            </a:r>
          </a:p>
          <a:p>
            <a:pPr algn="just">
              <a:lnSpc>
                <a:spcPct val="150000"/>
              </a:lnSpc>
              <a:buFont typeface="Wingdings" panose="05000000000000000000" pitchFamily="2" charset="2"/>
              <a:buChar char="Ø"/>
            </a:pPr>
            <a:r>
              <a:rPr lang="fr-FR" sz="3200" dirty="0"/>
              <a:t> </a:t>
            </a:r>
            <a:r>
              <a:rPr lang="fr-FR" sz="3200" dirty="0" smtClean="0"/>
              <a:t>Les </a:t>
            </a:r>
            <a:r>
              <a:rPr lang="fr-FR" sz="3200" dirty="0"/>
              <a:t>modules qui ne respectent pas les règles, comme une dépendance non résolue ou l’accès à un package non exporté, provoquent des erreurs.</a:t>
            </a:r>
          </a:p>
        </p:txBody>
      </p:sp>
    </p:spTree>
    <p:extLst>
      <p:ext uri="{BB962C8B-B14F-4D97-AF65-F5344CB8AC3E}">
        <p14:creationId xmlns:p14="http://schemas.microsoft.com/office/powerpoint/2010/main" val="19122025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Packaging et Exécution des Modules</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a:t>
            </a:r>
            <a:r>
              <a:rPr lang="fr-FR" b="1" dirty="0"/>
              <a:t>Compilation</a:t>
            </a:r>
            <a:r>
              <a:rPr lang="fr-FR" dirty="0"/>
              <a:t> </a:t>
            </a:r>
            <a:r>
              <a:rPr lang="fr-FR" dirty="0" smtClean="0"/>
              <a:t>:</a:t>
            </a:r>
          </a:p>
          <a:p>
            <a:pPr>
              <a:buFont typeface="Wingdings" panose="05000000000000000000" pitchFamily="2" charset="2"/>
              <a:buChar char="Ø"/>
            </a:pPr>
            <a:endParaRPr lang="fr-FR" dirty="0"/>
          </a:p>
          <a:p>
            <a:pPr>
              <a:buFont typeface="Wingdings" panose="05000000000000000000" pitchFamily="2" charset="2"/>
              <a:buChar char="Ø"/>
            </a:pPr>
            <a:endParaRPr lang="fr-FR" dirty="0" smtClean="0"/>
          </a:p>
          <a:p>
            <a:pPr>
              <a:buFont typeface="Wingdings" panose="05000000000000000000" pitchFamily="2" charset="2"/>
              <a:buChar char="Ø"/>
            </a:pPr>
            <a:r>
              <a:rPr lang="fr-FR" b="1" dirty="0"/>
              <a:t> Exécution </a:t>
            </a:r>
            <a:r>
              <a:rPr lang="fr-FR" b="1" dirty="0" smtClean="0"/>
              <a:t>:</a:t>
            </a:r>
          </a:p>
          <a:p>
            <a:pPr>
              <a:buFont typeface="Wingdings" panose="05000000000000000000" pitchFamily="2" charset="2"/>
              <a:buChar char="Ø"/>
            </a:pPr>
            <a:endParaRPr lang="fr-FR" b="1" dirty="0"/>
          </a:p>
          <a:p>
            <a:pPr>
              <a:buFont typeface="Wingdings" panose="05000000000000000000" pitchFamily="2" charset="2"/>
              <a:buChar char="Ø"/>
            </a:pPr>
            <a:endParaRPr lang="fr-FR" b="1" dirty="0" smtClean="0"/>
          </a:p>
          <a:p>
            <a:pPr>
              <a:buFont typeface="Wingdings" panose="05000000000000000000" pitchFamily="2" charset="2"/>
              <a:buChar char="Ø"/>
            </a:pPr>
            <a:r>
              <a:rPr lang="fr-FR" b="1" dirty="0"/>
              <a:t> Création d’un JAR modulaire</a:t>
            </a:r>
            <a:r>
              <a:rPr lang="fr-FR" dirty="0"/>
              <a:t> </a:t>
            </a:r>
            <a:r>
              <a:rPr lang="fr-FR" dirty="0" smtClean="0"/>
              <a:t>:</a:t>
            </a:r>
            <a:endParaRPr lang="fr-FR" b="1" dirty="0"/>
          </a:p>
        </p:txBody>
      </p:sp>
      <p:pic>
        <p:nvPicPr>
          <p:cNvPr id="5" name="Image 4"/>
          <p:cNvPicPr>
            <a:picLocks noChangeAspect="1"/>
          </p:cNvPicPr>
          <p:nvPr/>
        </p:nvPicPr>
        <p:blipFill>
          <a:blip r:embed="rId2"/>
          <a:stretch>
            <a:fillRect/>
          </a:stretch>
        </p:blipFill>
        <p:spPr>
          <a:xfrm>
            <a:off x="3589867" y="1845734"/>
            <a:ext cx="5710237" cy="11348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Image 7"/>
          <p:cNvPicPr>
            <a:picLocks noChangeAspect="1"/>
          </p:cNvPicPr>
          <p:nvPr/>
        </p:nvPicPr>
        <p:blipFill>
          <a:blip r:embed="rId3"/>
          <a:stretch>
            <a:fillRect/>
          </a:stretch>
        </p:blipFill>
        <p:spPr>
          <a:xfrm>
            <a:off x="3589867" y="3243262"/>
            <a:ext cx="5982503" cy="7699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Image 8"/>
          <p:cNvPicPr>
            <a:picLocks noChangeAspect="1"/>
          </p:cNvPicPr>
          <p:nvPr/>
        </p:nvPicPr>
        <p:blipFill>
          <a:blip r:embed="rId4"/>
          <a:stretch>
            <a:fillRect/>
          </a:stretch>
        </p:blipFill>
        <p:spPr>
          <a:xfrm>
            <a:off x="3433762" y="5258328"/>
            <a:ext cx="6543675" cy="719140"/>
          </a:xfrm>
          <a:prstGeom prst="rect">
            <a:avLst/>
          </a:prstGeom>
        </p:spPr>
      </p:pic>
    </p:spTree>
    <p:extLst>
      <p:ext uri="{BB962C8B-B14F-4D97-AF65-F5344CB8AC3E}">
        <p14:creationId xmlns:p14="http://schemas.microsoft.com/office/powerpoint/2010/main" val="41196017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a:xfrm>
            <a:off x="1097280" y="1845734"/>
            <a:ext cx="10058400" cy="4023360"/>
          </a:xfrm>
        </p:spPr>
        <p:txBody>
          <a:bodyPr>
            <a:normAutofit/>
          </a:bodyPr>
          <a:lstStyle/>
          <a:p>
            <a:pPr algn="just">
              <a:lnSpc>
                <a:spcPct val="150000"/>
              </a:lnSpc>
              <a:buFont typeface="Wingdings" panose="05000000000000000000" pitchFamily="2" charset="2"/>
              <a:buChar char="Ø"/>
            </a:pPr>
            <a:r>
              <a:rPr lang="fr-FR" sz="2800" dirty="0"/>
              <a:t> Le </a:t>
            </a:r>
            <a:r>
              <a:rPr lang="fr-FR" sz="2800" b="1" dirty="0"/>
              <a:t>packaging</a:t>
            </a:r>
            <a:r>
              <a:rPr lang="fr-FR" sz="2800" dirty="0"/>
              <a:t> regroupe les modules de manière organisée et portable (via JAR modulaire), tandis que l’</a:t>
            </a:r>
            <a:r>
              <a:rPr lang="fr-FR" sz="2800" b="1" dirty="0"/>
              <a:t>exécution</a:t>
            </a:r>
            <a:r>
              <a:rPr lang="fr-FR" sz="2800" dirty="0"/>
              <a:t> garantit que seuls les modules nécessaires sont chargés et que leurs règles d’encapsulation sont respectées. Ensemble, ils rendent le développement, le déploiement et la maintenance des applications Java plus robustes et modulaires.</a:t>
            </a:r>
          </a:p>
        </p:txBody>
      </p:sp>
    </p:spTree>
    <p:extLst>
      <p:ext uri="{BB962C8B-B14F-4D97-AF65-F5344CB8AC3E}">
        <p14:creationId xmlns:p14="http://schemas.microsoft.com/office/powerpoint/2010/main" val="11438455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Evolution</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Java a connu des évolutions importantes depuis Java 9 avec l’introduction du système de modules (Project </a:t>
            </a:r>
            <a:r>
              <a:rPr lang="fr-FR" sz="3200" dirty="0" err="1"/>
              <a:t>Jigsaw</a:t>
            </a:r>
            <a:r>
              <a:rPr lang="fr-FR" sz="3200" dirty="0"/>
              <a:t>). Voici un récapitulatif des principales évolutions liées au système de modules et aux autres fonctionnalités pertinentes, jusqu’à Java 23 :</a:t>
            </a:r>
          </a:p>
        </p:txBody>
      </p:sp>
    </p:spTree>
    <p:extLst>
      <p:ext uri="{BB962C8B-B14F-4D97-AF65-F5344CB8AC3E}">
        <p14:creationId xmlns:p14="http://schemas.microsoft.com/office/powerpoint/2010/main" val="2059043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9 (2017)</a:t>
            </a:r>
          </a:p>
        </p:txBody>
      </p:sp>
      <p:sp>
        <p:nvSpPr>
          <p:cNvPr id="3" name="Espace réservé du contenu 2"/>
          <p:cNvSpPr>
            <a:spLocks noGrp="1"/>
          </p:cNvSpPr>
          <p:nvPr>
            <p:ph idx="1"/>
          </p:nvPr>
        </p:nvSpPr>
        <p:spPr/>
        <p:txBody>
          <a:bodyPr>
            <a:noAutofit/>
          </a:bodyPr>
          <a:lstStyle/>
          <a:p>
            <a:pPr marL="457200" indent="-457200" algn="just">
              <a:buFont typeface="+mj-lt"/>
              <a:buAutoNum type="arabicPeriod"/>
            </a:pPr>
            <a:r>
              <a:rPr lang="fr-FR" sz="2800" dirty="0" smtClean="0"/>
              <a:t> </a:t>
            </a:r>
            <a:r>
              <a:rPr lang="fr-FR" sz="2800" b="1" dirty="0"/>
              <a:t>Système de Modules Java (</a:t>
            </a:r>
            <a:r>
              <a:rPr lang="fr-FR" sz="2800" b="1" dirty="0" err="1"/>
              <a:t>Jigsaw</a:t>
            </a:r>
            <a:r>
              <a:rPr lang="fr-FR" sz="2800" b="1" dirty="0"/>
              <a:t>)</a:t>
            </a:r>
            <a:endParaRPr lang="fr-FR" sz="2800" dirty="0"/>
          </a:p>
          <a:p>
            <a:pPr marL="749808" lvl="1" indent="-457200" algn="just">
              <a:buFont typeface="Wingdings" panose="05000000000000000000" pitchFamily="2" charset="2"/>
              <a:buChar char="Ø"/>
            </a:pPr>
            <a:r>
              <a:rPr lang="fr-FR" sz="2400" dirty="0"/>
              <a:t>Nouvelle structure : </a:t>
            </a:r>
            <a:r>
              <a:rPr lang="fr-FR" sz="2400" dirty="0" smtClean="0"/>
              <a:t>module-info.java</a:t>
            </a:r>
          </a:p>
          <a:p>
            <a:pPr marL="932688" lvl="2" indent="-457200" algn="just">
              <a:buFont typeface="Wingdings" panose="05000000000000000000" pitchFamily="2" charset="2"/>
              <a:buChar char="Ø"/>
            </a:pPr>
            <a:r>
              <a:rPr lang="fr-FR" sz="1800" dirty="0"/>
              <a:t>Chaque module peut déclarer ses dépendances avec </a:t>
            </a:r>
            <a:r>
              <a:rPr lang="fr-FR" sz="1800" dirty="0" err="1"/>
              <a:t>requires</a:t>
            </a:r>
            <a:r>
              <a:rPr lang="fr-FR" sz="1800" dirty="0"/>
              <a:t>, exporter des packages avec exports, ou ouvrir des packages avec opens</a:t>
            </a:r>
            <a:r>
              <a:rPr lang="fr-FR" sz="1800" dirty="0" smtClean="0"/>
              <a:t>.</a:t>
            </a:r>
          </a:p>
          <a:p>
            <a:pPr marL="932688" lvl="2" indent="-457200" algn="just">
              <a:buFont typeface="Wingdings" panose="05000000000000000000" pitchFamily="2" charset="2"/>
              <a:buChar char="Ø"/>
            </a:pPr>
            <a:r>
              <a:rPr lang="fr-FR" sz="1800" dirty="0"/>
              <a:t>Amélioration de la modularité, réduisant les dépendances inutiles grâce à un découplage clair.</a:t>
            </a:r>
          </a:p>
          <a:p>
            <a:pPr marL="457200" indent="-457200" algn="just">
              <a:buFont typeface="+mj-lt"/>
              <a:buAutoNum type="arabicPeriod"/>
            </a:pPr>
            <a:r>
              <a:rPr lang="fr-FR" sz="2800" b="1" dirty="0"/>
              <a:t>JVM </a:t>
            </a:r>
            <a:r>
              <a:rPr lang="fr-FR" sz="2800" b="1" dirty="0" smtClean="0"/>
              <a:t>modulaire</a:t>
            </a:r>
          </a:p>
          <a:p>
            <a:pPr marL="749808" lvl="1" indent="-457200" algn="just">
              <a:buFont typeface="Wingdings" panose="05000000000000000000" pitchFamily="2" charset="2"/>
              <a:buChar char="Ø"/>
            </a:pPr>
            <a:r>
              <a:rPr lang="fr-FR" sz="2400" dirty="0"/>
              <a:t>Les modules Java SE sont divisés en 28 modules, comme </a:t>
            </a:r>
            <a:r>
              <a:rPr lang="fr-FR" sz="2400" dirty="0" err="1"/>
              <a:t>java.base</a:t>
            </a:r>
            <a:r>
              <a:rPr lang="fr-FR" sz="2400" dirty="0"/>
              <a:t> (inclus par défaut), </a:t>
            </a:r>
            <a:r>
              <a:rPr lang="fr-FR" sz="2400" dirty="0" err="1"/>
              <a:t>java.sql</a:t>
            </a:r>
            <a:r>
              <a:rPr lang="fr-FR" sz="2400" dirty="0"/>
              <a:t>, java.xml</a:t>
            </a:r>
            <a:r>
              <a:rPr lang="fr-FR" sz="2400" dirty="0" smtClean="0"/>
              <a:t>.</a:t>
            </a:r>
          </a:p>
          <a:p>
            <a:pPr marL="457200" indent="-457200" algn="just">
              <a:buFont typeface="+mj-lt"/>
              <a:buAutoNum type="arabicPeriod"/>
            </a:pPr>
            <a:r>
              <a:rPr lang="fr-FR" sz="2800" b="1" dirty="0" err="1" smtClean="0"/>
              <a:t>Jlink</a:t>
            </a:r>
            <a:endParaRPr lang="fr-FR" sz="2800" b="1" dirty="0" smtClean="0"/>
          </a:p>
          <a:p>
            <a:pPr marL="749808" lvl="1" indent="-457200" algn="just">
              <a:buFont typeface="Wingdings" panose="05000000000000000000" pitchFamily="2" charset="2"/>
              <a:buChar char="Ø"/>
            </a:pPr>
            <a:r>
              <a:rPr lang="fr-FR" sz="2400" dirty="0"/>
              <a:t>Génération d'une image </a:t>
            </a:r>
            <a:r>
              <a:rPr lang="fr-FR" sz="2400" dirty="0" err="1"/>
              <a:t>runtime</a:t>
            </a:r>
            <a:r>
              <a:rPr lang="fr-FR" sz="2400" dirty="0"/>
              <a:t> personnalisée contenant uniquement les modules nécessaires pour une application.</a:t>
            </a:r>
          </a:p>
        </p:txBody>
      </p:sp>
    </p:spTree>
    <p:extLst>
      <p:ext uri="{BB962C8B-B14F-4D97-AF65-F5344CB8AC3E}">
        <p14:creationId xmlns:p14="http://schemas.microsoft.com/office/powerpoint/2010/main" val="1451126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10 (2018)</a:t>
            </a:r>
          </a:p>
        </p:txBody>
      </p:sp>
      <p:sp>
        <p:nvSpPr>
          <p:cNvPr id="3" name="Espace réservé du contenu 2"/>
          <p:cNvSpPr>
            <a:spLocks noGrp="1"/>
          </p:cNvSpPr>
          <p:nvPr>
            <p:ph idx="1"/>
          </p:nvPr>
        </p:nvSpPr>
        <p:spPr/>
        <p:txBody>
          <a:bodyPr>
            <a:noAutofit/>
          </a:bodyPr>
          <a:lstStyle/>
          <a:p>
            <a:pPr algn="just">
              <a:lnSpc>
                <a:spcPct val="200000"/>
              </a:lnSpc>
              <a:buFont typeface="Wingdings" panose="05000000000000000000" pitchFamily="2" charset="2"/>
              <a:buChar char="Ø"/>
            </a:pPr>
            <a:r>
              <a:rPr lang="fr-FR" sz="3200" dirty="0"/>
              <a:t> Pas de changement spécifique pour le système de modules</a:t>
            </a:r>
            <a:r>
              <a:rPr lang="fr-FR" sz="3200" dirty="0" smtClean="0"/>
              <a:t>.</a:t>
            </a:r>
          </a:p>
          <a:p>
            <a:pPr algn="just">
              <a:lnSpc>
                <a:spcPct val="200000"/>
              </a:lnSpc>
              <a:buFont typeface="Wingdings" panose="05000000000000000000" pitchFamily="2" charset="2"/>
              <a:buChar char="Ø"/>
            </a:pPr>
            <a:r>
              <a:rPr lang="fr-FR" sz="3200" dirty="0"/>
              <a:t> Introduction de la déclaration avec var, qui facilite le typage local, y compris pour les modules.</a:t>
            </a:r>
          </a:p>
        </p:txBody>
      </p:sp>
    </p:spTree>
    <p:extLst>
      <p:ext uri="{BB962C8B-B14F-4D97-AF65-F5344CB8AC3E}">
        <p14:creationId xmlns:p14="http://schemas.microsoft.com/office/powerpoint/2010/main" val="66725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11 (2018)</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Stabilisation des fonctionnalités introduites avec Java 9</a:t>
            </a:r>
            <a:r>
              <a:rPr lang="fr-FR" sz="3200" dirty="0" smtClean="0"/>
              <a:t>.</a:t>
            </a:r>
          </a:p>
          <a:p>
            <a:pPr algn="just">
              <a:lnSpc>
                <a:spcPct val="150000"/>
              </a:lnSpc>
              <a:buFont typeface="Wingdings" panose="05000000000000000000" pitchFamily="2" charset="2"/>
              <a:buChar char="Ø"/>
            </a:pPr>
            <a:r>
              <a:rPr lang="fr-FR" sz="3200" dirty="0"/>
              <a:t> Suppression de modules obsolètes :</a:t>
            </a:r>
          </a:p>
          <a:p>
            <a:pPr lvl="1" algn="just">
              <a:lnSpc>
                <a:spcPct val="150000"/>
              </a:lnSpc>
              <a:buFont typeface="Wingdings" panose="05000000000000000000" pitchFamily="2" charset="2"/>
              <a:buChar char="Ø"/>
            </a:pPr>
            <a:r>
              <a:rPr lang="fr-FR" sz="2800" dirty="0"/>
              <a:t> Java EE Modules retirés : </a:t>
            </a:r>
            <a:r>
              <a:rPr lang="fr-FR" sz="2800" b="1" dirty="0"/>
              <a:t>java.xml.ws</a:t>
            </a:r>
            <a:r>
              <a:rPr lang="fr-FR" sz="2800" dirty="0"/>
              <a:t>, </a:t>
            </a:r>
            <a:r>
              <a:rPr lang="fr-FR" sz="2800" b="1" dirty="0" err="1"/>
              <a:t>java.activation</a:t>
            </a:r>
            <a:r>
              <a:rPr lang="fr-FR" sz="2800" dirty="0"/>
              <a:t>, </a:t>
            </a:r>
            <a:r>
              <a:rPr lang="fr-FR" sz="2800" b="1" dirty="0" err="1"/>
              <a:t>java.corba</a:t>
            </a:r>
            <a:r>
              <a:rPr lang="fr-FR" sz="2800" dirty="0"/>
              <a:t>.</a:t>
            </a:r>
          </a:p>
        </p:txBody>
      </p:sp>
    </p:spTree>
    <p:extLst>
      <p:ext uri="{BB962C8B-B14F-4D97-AF65-F5344CB8AC3E}">
        <p14:creationId xmlns:p14="http://schemas.microsoft.com/office/powerpoint/2010/main" val="42639716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12 (2019</a:t>
            </a:r>
            <a:r>
              <a:rPr lang="fr-FR" b="1" dirty="0" smtClean="0"/>
              <a:t>)</a:t>
            </a:r>
            <a:endParaRPr lang="fr-FR" dirty="0"/>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3200" dirty="0"/>
              <a:t> Pas d’évolutions majeures pour le système de modules.</a:t>
            </a:r>
          </a:p>
          <a:p>
            <a:pPr>
              <a:buFont typeface="Wingdings" panose="05000000000000000000" pitchFamily="2" charset="2"/>
              <a:buChar char="Ø"/>
            </a:pPr>
            <a:endParaRPr lang="fr-FR" sz="3200" dirty="0"/>
          </a:p>
        </p:txBody>
      </p:sp>
    </p:spTree>
    <p:extLst>
      <p:ext uri="{BB962C8B-B14F-4D97-AF65-F5344CB8AC3E}">
        <p14:creationId xmlns:p14="http://schemas.microsoft.com/office/powerpoint/2010/main" val="2475728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13 (2019)</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Améliorations générales mais pas d’ajouts spécifiques aux modules.</a:t>
            </a:r>
          </a:p>
        </p:txBody>
      </p:sp>
    </p:spTree>
    <p:extLst>
      <p:ext uri="{BB962C8B-B14F-4D97-AF65-F5344CB8AC3E}">
        <p14:creationId xmlns:p14="http://schemas.microsoft.com/office/powerpoint/2010/main" val="722708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14 (2020)</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Intégration des </a:t>
            </a:r>
            <a:r>
              <a:rPr lang="fr-FR" sz="3200" b="1" dirty="0"/>
              <a:t>API pour analyser les modules dynamiquement</a:t>
            </a:r>
            <a:r>
              <a:rPr lang="fr-FR" sz="3200" dirty="0" smtClean="0"/>
              <a:t>.</a:t>
            </a:r>
          </a:p>
          <a:p>
            <a:pPr lvl="1" algn="just">
              <a:lnSpc>
                <a:spcPct val="150000"/>
              </a:lnSpc>
              <a:buFont typeface="Wingdings" panose="05000000000000000000" pitchFamily="2" charset="2"/>
              <a:buChar char="Ø"/>
            </a:pPr>
            <a:r>
              <a:rPr lang="fr-FR" sz="2800" dirty="0"/>
              <a:t> Exemple : utilisation de </a:t>
            </a:r>
            <a:r>
              <a:rPr lang="fr-FR" sz="2800" b="1" dirty="0" err="1"/>
              <a:t>ModuleDescriptor</a:t>
            </a:r>
            <a:r>
              <a:rPr lang="fr-FR" sz="2800" dirty="0"/>
              <a:t> pour accéder aux métadonnées</a:t>
            </a:r>
            <a:r>
              <a:rPr lang="fr-FR" sz="2800" dirty="0" smtClean="0"/>
              <a:t>. r</a:t>
            </a:r>
            <a:r>
              <a:rPr lang="fr-FR" sz="2800" dirty="0"/>
              <a:t/>
            </a:r>
            <a:br>
              <a:rPr lang="fr-FR" sz="2800" dirty="0"/>
            </a:br>
            <a:endParaRPr lang="fr-FR" sz="2800" dirty="0"/>
          </a:p>
        </p:txBody>
      </p:sp>
      <p:pic>
        <p:nvPicPr>
          <p:cNvPr id="31" name="Image 30"/>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2438400" y="4967393"/>
            <a:ext cx="7315199" cy="12132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42670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15 (2020)</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3200" dirty="0" smtClean="0"/>
              <a:t> </a:t>
            </a:r>
            <a:r>
              <a:rPr lang="fr-FR" sz="3200" dirty="0"/>
              <a:t>Suppression du support des modules </a:t>
            </a:r>
            <a:r>
              <a:rPr lang="fr-FR" sz="3200" dirty="0" err="1"/>
              <a:t>Nashorn</a:t>
            </a:r>
            <a:r>
              <a:rPr lang="fr-FR" sz="3200" dirty="0"/>
              <a:t> JavaScript.</a:t>
            </a:r>
          </a:p>
          <a:p>
            <a:pPr>
              <a:buFont typeface="Wingdings" panose="05000000000000000000" pitchFamily="2" charset="2"/>
              <a:buChar char="Ø"/>
            </a:pPr>
            <a:endParaRPr lang="fr-FR" sz="3200" dirty="0"/>
          </a:p>
        </p:txBody>
      </p:sp>
    </p:spTree>
    <p:extLst>
      <p:ext uri="{BB962C8B-B14F-4D97-AF65-F5344CB8AC3E}">
        <p14:creationId xmlns:p14="http://schemas.microsoft.com/office/powerpoint/2010/main" val="3276023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16 (2021)</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smtClean="0"/>
              <a:t> </a:t>
            </a:r>
            <a:r>
              <a:rPr lang="fr-FR" sz="3600" b="1" dirty="0"/>
              <a:t>Encapsulation stricte des classes internes JDK</a:t>
            </a:r>
            <a:r>
              <a:rPr lang="fr-FR" sz="3600" dirty="0"/>
              <a:t> </a:t>
            </a:r>
            <a:r>
              <a:rPr lang="fr-FR" sz="3600" dirty="0" smtClean="0"/>
              <a:t>:</a:t>
            </a:r>
          </a:p>
          <a:p>
            <a:pPr lvl="1" algn="just">
              <a:lnSpc>
                <a:spcPct val="150000"/>
              </a:lnSpc>
              <a:buFont typeface="Wingdings" panose="05000000000000000000" pitchFamily="2" charset="2"/>
              <a:buChar char="Ø"/>
            </a:pPr>
            <a:r>
              <a:rPr lang="fr-FR" sz="3200" dirty="0"/>
              <a:t> Les classes internes utilisées dans les modules du JDK sont désormais strictement encapsulées, réduisant les risques liés à leur exploitation abusive.</a:t>
            </a:r>
          </a:p>
        </p:txBody>
      </p:sp>
    </p:spTree>
    <p:extLst>
      <p:ext uri="{BB962C8B-B14F-4D97-AF65-F5344CB8AC3E}">
        <p14:creationId xmlns:p14="http://schemas.microsoft.com/office/powerpoint/2010/main" val="7755602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en-US" b="1" dirty="0"/>
              <a:t>Java 17 (2021) - LTS (Long-Term Support)</a:t>
            </a:r>
            <a:endParaRPr lang="fr-FR" b="1" dirty="0"/>
          </a:p>
        </p:txBody>
      </p:sp>
      <p:sp>
        <p:nvSpPr>
          <p:cNvPr id="3" name="Espace réservé du contenu 2"/>
          <p:cNvSpPr>
            <a:spLocks noGrp="1"/>
          </p:cNvSpPr>
          <p:nvPr>
            <p:ph idx="1"/>
          </p:nvPr>
        </p:nvSpPr>
        <p:spPr/>
        <p:txBody>
          <a:bodyPr>
            <a:normAutofit/>
          </a:bodyPr>
          <a:lstStyle/>
          <a:p>
            <a:pPr marL="457200" indent="-457200" algn="just">
              <a:lnSpc>
                <a:spcPct val="150000"/>
              </a:lnSpc>
              <a:buFont typeface="+mj-lt"/>
              <a:buAutoNum type="arabicPeriod"/>
            </a:pPr>
            <a:r>
              <a:rPr lang="fr-FR" sz="2800" dirty="0"/>
              <a:t> Amélioration des performances pour les modules</a:t>
            </a:r>
            <a:r>
              <a:rPr lang="fr-FR" sz="2800" dirty="0" smtClean="0"/>
              <a:t>.</a:t>
            </a:r>
          </a:p>
          <a:p>
            <a:pPr marL="457200" indent="-457200" algn="just">
              <a:lnSpc>
                <a:spcPct val="150000"/>
              </a:lnSpc>
              <a:buFont typeface="+mj-lt"/>
              <a:buAutoNum type="arabicPeriod"/>
            </a:pPr>
            <a:r>
              <a:rPr lang="fr-FR" sz="2800" dirty="0"/>
              <a:t>Stabilisation et renforcement de l’écosystème des modules dans le JDK</a:t>
            </a:r>
            <a:r>
              <a:rPr lang="fr-FR" sz="2800" dirty="0" smtClean="0"/>
              <a:t>.</a:t>
            </a:r>
          </a:p>
          <a:p>
            <a:pPr marL="457200" indent="-457200" algn="just">
              <a:lnSpc>
                <a:spcPct val="150000"/>
              </a:lnSpc>
              <a:buFont typeface="+mj-lt"/>
              <a:buAutoNum type="arabicPeriod"/>
            </a:pPr>
            <a:r>
              <a:rPr lang="fr-FR" sz="2800" dirty="0"/>
              <a:t>Développement accru des </a:t>
            </a:r>
            <a:r>
              <a:rPr lang="fr-FR" sz="2800" dirty="0" smtClean="0"/>
              <a:t>Framework </a:t>
            </a:r>
            <a:r>
              <a:rPr lang="fr-FR" sz="2800" dirty="0"/>
              <a:t>pour supporter les applications modulaires.</a:t>
            </a:r>
          </a:p>
          <a:p>
            <a:pPr marL="457200" indent="-457200" algn="just">
              <a:lnSpc>
                <a:spcPct val="150000"/>
              </a:lnSpc>
              <a:buFont typeface="+mj-lt"/>
              <a:buAutoNum type="arabicPeriod"/>
            </a:pPr>
            <a:endParaRPr lang="fr-FR" sz="2800" dirty="0"/>
          </a:p>
        </p:txBody>
      </p:sp>
    </p:spTree>
    <p:extLst>
      <p:ext uri="{BB962C8B-B14F-4D97-AF65-F5344CB8AC3E}">
        <p14:creationId xmlns:p14="http://schemas.microsoft.com/office/powerpoint/2010/main" val="3186085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18 (2022</a:t>
            </a:r>
            <a:r>
              <a:rPr lang="fr-FR" b="1" dirty="0" smtClean="0"/>
              <a:t>)</a:t>
            </a:r>
            <a:endParaRPr lang="fr-FR" dirty="0"/>
          </a:p>
        </p:txBody>
      </p:sp>
      <p:sp>
        <p:nvSpPr>
          <p:cNvPr id="3" name="Espace réservé du contenu 2"/>
          <p:cNvSpPr>
            <a:spLocks noGrp="1"/>
          </p:cNvSpPr>
          <p:nvPr>
            <p:ph idx="1"/>
          </p:nvPr>
        </p:nvSpPr>
        <p:spPr/>
        <p:txBody>
          <a:bodyPr>
            <a:normAutofit/>
          </a:bodyPr>
          <a:lstStyle/>
          <a:p>
            <a:pPr>
              <a:lnSpc>
                <a:spcPct val="200000"/>
              </a:lnSpc>
              <a:buFont typeface="Wingdings" panose="05000000000000000000" pitchFamily="2" charset="2"/>
              <a:buChar char="Ø"/>
            </a:pPr>
            <a:r>
              <a:rPr lang="fr-FR" sz="2800" dirty="0"/>
              <a:t> Renforcement des outils et API pour la gestion des modules</a:t>
            </a:r>
            <a:r>
              <a:rPr lang="fr-FR" sz="2800" dirty="0" smtClean="0"/>
              <a:t>.</a:t>
            </a:r>
          </a:p>
          <a:p>
            <a:pPr>
              <a:lnSpc>
                <a:spcPct val="200000"/>
              </a:lnSpc>
              <a:buFont typeface="Wingdings" panose="05000000000000000000" pitchFamily="2" charset="2"/>
              <a:buChar char="Ø"/>
            </a:pPr>
            <a:r>
              <a:rPr lang="fr-FR" sz="2800" dirty="0"/>
              <a:t> Pas de changement majeur.</a:t>
            </a:r>
          </a:p>
          <a:p>
            <a:pPr>
              <a:lnSpc>
                <a:spcPct val="200000"/>
              </a:lnSpc>
              <a:buFont typeface="Wingdings" panose="05000000000000000000" pitchFamily="2" charset="2"/>
              <a:buChar char="Ø"/>
            </a:pPr>
            <a:endParaRPr lang="fr-FR" sz="2800" dirty="0"/>
          </a:p>
        </p:txBody>
      </p:sp>
    </p:spTree>
    <p:extLst>
      <p:ext uri="{BB962C8B-B14F-4D97-AF65-F5344CB8AC3E}">
        <p14:creationId xmlns:p14="http://schemas.microsoft.com/office/powerpoint/2010/main" val="36299538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19 (2022)</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Introduction de fonctionnalités expérimentales avec Project </a:t>
            </a:r>
            <a:r>
              <a:rPr lang="fr-FR" sz="3200" b="1" dirty="0" err="1"/>
              <a:t>Loom</a:t>
            </a:r>
            <a:r>
              <a:rPr lang="fr-FR" sz="3200" dirty="0"/>
              <a:t>, comme les threads </a:t>
            </a:r>
            <a:r>
              <a:rPr lang="fr-FR" sz="3200" dirty="0" smtClean="0"/>
              <a:t>légers. Cela </a:t>
            </a:r>
            <a:r>
              <a:rPr lang="fr-FR" sz="3200" dirty="0"/>
              <a:t>permet d'exploiter les modules pour gérer des projets plus efficacement.</a:t>
            </a:r>
          </a:p>
        </p:txBody>
      </p:sp>
    </p:spTree>
    <p:extLst>
      <p:ext uri="{BB962C8B-B14F-4D97-AF65-F5344CB8AC3E}">
        <p14:creationId xmlns:p14="http://schemas.microsoft.com/office/powerpoint/2010/main" val="508451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80" y="394977"/>
            <a:ext cx="10058400" cy="1450757"/>
          </a:xfrm>
        </p:spPr>
        <p:txBody>
          <a:bodyPr anchor="ctr"/>
          <a:lstStyle/>
          <a:p>
            <a:pPr algn="ctr"/>
            <a:r>
              <a:rPr lang="fr-FR" b="1" dirty="0"/>
              <a:t>Java 20 (2023)</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Focus sur des outils comme </a:t>
            </a:r>
            <a:r>
              <a:rPr lang="fr-FR" sz="3200" b="1" dirty="0" err="1"/>
              <a:t>jlink</a:t>
            </a:r>
            <a:r>
              <a:rPr lang="fr-FR" sz="3200" dirty="0"/>
              <a:t> pour des applications conteneurisées modulaires.</a:t>
            </a:r>
          </a:p>
        </p:txBody>
      </p:sp>
    </p:spTree>
    <p:extLst>
      <p:ext uri="{BB962C8B-B14F-4D97-AF65-F5344CB8AC3E}">
        <p14:creationId xmlns:p14="http://schemas.microsoft.com/office/powerpoint/2010/main" val="10898675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21 (2023) - LTS</a:t>
            </a:r>
          </a:p>
        </p:txBody>
      </p:sp>
      <p:sp>
        <p:nvSpPr>
          <p:cNvPr id="3" name="Espace réservé du contenu 2"/>
          <p:cNvSpPr>
            <a:spLocks noGrp="1"/>
          </p:cNvSpPr>
          <p:nvPr>
            <p:ph idx="1"/>
          </p:nvPr>
        </p:nvSpPr>
        <p:spPr/>
        <p:txBody>
          <a:bodyPr>
            <a:normAutofit/>
          </a:bodyPr>
          <a:lstStyle/>
          <a:p>
            <a:pPr marL="457200" indent="-457200" algn="just">
              <a:lnSpc>
                <a:spcPct val="150000"/>
              </a:lnSpc>
              <a:buFont typeface="+mj-lt"/>
              <a:buAutoNum type="arabicPeriod"/>
            </a:pPr>
            <a:r>
              <a:rPr lang="fr-FR" sz="2800" dirty="0" smtClean="0"/>
              <a:t> </a:t>
            </a:r>
            <a:r>
              <a:rPr lang="fr-FR" sz="2800" b="1" dirty="0"/>
              <a:t>Extensions du système de modules</a:t>
            </a:r>
            <a:r>
              <a:rPr lang="fr-FR" sz="2800" dirty="0"/>
              <a:t> :</a:t>
            </a:r>
          </a:p>
          <a:p>
            <a:pPr marL="749808" lvl="1" indent="-457200" algn="just">
              <a:lnSpc>
                <a:spcPct val="150000"/>
              </a:lnSpc>
              <a:buFont typeface="Wingdings" panose="05000000000000000000" pitchFamily="2" charset="2"/>
              <a:buChar char="Ø"/>
            </a:pPr>
            <a:r>
              <a:rPr lang="fr-FR" sz="2400" dirty="0"/>
              <a:t>Meilleur support des modules dynamiques</a:t>
            </a:r>
            <a:r>
              <a:rPr lang="fr-FR" sz="2400" dirty="0" smtClean="0"/>
              <a:t>.</a:t>
            </a:r>
          </a:p>
          <a:p>
            <a:pPr marL="457200" indent="-457200" algn="just">
              <a:lnSpc>
                <a:spcPct val="150000"/>
              </a:lnSpc>
              <a:buFont typeface="+mj-lt"/>
              <a:buAutoNum type="arabicPeriod"/>
            </a:pPr>
            <a:r>
              <a:rPr lang="fr-FR" sz="2800" b="1" dirty="0"/>
              <a:t>Project Panama</a:t>
            </a:r>
            <a:r>
              <a:rPr lang="fr-FR" sz="2800" dirty="0"/>
              <a:t> : Intégration des bibliothèques natives avec des modules optimisés.</a:t>
            </a:r>
          </a:p>
          <a:p>
            <a:pPr marL="457200" indent="-457200" algn="just">
              <a:lnSpc>
                <a:spcPct val="150000"/>
              </a:lnSpc>
              <a:buFont typeface="+mj-lt"/>
              <a:buAutoNum type="arabicPeriod"/>
            </a:pPr>
            <a:endParaRPr lang="fr-FR" sz="2800" dirty="0"/>
          </a:p>
        </p:txBody>
      </p:sp>
    </p:spTree>
    <p:extLst>
      <p:ext uri="{BB962C8B-B14F-4D97-AF65-F5344CB8AC3E}">
        <p14:creationId xmlns:p14="http://schemas.microsoft.com/office/powerpoint/2010/main" val="14219092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22 (2024</a:t>
            </a:r>
            <a:r>
              <a:rPr lang="fr-FR" b="1" dirty="0" smtClean="0"/>
              <a:t>)</a:t>
            </a:r>
            <a:endParaRPr lang="fr-FR"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Fonctionnalités supplémentaires pour </a:t>
            </a:r>
            <a:r>
              <a:rPr lang="fr-FR" sz="3200" b="1" dirty="0"/>
              <a:t>analyser et manipuler des modules à l'exécution</a:t>
            </a:r>
            <a:r>
              <a:rPr lang="fr-FR" sz="3200" dirty="0"/>
              <a:t>.</a:t>
            </a:r>
          </a:p>
          <a:p>
            <a:pPr algn="just">
              <a:lnSpc>
                <a:spcPct val="200000"/>
              </a:lnSpc>
              <a:buFont typeface="Wingdings" panose="05000000000000000000" pitchFamily="2" charset="2"/>
              <a:buChar char="Ø"/>
            </a:pPr>
            <a:endParaRPr lang="fr-FR" sz="3200" dirty="0"/>
          </a:p>
        </p:txBody>
      </p:sp>
    </p:spTree>
    <p:extLst>
      <p:ext uri="{BB962C8B-B14F-4D97-AF65-F5344CB8AC3E}">
        <p14:creationId xmlns:p14="http://schemas.microsoft.com/office/powerpoint/2010/main" val="29421780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23 (2025</a:t>
            </a:r>
            <a:r>
              <a:rPr lang="fr-FR" b="1" dirty="0" smtClean="0"/>
              <a:t>)</a:t>
            </a:r>
            <a:endParaRPr lang="fr-FR" dirty="0"/>
          </a:p>
        </p:txBody>
      </p:sp>
      <p:sp>
        <p:nvSpPr>
          <p:cNvPr id="3" name="Espace réservé du contenu 2"/>
          <p:cNvSpPr>
            <a:spLocks noGrp="1"/>
          </p:cNvSpPr>
          <p:nvPr>
            <p:ph idx="1"/>
          </p:nvPr>
        </p:nvSpPr>
        <p:spPr/>
        <p:txBody>
          <a:bodyPr>
            <a:noAutofit/>
          </a:bodyPr>
          <a:lstStyle/>
          <a:p>
            <a:pPr marL="457200" indent="-457200" algn="just">
              <a:lnSpc>
                <a:spcPct val="150000"/>
              </a:lnSpc>
              <a:buFont typeface="+mj-lt"/>
              <a:buAutoNum type="arabicPeriod"/>
            </a:pPr>
            <a:r>
              <a:rPr lang="fr-FR" sz="2800" dirty="0" smtClean="0"/>
              <a:t> </a:t>
            </a:r>
            <a:r>
              <a:rPr lang="fr-FR" sz="2800" b="1" dirty="0"/>
              <a:t>Modules dynamiques à chaud</a:t>
            </a:r>
            <a:r>
              <a:rPr lang="fr-FR" sz="2800" dirty="0"/>
              <a:t> (Hot-</a:t>
            </a:r>
            <a:r>
              <a:rPr lang="fr-FR" sz="2800" dirty="0" err="1"/>
              <a:t>Swappable</a:t>
            </a:r>
            <a:r>
              <a:rPr lang="fr-FR" sz="2800" dirty="0"/>
              <a:t> Modules) :</a:t>
            </a:r>
          </a:p>
          <a:p>
            <a:pPr marL="749808" lvl="1" indent="-457200" algn="just">
              <a:lnSpc>
                <a:spcPct val="150000"/>
              </a:lnSpc>
              <a:buFont typeface="Wingdings" panose="05000000000000000000" pitchFamily="2" charset="2"/>
              <a:buChar char="Ø"/>
            </a:pPr>
            <a:r>
              <a:rPr lang="fr-FR" sz="2400" dirty="0"/>
              <a:t>Possibilité de charger/décharger des modules sans redémarrer la JVM</a:t>
            </a:r>
            <a:r>
              <a:rPr lang="fr-FR" sz="2400" dirty="0" smtClean="0"/>
              <a:t>.</a:t>
            </a:r>
          </a:p>
          <a:p>
            <a:pPr marL="749808" lvl="1" indent="-457200" algn="just">
              <a:lnSpc>
                <a:spcPct val="150000"/>
              </a:lnSpc>
              <a:buFont typeface="Wingdings" panose="05000000000000000000" pitchFamily="2" charset="2"/>
              <a:buChar char="Ø"/>
            </a:pPr>
            <a:r>
              <a:rPr lang="fr-FR" sz="2400" dirty="0"/>
              <a:t>Utile pour les applications critiques où les mises à jour à chaud sont essentielles</a:t>
            </a:r>
            <a:r>
              <a:rPr lang="fr-FR" sz="2400" dirty="0" smtClean="0"/>
              <a:t>.</a:t>
            </a:r>
          </a:p>
          <a:p>
            <a:pPr marL="457200" indent="-457200" algn="just">
              <a:lnSpc>
                <a:spcPct val="150000"/>
              </a:lnSpc>
              <a:buFont typeface="+mj-lt"/>
              <a:buAutoNum type="arabicPeriod"/>
            </a:pPr>
            <a:r>
              <a:rPr lang="fr-FR" sz="2800" b="1" dirty="0"/>
              <a:t>Support amélioré pour le cloud</a:t>
            </a:r>
            <a:r>
              <a:rPr lang="fr-FR" sz="2800" dirty="0"/>
              <a:t> :</a:t>
            </a:r>
          </a:p>
          <a:p>
            <a:pPr lvl="2" algn="just">
              <a:lnSpc>
                <a:spcPct val="150000"/>
              </a:lnSpc>
              <a:buFont typeface="Wingdings" panose="05000000000000000000" pitchFamily="2" charset="2"/>
              <a:buChar char="Ø"/>
            </a:pPr>
            <a:r>
              <a:rPr lang="fr-FR" sz="1800" dirty="0" smtClean="0"/>
              <a:t>  </a:t>
            </a:r>
            <a:r>
              <a:rPr lang="fr-FR" sz="2400" dirty="0"/>
              <a:t>Les modules sont optimisés pour des environnements conteneurisés et </a:t>
            </a:r>
            <a:r>
              <a:rPr lang="fr-FR" sz="2400" dirty="0" err="1"/>
              <a:t>scalables</a:t>
            </a:r>
            <a:r>
              <a:rPr lang="fr-FR" sz="2400" dirty="0"/>
              <a:t>.</a:t>
            </a:r>
          </a:p>
          <a:p>
            <a:pPr marL="749808" lvl="1" indent="-457200" algn="just">
              <a:lnSpc>
                <a:spcPct val="150000"/>
              </a:lnSpc>
              <a:buFont typeface="Wingdings" panose="05000000000000000000" pitchFamily="2" charset="2"/>
              <a:buChar char="Ø"/>
            </a:pPr>
            <a:endParaRPr lang="fr-FR" sz="2400" dirty="0"/>
          </a:p>
        </p:txBody>
      </p:sp>
    </p:spTree>
    <p:extLst>
      <p:ext uri="{BB962C8B-B14F-4D97-AF65-F5344CB8AC3E}">
        <p14:creationId xmlns:p14="http://schemas.microsoft.com/office/powerpoint/2010/main" val="30098005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Architecture</a:t>
            </a:r>
            <a:endParaRPr lang="fr-FR" b="1" dirty="0"/>
          </a:p>
        </p:txBody>
      </p:sp>
      <p:pic>
        <p:nvPicPr>
          <p:cNvPr id="4" name="Espace réservé du contenu 3"/>
          <p:cNvPicPr>
            <a:picLocks noGrp="1" noChangeAspect="1"/>
          </p:cNvPicPr>
          <p:nvPr>
            <p:ph idx="1"/>
          </p:nvPr>
        </p:nvPicPr>
        <p:blipFill>
          <a:blip r:embed="rId2"/>
          <a:stretch>
            <a:fillRect/>
          </a:stretch>
        </p:blipFill>
        <p:spPr>
          <a:xfrm>
            <a:off x="2827867" y="1737360"/>
            <a:ext cx="6925733" cy="45279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09212953"/>
      </p:ext>
    </p:extLst>
  </p:cSld>
  <p:clrMapOvr>
    <a:masterClrMapping/>
  </p:clrMapOvr>
  <p:timing>
    <p:tnLst>
      <p:par>
        <p:cTn id="1" dur="indefinite" restart="never" nodeType="tmRoot"/>
      </p:par>
    </p:tnLst>
  </p:timing>
</p:sld>
</file>

<file path=ppt/theme/theme1.xml><?xml version="1.0" encoding="utf-8"?>
<a:theme xmlns:a="http://schemas.openxmlformats.org/drawingml/2006/main" name="Rétrospective">
  <a:themeElements>
    <a:clrScheme name="Rétrospective">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3621</TotalTime>
  <Words>1116</Words>
  <Application>Microsoft Office PowerPoint</Application>
  <PresentationFormat>Grand écran</PresentationFormat>
  <Paragraphs>118</Paragraphs>
  <Slides>36</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36</vt:i4>
      </vt:variant>
    </vt:vector>
  </HeadingPairs>
  <TitlesOfParts>
    <vt:vector size="41" baseType="lpstr">
      <vt:lpstr>Arial</vt:lpstr>
      <vt:lpstr>Calibri</vt:lpstr>
      <vt:lpstr>Calibri Light</vt:lpstr>
      <vt:lpstr>Wingdings</vt:lpstr>
      <vt:lpstr>Rétrospective</vt:lpstr>
      <vt:lpstr>Java - Nouveautés des versions 8 à 22</vt:lpstr>
      <vt:lpstr>Concepts Jour 2</vt:lpstr>
      <vt:lpstr>API PROCESS</vt:lpstr>
      <vt:lpstr>Solution :  combiner java avec les commandes Windows utilisation de taskkill</vt:lpstr>
      <vt:lpstr>Le système de modules (JDK 9 et plus)</vt:lpstr>
      <vt:lpstr>Facilitation des outils d’analyse et d’optimisation</vt:lpstr>
      <vt:lpstr>Graphe de Dépendances</vt:lpstr>
      <vt:lpstr>Résolution du Problème</vt:lpstr>
      <vt:lpstr>Résultat</vt:lpstr>
      <vt:lpstr>Explication</vt:lpstr>
      <vt:lpstr>Conclusion</vt:lpstr>
      <vt:lpstr>Étapes pour lancer une application modulaire</vt:lpstr>
      <vt:lpstr>Résolution des erreurs courantes</vt:lpstr>
      <vt:lpstr>Points clés à retenir</vt:lpstr>
      <vt:lpstr>Packaging des Modules</vt:lpstr>
      <vt:lpstr>Résolution des dépendances au runtime</vt:lpstr>
      <vt:lpstr>Exécution en mode modulaire</vt:lpstr>
      <vt:lpstr>Packaging et Exécution des Modules</vt:lpstr>
      <vt:lpstr>Conclusion</vt:lpstr>
      <vt:lpstr>Evolution</vt:lpstr>
      <vt:lpstr>Java 9 (2017)</vt:lpstr>
      <vt:lpstr>Java 10 (2018)</vt:lpstr>
      <vt:lpstr>Java 11 (2018)</vt:lpstr>
      <vt:lpstr>Java 12 (2019)</vt:lpstr>
      <vt:lpstr>Java 13 (2019)</vt:lpstr>
      <vt:lpstr>Java 14 (2020)</vt:lpstr>
      <vt:lpstr>Java 15 (2020)</vt:lpstr>
      <vt:lpstr>Java 16 (2021)</vt:lpstr>
      <vt:lpstr>Java 17 (2021) - LTS (Long-Term Support)</vt:lpstr>
      <vt:lpstr>Java 18 (2022)</vt:lpstr>
      <vt:lpstr>Java 19 (2022)</vt:lpstr>
      <vt:lpstr>Java 20 (2023)</vt:lpstr>
      <vt:lpstr>Java 21 (2023) - LTS</vt:lpstr>
      <vt:lpstr>Java 22 (2024)</vt:lpstr>
      <vt:lpstr>Java 23 (2025)</vt:lpstr>
      <vt:lpstr>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 Nouveautés des versions 8 à 22</dc:title>
  <dc:creator>admin</dc:creator>
  <cp:lastModifiedBy>admin</cp:lastModifiedBy>
  <cp:revision>482</cp:revision>
  <dcterms:created xsi:type="dcterms:W3CDTF">2024-12-19T08:53:06Z</dcterms:created>
  <dcterms:modified xsi:type="dcterms:W3CDTF">2025-09-17T01:21:28Z</dcterms:modified>
</cp:coreProperties>
</file>